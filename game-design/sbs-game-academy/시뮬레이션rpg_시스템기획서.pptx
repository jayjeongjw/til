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87" r:id="rId7"/>
    <p:sldId id="262" r:id="rId8"/>
    <p:sldId id="263" r:id="rId9"/>
    <p:sldId id="264" r:id="rId10"/>
    <p:sldId id="301" r:id="rId11"/>
    <p:sldId id="265" r:id="rId12"/>
    <p:sldId id="299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9" r:id="rId25"/>
    <p:sldId id="302" r:id="rId26"/>
    <p:sldId id="277" r:id="rId27"/>
    <p:sldId id="278" r:id="rId28"/>
    <p:sldId id="303" r:id="rId29"/>
    <p:sldId id="279" r:id="rId30"/>
    <p:sldId id="304" r:id="rId31"/>
    <p:sldId id="280" r:id="rId32"/>
    <p:sldId id="291" r:id="rId33"/>
    <p:sldId id="292" r:id="rId34"/>
    <p:sldId id="290" r:id="rId35"/>
    <p:sldId id="281" r:id="rId36"/>
    <p:sldId id="305" r:id="rId37"/>
    <p:sldId id="293" r:id="rId38"/>
    <p:sldId id="296" r:id="rId39"/>
    <p:sldId id="297" r:id="rId40"/>
    <p:sldId id="282" r:id="rId41"/>
    <p:sldId id="300" r:id="rId42"/>
    <p:sldId id="283" r:id="rId43"/>
    <p:sldId id="284" r:id="rId44"/>
    <p:sldId id="285" r:id="rId45"/>
    <p:sldId id="306" r:id="rId46"/>
    <p:sldId id="298" r:id="rId47"/>
    <p:sldId id="307" r:id="rId48"/>
    <p:sldId id="286" r:id="rId49"/>
    <p:sldId id="295" r:id="rId50"/>
    <p:sldId id="308" r:id="rId51"/>
    <p:sldId id="309" r:id="rId52"/>
    <p:sldId id="310" r:id="rId5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  <a:srgbClr val="D9D9D9"/>
    <a:srgbClr val="1F3A5F"/>
    <a:srgbClr val="FFFFFF"/>
    <a:srgbClr val="E2E8F0"/>
    <a:srgbClr val="EFF6FF"/>
    <a:srgbClr val="647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673723-B165-461E-B0B6-9A36B68B88C8}" v="13" dt="2026-06-06T14:37:07.602"/>
  </p1510:revLst>
</p1510:revInfo>
</file>

<file path=ppt/tableStyles.xml><?xml version="1.0" encoding="utf-8"?>
<a:tblStyleLst xmlns:a="http://schemas.openxmlformats.org/drawingml/2006/main" def="{5C22544A-7EE6-4342-B048-85BDC9FD1C3A}"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50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4208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C5C8C-F0E3-DAFC-455B-344B1D1AA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B637D-F789-8FF0-8A9A-86B9E08F0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B7F1D-B538-7F9E-44A9-8B5FCC680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5FFB8-5AB1-FCC7-686F-E9B4416CAF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67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59500-3229-CF10-28F2-8F4AB285C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5EFC6-2D70-79D1-4C3F-7C1FA10D2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2C5E6-7BA9-5CB9-F0C0-DBDA2186E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84E6D-9BE2-FE76-E955-BFBB23796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0F257-D3E7-0897-64BD-29605CC1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594F9-7748-5999-A6EB-32D926C13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9B357-24C4-4505-4745-366F9282F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5E92D-6EAB-2DF2-8F14-074F3EFC2D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995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D913A-BCA9-7E00-2253-4A0124FF7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D656B-9528-23B5-4FDF-A57FC6BB9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F20CDA-D436-52E7-F04C-1ACB7C4BD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A674D-BE35-FBC0-4FFF-2CF831CD21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2232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D284F-35A9-34AB-C981-ED045F52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57636-2042-E7DC-FFFC-A736F6068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9DA2C-78E2-12F0-4293-0B36589DF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797B3-93BF-F607-FC34-5BD103C38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256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2811-3D22-209E-52E3-E0F7AFF0D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3CF58-471D-92C3-4996-0CD4717B3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5BDF8B-78B0-689A-B8FB-A449EC57A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393C9-B306-927F-2D46-60E8E91091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7310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06D6F-1DEC-1BBB-545C-6B41A54B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B85CF-40A6-D184-EA11-9FEE58466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EA22F-1900-6042-DE09-408537F16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760EA-EF4E-01E1-9D9C-08B555808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693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11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BEB1C-4F74-3F7F-E3FD-D2E4408A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F210A-A41A-D5B0-A0DF-6B812AE80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BCEF0-9722-5D3C-7912-FC65E3F76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4DABE-93F3-3C7F-5528-C47D8A60E0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1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7354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46379-0070-E8C2-1BBC-C884DF692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454FD-6002-3C09-35AD-AB43E6118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06FB0-8B1A-D132-EC8A-459A68110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F2547-7CB3-D86D-D2A0-960E82769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114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628F2-44EF-3A33-339E-3F8645061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1EEDF-931F-8B6C-88CC-57678D868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6CC7B-0B57-06E9-4E39-7202244F2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520CF-8AAA-491A-7F79-8C97664FEC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539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9F544-EDDD-D173-B571-6BC8F6DC6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E6C3F-B12E-7D41-BE3F-1EEEACFB3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BD181-7509-510E-7422-4AC47AAF9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89AAD-C7DC-C51E-D0E5-58921588B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016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D656A-BFF5-0372-65A4-4FFB6E79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8CDCB6-654D-A54A-61EA-4B5BB6E25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7C3830-C476-13B4-FF20-4F4F925FB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A56CC-74E9-9EA8-03CA-C6FD839672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2849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C1591-168C-6F8E-E410-063D69651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DB60F-8AFD-F9F3-9455-A5499849A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BDCCF6-62FB-9687-12AB-0E16C67C8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BEE49-AEB3-3622-5D4E-F28A1F0F94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1551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99B3-4252-9F30-C32C-1D4E7C515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4BA4E-FF88-B727-8ECD-83650E5AD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78B43-EBF5-4986-4F3C-F80D53D3B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B56BC-9E83-A457-E74E-F55D8C7F6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9566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9262D-C5CA-79B8-656C-D2AEAE8C7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59A23-A156-C808-F429-1D09523DF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2AAD6-9F9B-7FB2-1EC3-382B06430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84124-9B4A-239D-2091-33E34EDF5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343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BD51-98C6-2B4E-6C8E-6CA0AE5E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43DD7-9D86-26E9-DFBB-35867EBE3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6DAD9F-759E-5E54-9B3A-6B10059E5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69F1D-732C-E65B-F3D1-6276848879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899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FDA64-C2CD-073A-2E8F-E101CE90E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5865F-7978-2BB7-B17E-89EC7350F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7D4EBB-8C68-D30F-4046-C520D6C39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8FA1E-7E81-E7A4-B210-36913660CA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50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EA54-D40D-3497-DA94-FD0E781B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67CA0-3342-65D0-B300-BC17BAB38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9A5A5-20F4-92E5-9ED5-A663F397C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65E74-1C0C-25A4-5F58-F6204855D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9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RPG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49808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및 전투 시스템 기획서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" y="2788920"/>
            <a:ext cx="438912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68096" y="5257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베이스 :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랑그릿사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SRPG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 : 정재우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RPG 이동 및 전투 시스템 기획서 | 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307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목적과 개요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45920" y="1801368"/>
            <a:ext cx="4297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2130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진행 플로우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45920" y="2624328"/>
            <a:ext cx="4297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2960" y="2880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2953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맵 구성 요소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645920" y="3447288"/>
            <a:ext cx="4297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776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 방법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645920" y="4270248"/>
            <a:ext cx="4297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2960" y="4526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4599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 상세 규칙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645920" y="5093208"/>
            <a:ext cx="4297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0" y="1234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1307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 상세 규칙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23760" y="1801368"/>
            <a:ext cx="4297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23760" y="2130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행동 규칙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223760" y="2624328"/>
            <a:ext cx="4297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00800" y="2880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23760" y="2953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턴 진행 규칙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23760" y="3447288"/>
            <a:ext cx="4297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0080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23760" y="3776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승패 처리 규칙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223760" y="4270248"/>
            <a:ext cx="4297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468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목적과 개요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범위와 기준 시스템 정의</a:t>
            </a:r>
            <a:endParaRPr lang="en-US" sz="14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6CD228D4-B5A6-DC77-A8E4-A4D24DE24082}"/>
              </a:ext>
            </a:extLst>
          </p:cNvPr>
          <p:cNvSpPr/>
          <p:nvPr/>
        </p:nvSpPr>
        <p:spPr>
          <a:xfrm>
            <a:off x="749808" y="3137836"/>
            <a:ext cx="341311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목적과 개요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RPG 이동 및 전투 시스템 기획서 | 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19" y="1143000"/>
            <a:ext cx="5867801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19" y="1645921"/>
            <a:ext cx="10839531" cy="953597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맵(스테이지)에서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이루어지는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전투 규칙을 정의한다.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시작부터 종료까지의 플레이 흐름과 전투 처리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정리한다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PvE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전투를 기준으로 작성한다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PvP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콘텐츠는 기본 규칙을 일부만 공유 된다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1582" y="2811014"/>
            <a:ext cx="588608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시스템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18" y="3316570"/>
            <a:ext cx="7040881" cy="65835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랑그릿사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SRPG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기본 베이스로 한다.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 배치,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턴 / 적 턴 /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병종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상성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효과를 사용한다.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유닛은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체스판 같은 타일 맵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위에서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등을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수행한다.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5969" y="4361844"/>
            <a:ext cx="5883039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</a:t>
            </a:r>
            <a:r>
              <a:rPr lang="en-US" sz="1700" b="1" dirty="0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문서 제외 범위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9019" y="4855368"/>
            <a:ext cx="9279773" cy="117403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장비품에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따른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능력치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변화는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다루지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않는다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  <a:p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 높낮이와 속성 상성은 제외한다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방향에 따른 전투 보정은 기본 규칙에서 제외한다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명중률과 크리티컬은 기본 전투 규칙에 포함하되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수치는 밸런스 조정 과정에서 변경될 수 있다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040D1-80E8-7710-FF5E-A8AEF1B10B4F}"/>
              </a:ext>
            </a:extLst>
          </p:cNvPr>
          <p:cNvSpPr txBox="1"/>
          <p:nvPr/>
        </p:nvSpPr>
        <p:spPr>
          <a:xfrm>
            <a:off x="481582" y="71591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범위와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468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스테이지 진행 플로우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시작부터 종료까지의 흐름</a:t>
            </a:r>
            <a:endParaRPr lang="en-US" sz="14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F9D2AFF4-52D8-7849-91A4-A17FD7C99771}"/>
              </a:ext>
            </a:extLst>
          </p:cNvPr>
          <p:cNvSpPr/>
          <p:nvPr/>
        </p:nvSpPr>
        <p:spPr>
          <a:xfrm>
            <a:off x="731520" y="3066849"/>
            <a:ext cx="53644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8E367-4554-3316-8056-8980E794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45DA935-0F50-17D7-E1F0-86A095EDF343}"/>
              </a:ext>
            </a:extLst>
          </p:cNvPr>
          <p:cNvSpPr/>
          <p:nvPr/>
        </p:nvSpPr>
        <p:spPr>
          <a:xfrm>
            <a:off x="42111" y="35171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altLang="ko-KR" sz="3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</a:t>
            </a:r>
            <a:r>
              <a:rPr lang="en-US" altLang="ko-KR" sz="32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</a:t>
            </a:r>
            <a:r>
              <a:rPr lang="en-US" altLang="ko-KR" sz="3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32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r>
              <a:rPr lang="en-US" altLang="ko-KR" sz="3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32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플로우</a:t>
            </a:r>
            <a:endParaRPr lang="en-US" altLang="ko-KR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스테이지 진행 플로우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DFB747-3191-8285-6A56-F37742B11A40}"/>
              </a:ext>
            </a:extLst>
          </p:cNvPr>
          <p:cNvSpPr txBox="1"/>
          <p:nvPr/>
        </p:nvSpPr>
        <p:spPr>
          <a:xfrm>
            <a:off x="233112" y="641245"/>
            <a:ext cx="61330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b="1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</a:t>
            </a:r>
            <a:r>
              <a:rPr lang="en-US" altLang="ko-KR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시작부터</a:t>
            </a:r>
            <a:r>
              <a:rPr lang="en-US" altLang="ko-KR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끝나는</a:t>
            </a:r>
            <a:r>
              <a:rPr lang="en-US" altLang="ko-KR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시점까지의</a:t>
            </a:r>
            <a:r>
              <a:rPr lang="en-US" altLang="ko-KR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r>
              <a:rPr lang="en-US" altLang="ko-KR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</a:t>
            </a:r>
            <a:endParaRPr lang="en-US" altLang="ko-KR" sz="1000" b="1" dirty="0"/>
          </a:p>
        </p:txBody>
      </p:sp>
      <p:sp>
        <p:nvSpPr>
          <p:cNvPr id="6" name="순서도: 수행의 시작/종료 5">
            <a:extLst>
              <a:ext uri="{FF2B5EF4-FFF2-40B4-BE49-F238E27FC236}">
                <a16:creationId xmlns:a16="http://schemas.microsoft.com/office/drawing/2014/main" id="{BE711CC7-BC1B-8F43-C6E5-C8A01EF61BE4}"/>
              </a:ext>
            </a:extLst>
          </p:cNvPr>
          <p:cNvSpPr/>
          <p:nvPr/>
        </p:nvSpPr>
        <p:spPr>
          <a:xfrm>
            <a:off x="655721" y="1167063"/>
            <a:ext cx="667753" cy="25266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시작</a:t>
            </a: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5A65E9B5-944F-11F9-6B69-85F3B692950F}"/>
              </a:ext>
            </a:extLst>
          </p:cNvPr>
          <p:cNvSpPr/>
          <p:nvPr/>
        </p:nvSpPr>
        <p:spPr>
          <a:xfrm>
            <a:off x="1731544" y="1094872"/>
            <a:ext cx="980574" cy="3970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스테이지 선택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793EE51-570A-6948-C8FB-07A835D5C8E0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323474" y="1293394"/>
            <a:ext cx="40807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순서도: 판단 10">
            <a:extLst>
              <a:ext uri="{FF2B5EF4-FFF2-40B4-BE49-F238E27FC236}">
                <a16:creationId xmlns:a16="http://schemas.microsoft.com/office/drawing/2014/main" id="{A1136B43-6097-6AFB-7C05-D5787AEE596A}"/>
              </a:ext>
            </a:extLst>
          </p:cNvPr>
          <p:cNvSpPr/>
          <p:nvPr/>
        </p:nvSpPr>
        <p:spPr>
          <a:xfrm>
            <a:off x="1511968" y="1771055"/>
            <a:ext cx="1419726" cy="71587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입장조건 만족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F3EF3156-2BC4-4FCE-E32D-2D460BFC5AFC}"/>
              </a:ext>
            </a:extLst>
          </p:cNvPr>
          <p:cNvSpPr/>
          <p:nvPr/>
        </p:nvSpPr>
        <p:spPr>
          <a:xfrm>
            <a:off x="4341120" y="842460"/>
            <a:ext cx="980574" cy="3970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입장 불가능</a:t>
            </a: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EEF97E3C-4B23-7668-51AB-20A85E9DF141}"/>
              </a:ext>
            </a:extLst>
          </p:cNvPr>
          <p:cNvSpPr/>
          <p:nvPr/>
        </p:nvSpPr>
        <p:spPr>
          <a:xfrm>
            <a:off x="1731544" y="2843464"/>
            <a:ext cx="980574" cy="3970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전투 준비</a:t>
            </a:r>
          </a:p>
        </p:txBody>
      </p:sp>
      <p:sp>
        <p:nvSpPr>
          <p:cNvPr id="15" name="순서도: 판단 14">
            <a:extLst>
              <a:ext uri="{FF2B5EF4-FFF2-40B4-BE49-F238E27FC236}">
                <a16:creationId xmlns:a16="http://schemas.microsoft.com/office/drawing/2014/main" id="{D528CC1D-5ED7-3880-D90B-1E89BE7A2DC5}"/>
              </a:ext>
            </a:extLst>
          </p:cNvPr>
          <p:cNvSpPr/>
          <p:nvPr/>
        </p:nvSpPr>
        <p:spPr>
          <a:xfrm>
            <a:off x="3148245" y="2687456"/>
            <a:ext cx="1419726" cy="71587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전투시작 조건 만족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E7530BB5-A7CB-901E-954B-0CF4F0B90378}"/>
              </a:ext>
            </a:extLst>
          </p:cNvPr>
          <p:cNvSpPr/>
          <p:nvPr/>
        </p:nvSpPr>
        <p:spPr>
          <a:xfrm>
            <a:off x="4957344" y="2849865"/>
            <a:ext cx="980574" cy="3970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전투 유닛 편성 수정</a:t>
            </a: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1015BB81-9BF3-2516-E73A-96BC5FC49D23}"/>
              </a:ext>
            </a:extLst>
          </p:cNvPr>
          <p:cNvSpPr/>
          <p:nvPr/>
        </p:nvSpPr>
        <p:spPr>
          <a:xfrm>
            <a:off x="1745976" y="3632949"/>
            <a:ext cx="980574" cy="3970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전투 시작</a:t>
            </a:r>
          </a:p>
        </p:txBody>
      </p: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B2F6B014-F534-0F9D-3F02-506E9C8F7B58}"/>
              </a:ext>
            </a:extLst>
          </p:cNvPr>
          <p:cNvSpPr/>
          <p:nvPr/>
        </p:nvSpPr>
        <p:spPr>
          <a:xfrm>
            <a:off x="3688193" y="3628592"/>
            <a:ext cx="980574" cy="3970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플레이어 본인 턴 시작</a:t>
            </a:r>
          </a:p>
        </p:txBody>
      </p:sp>
      <p:sp>
        <p:nvSpPr>
          <p:cNvPr id="2" name="순서도: 판단 1">
            <a:extLst>
              <a:ext uri="{FF2B5EF4-FFF2-40B4-BE49-F238E27FC236}">
                <a16:creationId xmlns:a16="http://schemas.microsoft.com/office/drawing/2014/main" id="{EA9EF0E1-3B4E-B9D4-6AEE-1995D20FD6A5}"/>
              </a:ext>
            </a:extLst>
          </p:cNvPr>
          <p:cNvSpPr/>
          <p:nvPr/>
        </p:nvSpPr>
        <p:spPr>
          <a:xfrm>
            <a:off x="3468616" y="4231334"/>
            <a:ext cx="1419727" cy="71587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플레이어 본인 턴 종료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845235CD-EBE5-5DBA-9D9A-870CFC5D9C7C}"/>
              </a:ext>
            </a:extLst>
          </p:cNvPr>
          <p:cNvSpPr/>
          <p:nvPr/>
        </p:nvSpPr>
        <p:spPr>
          <a:xfrm>
            <a:off x="6959917" y="6154022"/>
            <a:ext cx="980574" cy="3970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적 턴 진행</a:t>
            </a:r>
          </a:p>
        </p:txBody>
      </p:sp>
      <p:sp>
        <p:nvSpPr>
          <p:cNvPr id="9" name="순서도: 판단 8">
            <a:extLst>
              <a:ext uri="{FF2B5EF4-FFF2-40B4-BE49-F238E27FC236}">
                <a16:creationId xmlns:a16="http://schemas.microsoft.com/office/drawing/2014/main" id="{BFDFF701-490D-428B-A2A4-8211F759B9C0}"/>
              </a:ext>
            </a:extLst>
          </p:cNvPr>
          <p:cNvSpPr/>
          <p:nvPr/>
        </p:nvSpPr>
        <p:spPr>
          <a:xfrm>
            <a:off x="9112756" y="5984541"/>
            <a:ext cx="1419726" cy="71587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모든 적 턴 종료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26" name="순서도: 처리 25">
            <a:extLst>
              <a:ext uri="{FF2B5EF4-FFF2-40B4-BE49-F238E27FC236}">
                <a16:creationId xmlns:a16="http://schemas.microsoft.com/office/drawing/2014/main" id="{90A486E3-5A60-5E49-2E7B-08BA07C3ED19}"/>
              </a:ext>
            </a:extLst>
          </p:cNvPr>
          <p:cNvSpPr/>
          <p:nvPr/>
        </p:nvSpPr>
        <p:spPr>
          <a:xfrm>
            <a:off x="7214833" y="3450124"/>
            <a:ext cx="980574" cy="3970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클리어 처리</a:t>
            </a:r>
          </a:p>
        </p:txBody>
      </p:sp>
      <p:sp>
        <p:nvSpPr>
          <p:cNvPr id="27" name="순서도: 처리 26">
            <a:extLst>
              <a:ext uri="{FF2B5EF4-FFF2-40B4-BE49-F238E27FC236}">
                <a16:creationId xmlns:a16="http://schemas.microsoft.com/office/drawing/2014/main" id="{8F925E0C-6C48-4F2D-38E0-F81CB754ABDD}"/>
              </a:ext>
            </a:extLst>
          </p:cNvPr>
          <p:cNvSpPr/>
          <p:nvPr/>
        </p:nvSpPr>
        <p:spPr>
          <a:xfrm>
            <a:off x="9131225" y="2631087"/>
            <a:ext cx="980574" cy="3970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보상 지급</a:t>
            </a:r>
          </a:p>
        </p:txBody>
      </p:sp>
      <p:sp>
        <p:nvSpPr>
          <p:cNvPr id="29" name="순서도: 수행의 시작/종료 28">
            <a:extLst>
              <a:ext uri="{FF2B5EF4-FFF2-40B4-BE49-F238E27FC236}">
                <a16:creationId xmlns:a16="http://schemas.microsoft.com/office/drawing/2014/main" id="{3DB8C5CA-800C-751B-DB89-5CE046635FAF}"/>
              </a:ext>
            </a:extLst>
          </p:cNvPr>
          <p:cNvSpPr/>
          <p:nvPr/>
        </p:nvSpPr>
        <p:spPr>
          <a:xfrm>
            <a:off x="10693155" y="2707858"/>
            <a:ext cx="667753" cy="25266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끝</a:t>
            </a:r>
          </a:p>
        </p:txBody>
      </p:sp>
      <p:sp>
        <p:nvSpPr>
          <p:cNvPr id="32" name="순서도: 처리 31">
            <a:extLst>
              <a:ext uri="{FF2B5EF4-FFF2-40B4-BE49-F238E27FC236}">
                <a16:creationId xmlns:a16="http://schemas.microsoft.com/office/drawing/2014/main" id="{34ACBC8E-AF2F-E413-CB38-84D156F16B17}"/>
              </a:ext>
            </a:extLst>
          </p:cNvPr>
          <p:cNvSpPr/>
          <p:nvPr/>
        </p:nvSpPr>
        <p:spPr>
          <a:xfrm>
            <a:off x="7231102" y="4058576"/>
            <a:ext cx="980574" cy="3970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000" b="1" dirty="0">
                <a:ea typeface="맑은 고딕"/>
              </a:rPr>
              <a:t>패배 처리</a:t>
            </a:r>
          </a:p>
        </p:txBody>
      </p:sp>
      <p:sp>
        <p:nvSpPr>
          <p:cNvPr id="34" name="순서도: 처리 33">
            <a:extLst>
              <a:ext uri="{FF2B5EF4-FFF2-40B4-BE49-F238E27FC236}">
                <a16:creationId xmlns:a16="http://schemas.microsoft.com/office/drawing/2014/main" id="{5C9D5F19-EF97-7814-8997-558A31C168C5}"/>
              </a:ext>
            </a:extLst>
          </p:cNvPr>
          <p:cNvSpPr/>
          <p:nvPr/>
        </p:nvSpPr>
        <p:spPr>
          <a:xfrm>
            <a:off x="7398069" y="1585466"/>
            <a:ext cx="980574" cy="3970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다음 턴 시작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788C47F-7865-648A-8CD2-5B7D5DB3E483}"/>
              </a:ext>
            </a:extLst>
          </p:cNvPr>
          <p:cNvCxnSpPr>
            <a:stCxn id="8" idx="2"/>
            <a:endCxn id="11" idx="0"/>
          </p:cNvCxnSpPr>
          <p:nvPr/>
        </p:nvCxnSpPr>
        <p:spPr>
          <a:xfrm>
            <a:off x="2221831" y="1491915"/>
            <a:ext cx="0" cy="279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D8443C0E-64DA-EAEA-048A-9ADDABCBD9E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2931694" y="1040982"/>
            <a:ext cx="1409426" cy="108801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0E7FE10-ED7F-AC85-6129-AA767927A7E9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2221831" y="2486934"/>
            <a:ext cx="0" cy="3565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930CD477-4217-A002-59B1-D86346C28FBC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2712118" y="3041986"/>
            <a:ext cx="436127" cy="34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0105095-A257-BE89-BE3F-9183FBC7510B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4567971" y="3045396"/>
            <a:ext cx="389373" cy="29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F1FA1D2B-9891-8F66-546A-A6FC148F30B2}"/>
              </a:ext>
            </a:extLst>
          </p:cNvPr>
          <p:cNvCxnSpPr>
            <a:cxnSpLocks/>
            <a:stCxn id="16" idx="0"/>
          </p:cNvCxnSpPr>
          <p:nvPr/>
        </p:nvCxnSpPr>
        <p:spPr>
          <a:xfrm rot="16200000" flipV="1">
            <a:off x="3746535" y="1148769"/>
            <a:ext cx="190824" cy="3211368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359AEA35-FC98-E743-DB1D-68127C61D366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rot="5400000">
            <a:off x="2932379" y="2707220"/>
            <a:ext cx="229614" cy="1621845"/>
          </a:xfrm>
          <a:prstGeom prst="bentConnector3">
            <a:avLst>
              <a:gd name="adj1" fmla="val 43966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347FDCDA-7DF0-773F-3F4E-F8922A2DF646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2726550" y="3827114"/>
            <a:ext cx="961643" cy="43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803FAF55-E5CE-3997-E18A-5DE8939816CE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7940491" y="6342481"/>
            <a:ext cx="1172265" cy="100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5A630D04-5F2E-3658-D346-B9587B9D90E0}"/>
              </a:ext>
            </a:extLst>
          </p:cNvPr>
          <p:cNvCxnSpPr>
            <a:cxnSpLocks/>
            <a:stCxn id="256" idx="2"/>
            <a:endCxn id="32" idx="1"/>
          </p:cNvCxnSpPr>
          <p:nvPr/>
        </p:nvCxnSpPr>
        <p:spPr>
          <a:xfrm rot="5400000" flipH="1" flipV="1">
            <a:off x="4476200" y="3955582"/>
            <a:ext cx="2453385" cy="3056417"/>
          </a:xfrm>
          <a:prstGeom prst="bentConnector4">
            <a:avLst>
              <a:gd name="adj1" fmla="val -3671"/>
              <a:gd name="adj2" fmla="val 76245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1E861E30-EF64-054F-659C-7A574CE18A58}"/>
              </a:ext>
            </a:extLst>
          </p:cNvPr>
          <p:cNvCxnSpPr>
            <a:cxnSpLocks/>
            <a:stCxn id="9" idx="2"/>
            <a:endCxn id="4" idx="2"/>
          </p:cNvCxnSpPr>
          <p:nvPr/>
        </p:nvCxnSpPr>
        <p:spPr>
          <a:xfrm rot="5400000" flipH="1">
            <a:off x="8561734" y="5439536"/>
            <a:ext cx="149355" cy="2372415"/>
          </a:xfrm>
          <a:prstGeom prst="bentConnector3">
            <a:avLst>
              <a:gd name="adj1" fmla="val -5565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E3891FA4-14FF-E7CE-958C-8F6A1127734C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10111799" y="2829609"/>
            <a:ext cx="581356" cy="45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0491A059-6347-D4EE-517B-BA4B44C55CC6}"/>
              </a:ext>
            </a:extLst>
          </p:cNvPr>
          <p:cNvSpPr txBox="1"/>
          <p:nvPr/>
        </p:nvSpPr>
        <p:spPr>
          <a:xfrm>
            <a:off x="3055605" y="3280897"/>
            <a:ext cx="36207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5656D2C-C7AE-A5F2-AC84-2CE244E861CA}"/>
              </a:ext>
            </a:extLst>
          </p:cNvPr>
          <p:cNvSpPr txBox="1"/>
          <p:nvPr/>
        </p:nvSpPr>
        <p:spPr>
          <a:xfrm>
            <a:off x="4558254" y="3011509"/>
            <a:ext cx="36207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EC58FD0-850D-B322-2319-71DB90F94273}"/>
              </a:ext>
            </a:extLst>
          </p:cNvPr>
          <p:cNvSpPr txBox="1"/>
          <p:nvPr/>
        </p:nvSpPr>
        <p:spPr>
          <a:xfrm>
            <a:off x="3357538" y="1585466"/>
            <a:ext cx="36207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2915F95-9D82-F800-9DB7-F154C5950E76}"/>
              </a:ext>
            </a:extLst>
          </p:cNvPr>
          <p:cNvSpPr txBox="1"/>
          <p:nvPr/>
        </p:nvSpPr>
        <p:spPr>
          <a:xfrm>
            <a:off x="1973574" y="2488857"/>
            <a:ext cx="36207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7" name="순서도: 판단 6">
            <a:extLst>
              <a:ext uri="{FF2B5EF4-FFF2-40B4-BE49-F238E27FC236}">
                <a16:creationId xmlns:a16="http://schemas.microsoft.com/office/drawing/2014/main" id="{DE47A6F4-561B-2F26-84E3-6AAF39181ECA}"/>
              </a:ext>
            </a:extLst>
          </p:cNvPr>
          <p:cNvSpPr/>
          <p:nvPr/>
        </p:nvSpPr>
        <p:spPr>
          <a:xfrm>
            <a:off x="10317170" y="3380841"/>
            <a:ext cx="1419726" cy="71587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재도전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288DF854-C429-4272-8707-05543B1F6FDD}"/>
              </a:ext>
            </a:extLst>
          </p:cNvPr>
          <p:cNvCxnSpPr>
            <a:cxnSpLocks/>
            <a:stCxn id="7" idx="0"/>
            <a:endCxn id="29" idx="2"/>
          </p:cNvCxnSpPr>
          <p:nvPr/>
        </p:nvCxnSpPr>
        <p:spPr>
          <a:xfrm flipH="1" flipV="1">
            <a:off x="11027032" y="2960521"/>
            <a:ext cx="1" cy="4203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0" name="연결선: 꺾임 159">
            <a:extLst>
              <a:ext uri="{FF2B5EF4-FFF2-40B4-BE49-F238E27FC236}">
                <a16:creationId xmlns:a16="http://schemas.microsoft.com/office/drawing/2014/main" id="{A27BFE0E-FD48-4399-A2A2-1DDC39132B66}"/>
              </a:ext>
            </a:extLst>
          </p:cNvPr>
          <p:cNvCxnSpPr>
            <a:cxnSpLocks/>
            <a:stCxn id="12" idx="3"/>
            <a:endCxn id="29" idx="0"/>
          </p:cNvCxnSpPr>
          <p:nvPr/>
        </p:nvCxnSpPr>
        <p:spPr>
          <a:xfrm>
            <a:off x="5321694" y="1040982"/>
            <a:ext cx="5705338" cy="166687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순서도: 판단 13">
            <a:extLst>
              <a:ext uri="{FF2B5EF4-FFF2-40B4-BE49-F238E27FC236}">
                <a16:creationId xmlns:a16="http://schemas.microsoft.com/office/drawing/2014/main" id="{7B4BAA6F-F581-CE4B-4B9B-C44B32F59557}"/>
              </a:ext>
            </a:extLst>
          </p:cNvPr>
          <p:cNvSpPr/>
          <p:nvPr/>
        </p:nvSpPr>
        <p:spPr>
          <a:xfrm>
            <a:off x="3405435" y="5092007"/>
            <a:ext cx="1546090" cy="71587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승리 조건 달성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170" name="순서도: 판단 169">
            <a:extLst>
              <a:ext uri="{FF2B5EF4-FFF2-40B4-BE49-F238E27FC236}">
                <a16:creationId xmlns:a16="http://schemas.microsoft.com/office/drawing/2014/main" id="{C1B18088-4712-F2B6-D14C-FDECC813165B}"/>
              </a:ext>
            </a:extLst>
          </p:cNvPr>
          <p:cNvSpPr/>
          <p:nvPr/>
        </p:nvSpPr>
        <p:spPr>
          <a:xfrm>
            <a:off x="9049574" y="4068655"/>
            <a:ext cx="1546090" cy="71587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승리 조건 달성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cxnSp>
        <p:nvCxnSpPr>
          <p:cNvPr id="251" name="연결선: 꺾임 250">
            <a:extLst>
              <a:ext uri="{FF2B5EF4-FFF2-40B4-BE49-F238E27FC236}">
                <a16:creationId xmlns:a16="http://schemas.microsoft.com/office/drawing/2014/main" id="{C9045BF1-A0A1-8861-DAAE-7930DC4FE34A}"/>
              </a:ext>
            </a:extLst>
          </p:cNvPr>
          <p:cNvCxnSpPr>
            <a:cxnSpLocks/>
            <a:stCxn id="34" idx="1"/>
          </p:cNvCxnSpPr>
          <p:nvPr/>
        </p:nvCxnSpPr>
        <p:spPr>
          <a:xfrm rot="10800000" flipV="1">
            <a:off x="4184299" y="1783987"/>
            <a:ext cx="3213770" cy="2356437"/>
          </a:xfrm>
          <a:prstGeom prst="bentConnector3">
            <a:avLst>
              <a:gd name="adj1" fmla="val 31247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6" name="순서도: 판단 255">
            <a:extLst>
              <a:ext uri="{FF2B5EF4-FFF2-40B4-BE49-F238E27FC236}">
                <a16:creationId xmlns:a16="http://schemas.microsoft.com/office/drawing/2014/main" id="{7447AAF1-091B-0CE4-9ACA-C6C6970BD916}"/>
              </a:ext>
            </a:extLst>
          </p:cNvPr>
          <p:cNvSpPr/>
          <p:nvPr/>
        </p:nvSpPr>
        <p:spPr>
          <a:xfrm>
            <a:off x="3401640" y="5994604"/>
            <a:ext cx="1546090" cy="71587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패배 조건 달성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257" name="순서도: 판단 256">
            <a:extLst>
              <a:ext uri="{FF2B5EF4-FFF2-40B4-BE49-F238E27FC236}">
                <a16:creationId xmlns:a16="http://schemas.microsoft.com/office/drawing/2014/main" id="{C612BE36-9A02-9C93-368C-E515D5F43EF0}"/>
              </a:ext>
            </a:extLst>
          </p:cNvPr>
          <p:cNvSpPr/>
          <p:nvPr/>
        </p:nvSpPr>
        <p:spPr>
          <a:xfrm>
            <a:off x="9049575" y="5055837"/>
            <a:ext cx="1546090" cy="71587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패배 조건 달성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211D4591-0C19-0ABE-75D1-5A02DEB07B89}"/>
              </a:ext>
            </a:extLst>
          </p:cNvPr>
          <p:cNvCxnSpPr>
            <a:cxnSpLocks/>
            <a:stCxn id="18" idx="2"/>
            <a:endCxn id="2" idx="0"/>
          </p:cNvCxnSpPr>
          <p:nvPr/>
        </p:nvCxnSpPr>
        <p:spPr>
          <a:xfrm>
            <a:off x="4178480" y="4025635"/>
            <a:ext cx="0" cy="205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3" name="직선 화살표 연결선 59">
            <a:extLst>
              <a:ext uri="{FF2B5EF4-FFF2-40B4-BE49-F238E27FC236}">
                <a16:creationId xmlns:a16="http://schemas.microsoft.com/office/drawing/2014/main" id="{E90BB65E-ECAF-89A9-6760-F49E93DD6F5E}"/>
              </a:ext>
            </a:extLst>
          </p:cNvPr>
          <p:cNvCxnSpPr>
            <a:cxnSpLocks/>
            <a:stCxn id="2" idx="2"/>
            <a:endCxn id="14" idx="0"/>
          </p:cNvCxnSpPr>
          <p:nvPr/>
        </p:nvCxnSpPr>
        <p:spPr>
          <a:xfrm>
            <a:off x="4178480" y="4947213"/>
            <a:ext cx="0" cy="14479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1A57884E-C694-F7F4-F43A-DF275A5B8F72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>
            <a:off x="3247460" y="3855404"/>
            <a:ext cx="221156" cy="733870"/>
          </a:xfrm>
          <a:prstGeom prst="bentConnector2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2" name="직선 화살표 연결선 59">
            <a:extLst>
              <a:ext uri="{FF2B5EF4-FFF2-40B4-BE49-F238E27FC236}">
                <a16:creationId xmlns:a16="http://schemas.microsoft.com/office/drawing/2014/main" id="{8F6AB05F-FA54-B9E4-651C-400456DECE50}"/>
              </a:ext>
            </a:extLst>
          </p:cNvPr>
          <p:cNvCxnSpPr>
            <a:cxnSpLocks/>
            <a:stCxn id="14" idx="3"/>
            <a:endCxn id="26" idx="1"/>
          </p:cNvCxnSpPr>
          <p:nvPr/>
        </p:nvCxnSpPr>
        <p:spPr>
          <a:xfrm flipV="1">
            <a:off x="4951525" y="3648646"/>
            <a:ext cx="2263308" cy="1801301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직선 화살표 연결선 59">
            <a:extLst>
              <a:ext uri="{FF2B5EF4-FFF2-40B4-BE49-F238E27FC236}">
                <a16:creationId xmlns:a16="http://schemas.microsoft.com/office/drawing/2014/main" id="{1F5E0B2F-EB27-FCD6-9EAC-DF8168B1CD46}"/>
              </a:ext>
            </a:extLst>
          </p:cNvPr>
          <p:cNvCxnSpPr>
            <a:cxnSpLocks/>
            <a:stCxn id="14" idx="2"/>
            <a:endCxn id="256" idx="0"/>
          </p:cNvCxnSpPr>
          <p:nvPr/>
        </p:nvCxnSpPr>
        <p:spPr>
          <a:xfrm flipH="1">
            <a:off x="4174685" y="5807886"/>
            <a:ext cx="3795" cy="18671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1" name="직선 화살표 연결선 370">
            <a:extLst>
              <a:ext uri="{FF2B5EF4-FFF2-40B4-BE49-F238E27FC236}">
                <a16:creationId xmlns:a16="http://schemas.microsoft.com/office/drawing/2014/main" id="{33E9E3AA-AD61-88E5-8017-AFD1902DC1EF}"/>
              </a:ext>
            </a:extLst>
          </p:cNvPr>
          <p:cNvCxnSpPr>
            <a:cxnSpLocks/>
            <a:stCxn id="256" idx="3"/>
            <a:endCxn id="4" idx="1"/>
          </p:cNvCxnSpPr>
          <p:nvPr/>
        </p:nvCxnSpPr>
        <p:spPr>
          <a:xfrm>
            <a:off x="4947730" y="6352544"/>
            <a:ext cx="201218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2" name="직선 화살표 연결선 59">
            <a:extLst>
              <a:ext uri="{FF2B5EF4-FFF2-40B4-BE49-F238E27FC236}">
                <a16:creationId xmlns:a16="http://schemas.microsoft.com/office/drawing/2014/main" id="{9F0E2747-404F-D1CE-B528-31BC46F875B2}"/>
              </a:ext>
            </a:extLst>
          </p:cNvPr>
          <p:cNvCxnSpPr>
            <a:cxnSpLocks/>
            <a:stCxn id="9" idx="0"/>
            <a:endCxn id="257" idx="2"/>
          </p:cNvCxnSpPr>
          <p:nvPr/>
        </p:nvCxnSpPr>
        <p:spPr>
          <a:xfrm flipV="1">
            <a:off x="9822619" y="5771716"/>
            <a:ext cx="1" cy="21282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2" name="직선 화살표 연결선 99">
            <a:extLst>
              <a:ext uri="{FF2B5EF4-FFF2-40B4-BE49-F238E27FC236}">
                <a16:creationId xmlns:a16="http://schemas.microsoft.com/office/drawing/2014/main" id="{FF493E2A-1001-2F47-56A7-3DB2BCAA1FCA}"/>
              </a:ext>
            </a:extLst>
          </p:cNvPr>
          <p:cNvCxnSpPr>
            <a:cxnSpLocks/>
            <a:stCxn id="257" idx="1"/>
            <a:endCxn id="32" idx="2"/>
          </p:cNvCxnSpPr>
          <p:nvPr/>
        </p:nvCxnSpPr>
        <p:spPr>
          <a:xfrm rot="10800000">
            <a:off x="7721389" y="4455619"/>
            <a:ext cx="1328186" cy="958158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직선 화살표 연결선 63">
            <a:extLst>
              <a:ext uri="{FF2B5EF4-FFF2-40B4-BE49-F238E27FC236}">
                <a16:creationId xmlns:a16="http://schemas.microsoft.com/office/drawing/2014/main" id="{B99B5667-621B-0C69-CFAB-C038020D751F}"/>
              </a:ext>
            </a:extLst>
          </p:cNvPr>
          <p:cNvCxnSpPr>
            <a:cxnSpLocks/>
            <a:stCxn id="257" idx="0"/>
            <a:endCxn id="170" idx="2"/>
          </p:cNvCxnSpPr>
          <p:nvPr/>
        </p:nvCxnSpPr>
        <p:spPr>
          <a:xfrm flipH="1" flipV="1">
            <a:off x="9822619" y="4784534"/>
            <a:ext cx="1" cy="2713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9" name="직선 화살표 연결선 99">
            <a:extLst>
              <a:ext uri="{FF2B5EF4-FFF2-40B4-BE49-F238E27FC236}">
                <a16:creationId xmlns:a16="http://schemas.microsoft.com/office/drawing/2014/main" id="{99F16535-EBBA-1F96-BC20-D31A6919C307}"/>
              </a:ext>
            </a:extLst>
          </p:cNvPr>
          <p:cNvCxnSpPr>
            <a:cxnSpLocks/>
            <a:stCxn id="170" idx="0"/>
            <a:endCxn id="26" idx="3"/>
          </p:cNvCxnSpPr>
          <p:nvPr/>
        </p:nvCxnSpPr>
        <p:spPr>
          <a:xfrm rot="16200000" flipV="1">
            <a:off x="8799009" y="3045045"/>
            <a:ext cx="420009" cy="1627212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직선 화살표 연결선 63">
            <a:extLst>
              <a:ext uri="{FF2B5EF4-FFF2-40B4-BE49-F238E27FC236}">
                <a16:creationId xmlns:a16="http://schemas.microsoft.com/office/drawing/2014/main" id="{87EF0930-79EC-D408-6B12-CB126332CF1D}"/>
              </a:ext>
            </a:extLst>
          </p:cNvPr>
          <p:cNvCxnSpPr>
            <a:cxnSpLocks/>
            <a:stCxn id="170" idx="1"/>
            <a:endCxn id="34" idx="3"/>
          </p:cNvCxnSpPr>
          <p:nvPr/>
        </p:nvCxnSpPr>
        <p:spPr>
          <a:xfrm rot="10800000">
            <a:off x="8378644" y="1783989"/>
            <a:ext cx="670931" cy="264260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7" name="연결선: 꺾임 466">
            <a:extLst>
              <a:ext uri="{FF2B5EF4-FFF2-40B4-BE49-F238E27FC236}">
                <a16:creationId xmlns:a16="http://schemas.microsoft.com/office/drawing/2014/main" id="{3331B66A-176F-C957-53EC-75E7C22DB0D8}"/>
              </a:ext>
            </a:extLst>
          </p:cNvPr>
          <p:cNvCxnSpPr>
            <a:cxnSpLocks/>
            <a:stCxn id="26" idx="0"/>
            <a:endCxn id="27" idx="1"/>
          </p:cNvCxnSpPr>
          <p:nvPr/>
        </p:nvCxnSpPr>
        <p:spPr>
          <a:xfrm rot="5400000" flipH="1" flipV="1">
            <a:off x="8107915" y="2426815"/>
            <a:ext cx="620515" cy="142610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9" name="TextBox 508">
            <a:extLst>
              <a:ext uri="{FF2B5EF4-FFF2-40B4-BE49-F238E27FC236}">
                <a16:creationId xmlns:a16="http://schemas.microsoft.com/office/drawing/2014/main" id="{6C4DB0AB-2CE8-02A6-75D0-4F5F2473C500}"/>
              </a:ext>
            </a:extLst>
          </p:cNvPr>
          <p:cNvSpPr txBox="1"/>
          <p:nvPr/>
        </p:nvSpPr>
        <p:spPr>
          <a:xfrm>
            <a:off x="11722825" y="2839818"/>
            <a:ext cx="36207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8DB62FE7-FE79-F5FB-9AEF-B19B6DCA289D}"/>
              </a:ext>
            </a:extLst>
          </p:cNvPr>
          <p:cNvSpPr txBox="1"/>
          <p:nvPr/>
        </p:nvSpPr>
        <p:spPr>
          <a:xfrm>
            <a:off x="3816402" y="4875538"/>
            <a:ext cx="36207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4CE1DB4A-D03B-E069-9E04-ABF97FB1A532}"/>
              </a:ext>
            </a:extLst>
          </p:cNvPr>
          <p:cNvSpPr txBox="1"/>
          <p:nvPr/>
        </p:nvSpPr>
        <p:spPr>
          <a:xfrm>
            <a:off x="3830819" y="5765963"/>
            <a:ext cx="36207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513" name="TextBox 512">
            <a:extLst>
              <a:ext uri="{FF2B5EF4-FFF2-40B4-BE49-F238E27FC236}">
                <a16:creationId xmlns:a16="http://schemas.microsoft.com/office/drawing/2014/main" id="{FCC50C3E-00B5-2662-17D3-BF3D89456917}"/>
              </a:ext>
            </a:extLst>
          </p:cNvPr>
          <p:cNvSpPr txBox="1"/>
          <p:nvPr/>
        </p:nvSpPr>
        <p:spPr>
          <a:xfrm>
            <a:off x="9930760" y="5748383"/>
            <a:ext cx="36207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0E6C63CE-63DB-3B57-FA70-888B729EA9C5}"/>
              </a:ext>
            </a:extLst>
          </p:cNvPr>
          <p:cNvSpPr txBox="1"/>
          <p:nvPr/>
        </p:nvSpPr>
        <p:spPr>
          <a:xfrm>
            <a:off x="2960251" y="4231334"/>
            <a:ext cx="2709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11A28C97-2015-476B-CAE8-BEB165F7818D}"/>
              </a:ext>
            </a:extLst>
          </p:cNvPr>
          <p:cNvSpPr txBox="1"/>
          <p:nvPr/>
        </p:nvSpPr>
        <p:spPr>
          <a:xfrm>
            <a:off x="5793891" y="6095300"/>
            <a:ext cx="36207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66BE6BD-C244-E1B1-EC48-C52F2C04D59F}"/>
              </a:ext>
            </a:extLst>
          </p:cNvPr>
          <p:cNvSpPr txBox="1"/>
          <p:nvPr/>
        </p:nvSpPr>
        <p:spPr>
          <a:xfrm>
            <a:off x="8455372" y="6506290"/>
            <a:ext cx="36207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CF57E792-18FE-5A3D-1CAA-A52FB478910E}"/>
              </a:ext>
            </a:extLst>
          </p:cNvPr>
          <p:cNvSpPr txBox="1"/>
          <p:nvPr/>
        </p:nvSpPr>
        <p:spPr>
          <a:xfrm>
            <a:off x="9839163" y="4797075"/>
            <a:ext cx="36207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9F45F12C-00B6-21D3-5CEB-FEB422FC8DEF}"/>
              </a:ext>
            </a:extLst>
          </p:cNvPr>
          <p:cNvSpPr txBox="1"/>
          <p:nvPr/>
        </p:nvSpPr>
        <p:spPr>
          <a:xfrm>
            <a:off x="8539388" y="4434631"/>
            <a:ext cx="36207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2C564D94-0F94-B3BE-5B11-18E6B94D63F2}"/>
              </a:ext>
            </a:extLst>
          </p:cNvPr>
          <p:cNvSpPr txBox="1"/>
          <p:nvPr/>
        </p:nvSpPr>
        <p:spPr>
          <a:xfrm>
            <a:off x="5817227" y="4860102"/>
            <a:ext cx="27877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7C178519-7884-367B-8DA6-FD7546989E8B}"/>
              </a:ext>
            </a:extLst>
          </p:cNvPr>
          <p:cNvSpPr txBox="1"/>
          <p:nvPr/>
        </p:nvSpPr>
        <p:spPr>
          <a:xfrm>
            <a:off x="6248400" y="5725388"/>
            <a:ext cx="27877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2C0BC5B9-C9B1-9DE3-893B-022A37D201AF}"/>
              </a:ext>
            </a:extLst>
          </p:cNvPr>
          <p:cNvSpPr txBox="1"/>
          <p:nvPr/>
        </p:nvSpPr>
        <p:spPr>
          <a:xfrm>
            <a:off x="8062528" y="5147632"/>
            <a:ext cx="27877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1A435A7E-2E86-F06D-1421-769914AA11B8}"/>
              </a:ext>
            </a:extLst>
          </p:cNvPr>
          <p:cNvSpPr txBox="1"/>
          <p:nvPr/>
        </p:nvSpPr>
        <p:spPr>
          <a:xfrm>
            <a:off x="9032664" y="3352674"/>
            <a:ext cx="27877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539" name="TextBox 538">
            <a:extLst>
              <a:ext uri="{FF2B5EF4-FFF2-40B4-BE49-F238E27FC236}">
                <a16:creationId xmlns:a16="http://schemas.microsoft.com/office/drawing/2014/main" id="{49A13D38-7784-470A-DEF3-2F5B04DCE25C}"/>
              </a:ext>
            </a:extLst>
          </p:cNvPr>
          <p:cNvSpPr txBox="1"/>
          <p:nvPr/>
        </p:nvSpPr>
        <p:spPr>
          <a:xfrm>
            <a:off x="225981" y="5753443"/>
            <a:ext cx="3011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/>
              <a:t>※ </a:t>
            </a:r>
            <a:r>
              <a:rPr lang="ko-KR" altLang="en-US" sz="1000" b="1" dirty="0"/>
              <a:t>플레이어 턴에서는 승리 조건을 먼저 확인하고</a:t>
            </a:r>
            <a:r>
              <a:rPr lang="en-US" altLang="ko-KR" sz="1000" b="1" dirty="0"/>
              <a:t>, </a:t>
            </a:r>
            <a:br>
              <a:rPr lang="en-US" altLang="ko-KR" sz="1000" b="1" dirty="0"/>
            </a:br>
            <a:r>
              <a:rPr lang="ko-KR" altLang="en-US" sz="1000" b="1" dirty="0"/>
              <a:t>적 턴에서는 패배 조건을 먼저 확인한다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  <p:cxnSp>
        <p:nvCxnSpPr>
          <p:cNvPr id="542" name="연결선: 꺾임 541">
            <a:extLst>
              <a:ext uri="{FF2B5EF4-FFF2-40B4-BE49-F238E27FC236}">
                <a16:creationId xmlns:a16="http://schemas.microsoft.com/office/drawing/2014/main" id="{102DEA6C-552C-FCD2-B422-F2D37BBA1D80}"/>
              </a:ext>
            </a:extLst>
          </p:cNvPr>
          <p:cNvCxnSpPr>
            <a:stCxn id="32" idx="3"/>
            <a:endCxn id="7" idx="1"/>
          </p:cNvCxnSpPr>
          <p:nvPr/>
        </p:nvCxnSpPr>
        <p:spPr>
          <a:xfrm flipV="1">
            <a:off x="8211676" y="3738781"/>
            <a:ext cx="2105494" cy="5183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4" name="연결선: 꺾임 543">
            <a:extLst>
              <a:ext uri="{FF2B5EF4-FFF2-40B4-BE49-F238E27FC236}">
                <a16:creationId xmlns:a16="http://schemas.microsoft.com/office/drawing/2014/main" id="{D0068B03-26E1-664A-C77B-576C6003ECAB}"/>
              </a:ext>
            </a:extLst>
          </p:cNvPr>
          <p:cNvCxnSpPr>
            <a:cxnSpLocks/>
            <a:stCxn id="7" idx="3"/>
          </p:cNvCxnSpPr>
          <p:nvPr/>
        </p:nvCxnSpPr>
        <p:spPr>
          <a:xfrm flipH="1" flipV="1">
            <a:off x="2236263" y="2549034"/>
            <a:ext cx="9500633" cy="1189747"/>
          </a:xfrm>
          <a:prstGeom prst="bentConnector3">
            <a:avLst>
              <a:gd name="adj1" fmla="val -2989"/>
            </a:avLst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255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468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전투 맵 구성 요소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사이즈 / 유닛 / 지형 / 턴</a:t>
            </a:r>
            <a:r>
              <a:rPr lang="ko-KR" alt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행동순서</a:t>
            </a:r>
            <a:endParaRPr lang="en-US" sz="14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591E34C-3769-65E9-342C-AF036E56A2F6}"/>
              </a:ext>
            </a:extLst>
          </p:cNvPr>
          <p:cNvSpPr/>
          <p:nvPr/>
        </p:nvSpPr>
        <p:spPr>
          <a:xfrm>
            <a:off x="749808" y="3125804"/>
            <a:ext cx="438912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전투 맵 구성 요소 - 맵 사이즈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394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맵 사이즈 기준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2495" y="1842695"/>
            <a:ext cx="8589054" cy="224292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기본적인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맵은 체스판처럼 정사각형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타일로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사이즈로 구성한다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최대 규모는 30 x 30 타일을 기준으로 한다.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각 타일은 하나의 지형 정보를 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가진다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타일 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칸은 유닛 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개가 위치할 수 있는 기본 단위이다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타일은 지형 정보를 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가진다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유닛의 이동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사정거리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지형효과는 타일 단위로 계산한다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전투 화면에는 전체 맵 중 현재 카메라 범위 안의 타일만 표시한다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플레이어는 커서 이동 또는 화면 스크롤로 다른 구역을 확인할 수 있다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 선택 시 이동 가능 범위와 공격 가능 범위는 현재 화면에 보이는 타일 위에 표시한다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</p:txBody>
      </p:sp>
      <p:sp>
        <p:nvSpPr>
          <p:cNvPr id="236" name="Text 234"/>
          <p:cNvSpPr/>
          <p:nvPr/>
        </p:nvSpPr>
        <p:spPr>
          <a:xfrm>
            <a:off x="806950" y="5059631"/>
            <a:ext cx="10090420" cy="27432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실제 화면에는 전체 맵 중 </a:t>
            </a:r>
            <a:r>
              <a:rPr lang="en-US" sz="12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</a:t>
            </a: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적의 사정거리 및 아군의 행동 턴에 따라 표시되고</a:t>
            </a: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커서 이동 또는 화면 스크롤로 다른 </a:t>
            </a:r>
            <a:r>
              <a:rPr lang="en-US" sz="12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구역을</a:t>
            </a: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가능하다</a:t>
            </a: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256962-CC3D-78F8-D32B-BB9F566EC0FF}"/>
              </a:ext>
            </a:extLst>
          </p:cNvPr>
          <p:cNvSpPr txBox="1"/>
          <p:nvPr/>
        </p:nvSpPr>
        <p:spPr>
          <a:xfrm>
            <a:off x="610906" y="761947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턴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행동순서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전투 맵 구성 요소 - 유닛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RPG 이동 및 전투 시스템 기획서 | 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3566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</a:t>
            </a: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78" y="1623300"/>
            <a:ext cx="8973153" cy="1966206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t">
            <a:noAutofit/>
          </a:bodyPr>
          <a:lstStyle/>
          <a:p>
            <a:r>
              <a:rPr lang="en-US" altLang="ko-KR" sz="1500" dirty="0"/>
              <a:t>1. </a:t>
            </a:r>
            <a:r>
              <a:rPr lang="ko-KR" altLang="en-US" sz="1500" dirty="0"/>
              <a:t>유닛은 아군</a:t>
            </a:r>
            <a:r>
              <a:rPr lang="en-US" altLang="ko-KR" sz="1500" dirty="0"/>
              <a:t>, </a:t>
            </a:r>
            <a:r>
              <a:rPr lang="ko-KR" altLang="en-US" sz="1500" dirty="0"/>
              <a:t>적군</a:t>
            </a:r>
            <a:r>
              <a:rPr lang="en-US" altLang="ko-KR" sz="1500" dirty="0"/>
              <a:t>, </a:t>
            </a:r>
            <a:r>
              <a:rPr lang="ko-KR" altLang="en-US" sz="1500" dirty="0"/>
              <a:t>중립 몬스터로 구분한다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 </a:t>
            </a:r>
            <a:r>
              <a:rPr lang="ko-KR" altLang="en-US" sz="1500" dirty="0"/>
              <a:t>아군은 플레이어가 직접 조작하는 진영의 유닛이다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3. </a:t>
            </a:r>
            <a:r>
              <a:rPr lang="ko-KR" altLang="en-US" sz="1500" dirty="0"/>
              <a:t>적군은 플레이어와 대립하는 진영의 유닛이며</a:t>
            </a:r>
            <a:r>
              <a:rPr lang="en-US" altLang="ko-KR" sz="1500" dirty="0"/>
              <a:t>, </a:t>
            </a:r>
            <a:r>
              <a:rPr lang="en-US" altLang="ko-KR" sz="1500" dirty="0" err="1"/>
              <a:t>PvE</a:t>
            </a:r>
            <a:r>
              <a:rPr lang="ko-KR" altLang="en-US" sz="1500" dirty="0"/>
              <a:t>에서는 </a:t>
            </a:r>
            <a:r>
              <a:rPr lang="en-US" altLang="ko-KR" sz="1500" dirty="0"/>
              <a:t>AI</a:t>
            </a:r>
            <a:r>
              <a:rPr lang="ko-KR" altLang="en-US" sz="1500" dirty="0"/>
              <a:t>가 조작한다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4. </a:t>
            </a:r>
            <a:r>
              <a:rPr lang="ko-KR" altLang="en-US" sz="1500" dirty="0"/>
              <a:t>중립 몬스터는 아군과 적군에 속하지 않는 독립 유닛이다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5. </a:t>
            </a:r>
            <a:r>
              <a:rPr lang="ko-KR" altLang="en-US" sz="1500" dirty="0"/>
              <a:t>중립 몬스터는 포획형과 보상형으로 구분한다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6. </a:t>
            </a:r>
            <a:r>
              <a:rPr lang="ko-KR" altLang="en-US" sz="1500" dirty="0"/>
              <a:t>포획형 중립 몬스터는 체력이 </a:t>
            </a:r>
            <a:r>
              <a:rPr lang="en-US" altLang="ko-KR" sz="1500" dirty="0"/>
              <a:t>0</a:t>
            </a:r>
            <a:r>
              <a:rPr lang="ko-KR" altLang="en-US" sz="1500" dirty="0"/>
              <a:t>이 되면 전투 종료 후 임시 아군 유닛으로 등록된다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7. </a:t>
            </a:r>
            <a:r>
              <a:rPr lang="ko-KR" altLang="en-US" sz="1500" dirty="0"/>
              <a:t>보상형 중립 몬스터는 체력이 </a:t>
            </a:r>
            <a:r>
              <a:rPr lang="en-US" altLang="ko-KR" sz="1500" dirty="0"/>
              <a:t>0</a:t>
            </a:r>
            <a:r>
              <a:rPr lang="ko-KR" altLang="en-US" sz="1500" dirty="0"/>
              <a:t>이 되면 전투 </a:t>
            </a:r>
            <a:r>
              <a:rPr lang="ko-KR" altLang="en-US" sz="1500" dirty="0" err="1"/>
              <a:t>맵에서</a:t>
            </a:r>
            <a:r>
              <a:rPr lang="ko-KR" altLang="en-US" sz="1500" dirty="0"/>
              <a:t> 제거되고 골드 또는 아이템 보상을 지급한다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8. </a:t>
            </a:r>
            <a:r>
              <a:rPr lang="ko-KR" altLang="en-US" sz="1500" dirty="0"/>
              <a:t>포획형</a:t>
            </a:r>
            <a:r>
              <a:rPr lang="en-US" altLang="ko-KR" sz="1500" dirty="0"/>
              <a:t>/</a:t>
            </a:r>
            <a:r>
              <a:rPr lang="ko-KR" altLang="en-US" sz="1500" dirty="0"/>
              <a:t>보상형 여부는 몬스터 데이터 테이블에서 관리한다</a:t>
            </a:r>
            <a:r>
              <a:rPr lang="en-US" altLang="ko-KR" sz="1500" dirty="0"/>
              <a:t>.</a:t>
            </a:r>
            <a:endParaRPr lang="en-US" sz="1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1538D4-1E4B-8C6E-0326-18584C66D683}"/>
              </a:ext>
            </a:extLst>
          </p:cNvPr>
          <p:cNvSpPr txBox="1"/>
          <p:nvPr/>
        </p:nvSpPr>
        <p:spPr>
          <a:xfrm>
            <a:off x="565484" y="71672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턴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행동순서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2A4C84F-D33B-634E-F085-64E343D34B10}"/>
              </a:ext>
            </a:extLst>
          </p:cNvPr>
          <p:cNvSpPr/>
          <p:nvPr/>
        </p:nvSpPr>
        <p:spPr>
          <a:xfrm>
            <a:off x="594360" y="3685758"/>
            <a:ext cx="35661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규칙</a:t>
            </a:r>
            <a:endParaRPr lang="en-US" sz="1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8028D1-7D07-942A-85D8-5E0B5337C865}"/>
              </a:ext>
            </a:extLst>
          </p:cNvPr>
          <p:cNvSpPr txBox="1"/>
          <p:nvPr/>
        </p:nvSpPr>
        <p:spPr>
          <a:xfrm>
            <a:off x="565484" y="4125296"/>
            <a:ext cx="868552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en-US" sz="1500" dirty="0"/>
              <a:t>아군은 초록색 체력바로 표시한다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 </a:t>
            </a:r>
            <a:r>
              <a:rPr lang="ko-KR" altLang="en-US" sz="1500" dirty="0"/>
              <a:t>적군은 빨간색 체력바로 표시한다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3. </a:t>
            </a:r>
            <a:r>
              <a:rPr lang="ko-KR" altLang="en-US" sz="1500" dirty="0"/>
              <a:t>중립 몬스터는 노란색 체력바로 표시한다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4. </a:t>
            </a:r>
            <a:r>
              <a:rPr lang="ko-KR" altLang="en-US" sz="1500" dirty="0"/>
              <a:t>포획형 중립 몬스터는 </a:t>
            </a:r>
            <a:r>
              <a:rPr lang="ko-KR" altLang="en-US" sz="1500" dirty="0" err="1"/>
              <a:t>체력바</a:t>
            </a:r>
            <a:r>
              <a:rPr lang="ko-KR" altLang="en-US" sz="1500" dirty="0"/>
              <a:t> 옆에 포획 가능 아이콘을 표시한다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5. </a:t>
            </a:r>
            <a:r>
              <a:rPr lang="ko-KR" altLang="en-US" sz="1500" dirty="0"/>
              <a:t>보상형 중립 몬스터는 </a:t>
            </a:r>
            <a:r>
              <a:rPr lang="ko-KR" altLang="en-US" sz="1500" dirty="0" err="1"/>
              <a:t>체력바</a:t>
            </a:r>
            <a:r>
              <a:rPr lang="ko-KR" altLang="en-US" sz="1500" dirty="0"/>
              <a:t> 옆에 보상 아이콘을 표시한다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6. </a:t>
            </a:r>
            <a:r>
              <a:rPr lang="ko-KR" altLang="en-US" sz="1500" dirty="0"/>
              <a:t>공격 가능한 대상에는 빨간색 칼 아이콘을 표시한다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7. </a:t>
            </a:r>
            <a:r>
              <a:rPr lang="ko-KR" altLang="en-US" sz="1500" dirty="0"/>
              <a:t>유닛 선택 시 이동 가능 범위는 파란색 타일</a:t>
            </a:r>
            <a:r>
              <a:rPr lang="en-US" altLang="ko-KR" sz="1500" dirty="0"/>
              <a:t>, </a:t>
            </a:r>
            <a:r>
              <a:rPr lang="ko-KR" altLang="en-US" sz="1500" dirty="0"/>
              <a:t>공격 가능 범위는 빨간색 타일로 표시한다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762E9-2BB9-F12C-980A-44778224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4663FD9-76B0-7DB3-0851-A9B6F3C7F9BF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전투 맵 구성 요소 - 유닛</a:t>
            </a:r>
            <a:endParaRPr lang="en-US" sz="2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7BC640E-DCCF-DAA3-A46B-D37470D30F99}"/>
              </a:ext>
            </a:extLst>
          </p:cNvPr>
          <p:cNvSpPr/>
          <p:nvPr/>
        </p:nvSpPr>
        <p:spPr>
          <a:xfrm>
            <a:off x="841248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RPG 이동 및 전투 시스템 기획서 | 8</a:t>
            </a:r>
            <a:endParaRPr lang="en-US" sz="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37DFB4F-986C-4AF4-D917-9FCBC21E0AC2}"/>
              </a:ext>
            </a:extLst>
          </p:cNvPr>
          <p:cNvSpPr/>
          <p:nvPr/>
        </p:nvSpPr>
        <p:spPr>
          <a:xfrm>
            <a:off x="518160" y="1167597"/>
            <a:ext cx="356616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</a:t>
            </a:r>
            <a:r>
              <a:rPr lang="en-US" sz="1700" b="1" dirty="0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크기</a:t>
            </a:r>
            <a:endParaRPr lang="en-US" sz="1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EAED1D-99F4-DB1D-6015-D36A7C43CAC8}"/>
              </a:ext>
            </a:extLst>
          </p:cNvPr>
          <p:cNvSpPr txBox="1"/>
          <p:nvPr/>
        </p:nvSpPr>
        <p:spPr>
          <a:xfrm>
            <a:off x="502919" y="1690706"/>
            <a:ext cx="101585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en-US" sz="1500" dirty="0"/>
              <a:t>기본 유닛은 타일 </a:t>
            </a:r>
            <a:r>
              <a:rPr lang="en-US" altLang="ko-KR" sz="1500" dirty="0"/>
              <a:t>1</a:t>
            </a:r>
            <a:r>
              <a:rPr lang="ko-KR" altLang="en-US" sz="1500" dirty="0"/>
              <a:t>칸을 차지한다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 </a:t>
            </a:r>
            <a:r>
              <a:rPr lang="ko-KR" altLang="en-US" sz="1500" dirty="0"/>
              <a:t>같은 타일에는 </a:t>
            </a:r>
            <a:r>
              <a:rPr lang="en-US" altLang="ko-KR" sz="1500" dirty="0"/>
              <a:t>1</a:t>
            </a:r>
            <a:r>
              <a:rPr lang="ko-KR" altLang="en-US" sz="1500" dirty="0"/>
              <a:t>개의 유닛만 배치할 수 있다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3. </a:t>
            </a:r>
            <a:r>
              <a:rPr lang="ko-KR" altLang="en-US" sz="1500" dirty="0"/>
              <a:t>아군과 적군의 초기 배치 위치는 스테이지 데이터에서 지정한다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4. </a:t>
            </a:r>
            <a:r>
              <a:rPr lang="ko-KR" altLang="en-US" sz="1500" dirty="0"/>
              <a:t>전투 준비 화면에서는 지정된 아군 배치 슬롯에 유닛을 배치한다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5. </a:t>
            </a:r>
            <a:r>
              <a:rPr lang="ko-KR" altLang="en-US" sz="1500" dirty="0"/>
              <a:t>배치 슬롯의 위치는 변경할 수 없으며</a:t>
            </a:r>
            <a:r>
              <a:rPr lang="en-US" altLang="ko-KR" sz="1500" dirty="0"/>
              <a:t>, </a:t>
            </a:r>
            <a:r>
              <a:rPr lang="ko-KR" altLang="en-US" sz="1500" dirty="0"/>
              <a:t>슬롯에 배치할 유닛만 교체할 수 있다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6. </a:t>
            </a:r>
            <a:r>
              <a:rPr lang="ko-KR" altLang="en-US" sz="1500" dirty="0"/>
              <a:t>여러 칸을 차지하는 대형 유닛은 기본 규칙에서는 사용하지 않고</a:t>
            </a:r>
            <a:r>
              <a:rPr lang="en-US" altLang="ko-KR" sz="1500" dirty="0"/>
              <a:t>, </a:t>
            </a:r>
            <a:r>
              <a:rPr lang="ko-KR" altLang="en-US" sz="1500" dirty="0"/>
              <a:t>추가 기획에서 별도 정의한다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6C8C06-FD96-75AF-543A-25914E36A58D}"/>
              </a:ext>
            </a:extLst>
          </p:cNvPr>
          <p:cNvSpPr txBox="1"/>
          <p:nvPr/>
        </p:nvSpPr>
        <p:spPr>
          <a:xfrm>
            <a:off x="565484" y="71672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턴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행동순서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566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전투 맵 구성 요소 - 지형</a:t>
            </a:r>
            <a:endParaRPr lang="en-US" sz="2500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8B50A5E-5A6D-F35A-5311-6B9E835CD9DE}"/>
              </a:ext>
            </a:extLst>
          </p:cNvPr>
          <p:cNvGrpSpPr/>
          <p:nvPr/>
        </p:nvGrpSpPr>
        <p:grpSpPr>
          <a:xfrm>
            <a:off x="1188720" y="1749843"/>
            <a:ext cx="9326880" cy="3977800"/>
            <a:chOff x="563078" y="1437934"/>
            <a:chExt cx="10972800" cy="4892040"/>
          </a:xfrm>
        </p:grpSpPr>
        <p:sp>
          <p:nvSpPr>
            <p:cNvPr id="7" name="Text 5"/>
            <p:cNvSpPr/>
            <p:nvPr/>
          </p:nvSpPr>
          <p:spPr>
            <a:xfrm>
              <a:off x="563078" y="1437934"/>
              <a:ext cx="1371600" cy="54356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지형</a:t>
              </a:r>
              <a:endParaRPr lang="en-US" sz="93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934678" y="1437934"/>
              <a:ext cx="4663440" cy="54356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93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지형 </a:t>
              </a:r>
              <a:r>
                <a:rPr lang="en-US" sz="930" b="1" dirty="0" err="1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구성</a:t>
              </a:r>
              <a:r>
                <a:rPr lang="en-US" sz="93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93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요소 </a:t>
              </a:r>
              <a:r>
                <a:rPr lang="en-US" sz="930" b="1" dirty="0" err="1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예시</a:t>
              </a:r>
              <a:endParaRPr lang="en-US" sz="93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598118" y="1437934"/>
              <a:ext cx="4937760" cy="54356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93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이동 및 전투 영향 요소</a:t>
              </a:r>
              <a:endParaRPr lang="en-US" sz="93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63078" y="1981494"/>
              <a:ext cx="1371600" cy="54356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평지</a:t>
              </a:r>
              <a:endParaRPr lang="en-US" sz="93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934678" y="1981494"/>
              <a:ext cx="4663440" cy="54356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초원, 들판, 돌부리</a:t>
              </a:r>
              <a:endParaRPr lang="en-US" sz="93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598118" y="1981494"/>
              <a:ext cx="4937760" cy="54356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기본 이동 지형</a:t>
              </a:r>
              <a:endParaRPr lang="en-US" sz="93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63078" y="2525054"/>
              <a:ext cx="1371600" cy="54356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숲</a:t>
              </a:r>
              <a:endParaRPr lang="en-US" sz="93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934678" y="2525054"/>
              <a:ext cx="4663440" cy="54356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빽빽한 나무, 큰 돌, 샘</a:t>
              </a:r>
              <a:endParaRPr lang="en-US" sz="93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598118" y="2525054"/>
              <a:ext cx="4937760" cy="54356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00" dirty="0"/>
                <a:t>숲은 기병이 이동하기 불리하지만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방어 보정을 받을 수 있다</a:t>
              </a:r>
              <a:r>
                <a:rPr lang="en-US" altLang="ko-KR" sz="1000" dirty="0"/>
                <a:t>.</a:t>
              </a:r>
              <a:endParaRPr lang="en-US" sz="93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63078" y="3068614"/>
              <a:ext cx="1371600" cy="54356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다리</a:t>
              </a:r>
              <a:endParaRPr lang="en-US" sz="93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934678" y="3068614"/>
              <a:ext cx="4663440" cy="54356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수로, 성, 협곡 연결 다리</a:t>
              </a:r>
              <a:endParaRPr lang="en-US" sz="93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598118" y="3068614"/>
              <a:ext cx="4937760" cy="54356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00" dirty="0"/>
                <a:t>다리는 좁은 길 역할을 하며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유닛이 몰리는 구간이 될 수 있다</a:t>
              </a:r>
              <a:r>
                <a:rPr lang="en-US" altLang="ko-KR" sz="1000" dirty="0"/>
                <a:t>.</a:t>
              </a:r>
              <a:endParaRPr lang="en-US" sz="93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63078" y="3612174"/>
              <a:ext cx="1371600" cy="54356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사막</a:t>
              </a:r>
              <a:endParaRPr lang="en-US" sz="93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934678" y="3612174"/>
              <a:ext cx="4663440" cy="54356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모래 지형</a:t>
              </a:r>
              <a:endParaRPr lang="en-US" sz="93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598118" y="3612174"/>
              <a:ext cx="4937760" cy="54356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일부 병종 이동 소모 증가</a:t>
              </a:r>
              <a:endParaRPr lang="en-US" sz="93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63078" y="4155734"/>
              <a:ext cx="1371600" cy="54356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물</a:t>
              </a:r>
              <a:endParaRPr lang="en-US" sz="93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934678" y="4155734"/>
              <a:ext cx="4663440" cy="54356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바다, 강, 난파선, 섬</a:t>
              </a:r>
              <a:endParaRPr lang="en-US" sz="93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598118" y="4155734"/>
              <a:ext cx="4937760" cy="54356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00" dirty="0"/>
                <a:t>물은 일반 병종보다 수병이나 비행 병종이 이동하기 좋은 지형이다</a:t>
              </a:r>
              <a:r>
                <a:rPr lang="en-US" altLang="ko-KR" sz="1000" dirty="0"/>
                <a:t>.</a:t>
              </a:r>
              <a:endParaRPr lang="en-US" sz="93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63078" y="4699294"/>
              <a:ext cx="1371600" cy="54356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산</a:t>
              </a:r>
              <a:endParaRPr lang="en-US" sz="93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934678" y="4699294"/>
              <a:ext cx="4663440" cy="54356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절벽, 산길, 절벽 간 다리</a:t>
              </a:r>
              <a:endParaRPr lang="en-US" sz="93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598118" y="4699294"/>
              <a:ext cx="4937760" cy="54356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00" dirty="0"/>
                <a:t>일반 병종 진입 제한 가능</a:t>
              </a:r>
              <a:endParaRPr lang="en-US" sz="93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63078" y="5242854"/>
              <a:ext cx="1371600" cy="54356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설산</a:t>
              </a:r>
              <a:endParaRPr lang="en-US" sz="93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934678" y="5242854"/>
              <a:ext cx="4663440" cy="54356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눈, 설산 절벽, 나무</a:t>
              </a:r>
              <a:endParaRPr lang="en-US" sz="93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6598118" y="5242854"/>
              <a:ext cx="4937760" cy="54356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00" dirty="0" err="1"/>
                <a:t>스키병</a:t>
              </a:r>
              <a:r>
                <a:rPr lang="ko-KR" altLang="en-US" sz="1000" dirty="0"/>
                <a:t> 특화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일반 병종 이동 감속</a:t>
              </a:r>
              <a:endParaRPr lang="en-US" sz="93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63078" y="5786414"/>
              <a:ext cx="1371600" cy="54356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늪지대</a:t>
              </a:r>
              <a:endParaRPr lang="en-US" sz="93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1934678" y="5786414"/>
              <a:ext cx="4663440" cy="54356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수심 깊은 늪, 빽빽한 나무</a:t>
              </a:r>
              <a:endParaRPr lang="en-US" sz="93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598118" y="5786414"/>
              <a:ext cx="4937760" cy="54356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조사병단 특화 / 일반 병종 위험</a:t>
              </a:r>
              <a:endParaRPr lang="en-US" sz="93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952797D-46A1-5356-E3CA-D7AA582FADF9}"/>
              </a:ext>
            </a:extLst>
          </p:cNvPr>
          <p:cNvSpPr txBox="1"/>
          <p:nvPr/>
        </p:nvSpPr>
        <p:spPr>
          <a:xfrm>
            <a:off x="1188720" y="1083427"/>
            <a:ext cx="60970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b="1" dirty="0"/>
              <a:t>전투 </a:t>
            </a:r>
            <a:r>
              <a:rPr lang="ko-KR" altLang="ko-KR" sz="1000" b="1" dirty="0" err="1"/>
              <a:t>맵은</a:t>
            </a:r>
            <a:r>
              <a:rPr lang="ko-KR" altLang="ko-KR" sz="1000" b="1" dirty="0"/>
              <a:t> 여러 지형 타일이 섞여 구성된다.</a:t>
            </a:r>
            <a:br>
              <a:rPr lang="en-US" altLang="ko-KR" sz="1000" b="1" dirty="0"/>
            </a:br>
            <a:r>
              <a:rPr lang="ko-KR" altLang="ko-KR" sz="1000" b="1" dirty="0"/>
              <a:t>타일은 하나의 지형 정보를 가지며, 스테이지 콘셉트에 따라 특정 지형의 비중이 높아질 수 있다</a:t>
            </a:r>
            <a:br>
              <a:rPr lang="en-US" altLang="ko-KR" sz="1000" b="1" dirty="0"/>
            </a:br>
            <a:r>
              <a:rPr lang="ko-KR" altLang="en-US" sz="1000" b="1" dirty="0"/>
              <a:t>지형은 유닛의 </a:t>
            </a:r>
            <a:r>
              <a:rPr lang="ko-KR" altLang="en-US" sz="1000" b="1" dirty="0" err="1"/>
              <a:t>이동력</a:t>
            </a:r>
            <a:r>
              <a:rPr lang="ko-KR" altLang="en-US" sz="1000" b="1" dirty="0"/>
              <a:t>, 전투 보정, 병종별 유불리에 영향을 준다.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F422B5-C04D-8C71-812A-04F34CEC2F27}"/>
              </a:ext>
            </a:extLst>
          </p:cNvPr>
          <p:cNvSpPr txBox="1"/>
          <p:nvPr/>
        </p:nvSpPr>
        <p:spPr>
          <a:xfrm>
            <a:off x="2040405" y="5971219"/>
            <a:ext cx="762351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/>
              <a:t>※ 지형별 </a:t>
            </a:r>
            <a:r>
              <a:rPr lang="ko-KR" altLang="en-US" sz="1500" b="1" dirty="0" err="1"/>
              <a:t>이동력</a:t>
            </a:r>
            <a:r>
              <a:rPr lang="ko-KR" altLang="en-US" sz="1500" b="1" dirty="0"/>
              <a:t> 소모량과 전투 보정 수치는 밸런스 조정 과정에서 변경될 수 있다.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5FC6D3-6E7F-31E5-7790-ED4DF3F627C9}"/>
              </a:ext>
            </a:extLst>
          </p:cNvPr>
          <p:cNvSpPr txBox="1"/>
          <p:nvPr/>
        </p:nvSpPr>
        <p:spPr>
          <a:xfrm>
            <a:off x="565484" y="71672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턴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행동순서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5FDAB-81D5-764B-50C8-418799962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878F611-8C33-7FA1-D42C-357E841B8281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전투 맵 구성 요소 - 지형</a:t>
            </a:r>
            <a:endParaRPr lang="en-US"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117FD9-E218-981B-4865-AA2F40837828}"/>
              </a:ext>
            </a:extLst>
          </p:cNvPr>
          <p:cNvSpPr txBox="1"/>
          <p:nvPr/>
        </p:nvSpPr>
        <p:spPr>
          <a:xfrm>
            <a:off x="565484" y="1737849"/>
            <a:ext cx="1769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/>
                </a:solidFill>
              </a:rPr>
              <a:t>전장 예시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731D20-3CA3-127E-2AB1-E9F3B351F84C}"/>
              </a:ext>
            </a:extLst>
          </p:cNvPr>
          <p:cNvSpPr txBox="1"/>
          <p:nvPr/>
        </p:nvSpPr>
        <p:spPr>
          <a:xfrm>
            <a:off x="565484" y="71672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턴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행동순서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C371228-334F-69FF-4626-FCF49C7AD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84" y="2281688"/>
            <a:ext cx="4805795" cy="273192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650FAF38-4ADE-2354-8C8F-2FEE0F694D3F}"/>
              </a:ext>
            </a:extLst>
          </p:cNvPr>
          <p:cNvGrpSpPr/>
          <p:nvPr/>
        </p:nvGrpSpPr>
        <p:grpSpPr>
          <a:xfrm>
            <a:off x="5507181" y="1805833"/>
            <a:ext cx="6543630" cy="4030739"/>
            <a:chOff x="5371279" y="1800638"/>
            <a:chExt cx="6543630" cy="4030739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42237F31-1100-B50A-3295-E682C970D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49150" y="2281688"/>
              <a:ext cx="5032705" cy="2703572"/>
            </a:xfrm>
            <a:prstGeom prst="rect">
              <a:avLst/>
            </a:prstGeom>
          </p:spPr>
        </p:pic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0EF4BBD-9CBF-FB7B-D550-3638A61CC876}"/>
                </a:ext>
              </a:extLst>
            </p:cNvPr>
            <p:cNvSpPr/>
            <p:nvPr/>
          </p:nvSpPr>
          <p:spPr>
            <a:xfrm>
              <a:off x="5472545" y="1932709"/>
              <a:ext cx="2015837" cy="14962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F19B569-E90E-D435-1449-7AB9F978E08B}"/>
                </a:ext>
              </a:extLst>
            </p:cNvPr>
            <p:cNvSpPr/>
            <p:nvPr/>
          </p:nvSpPr>
          <p:spPr>
            <a:xfrm>
              <a:off x="5371279" y="3970019"/>
              <a:ext cx="1290205" cy="132033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9B763E36-4474-F4E5-492E-C8DAE387F1E3}"/>
                </a:ext>
              </a:extLst>
            </p:cNvPr>
            <p:cNvSpPr/>
            <p:nvPr/>
          </p:nvSpPr>
          <p:spPr>
            <a:xfrm>
              <a:off x="5756563" y="4335086"/>
              <a:ext cx="1579419" cy="14962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8098CCB-CCD4-7391-97FA-625CC2AD4F2C}"/>
                </a:ext>
              </a:extLst>
            </p:cNvPr>
            <p:cNvSpPr/>
            <p:nvPr/>
          </p:nvSpPr>
          <p:spPr>
            <a:xfrm>
              <a:off x="9552708" y="3970019"/>
              <a:ext cx="2015837" cy="14962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6141838-6959-319C-2C6C-308665AB79CC}"/>
                </a:ext>
              </a:extLst>
            </p:cNvPr>
            <p:cNvSpPr/>
            <p:nvPr/>
          </p:nvSpPr>
          <p:spPr>
            <a:xfrm>
              <a:off x="9899072" y="1800638"/>
              <a:ext cx="2015837" cy="14962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308493B-AA92-A886-4443-C866E4A48992}"/>
              </a:ext>
            </a:extLst>
          </p:cNvPr>
          <p:cNvSpPr txBox="1"/>
          <p:nvPr/>
        </p:nvSpPr>
        <p:spPr>
          <a:xfrm>
            <a:off x="2334491" y="5531474"/>
            <a:ext cx="752301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300" b="1" dirty="0"/>
              <a:t>각 타일은 하나의 지형 정보를 가지며, 스테이지 </a:t>
            </a:r>
            <a:r>
              <a:rPr lang="ko-KR" altLang="en-US" sz="1300" b="1" dirty="0"/>
              <a:t>종류</a:t>
            </a:r>
            <a:r>
              <a:rPr lang="ko-KR" altLang="ko-KR" sz="1300" b="1" dirty="0"/>
              <a:t>에 따라 특정 지형의 비중이 높아질 수 있다.</a:t>
            </a:r>
            <a:endParaRPr lang="ko-KR" altLang="en-US" sz="1300" b="1" dirty="0"/>
          </a:p>
        </p:txBody>
      </p:sp>
    </p:spTree>
    <p:extLst>
      <p:ext uri="{BB962C8B-B14F-4D97-AF65-F5344CB8AC3E}">
        <p14:creationId xmlns:p14="http://schemas.microsoft.com/office/powerpoint/2010/main" val="890939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전투 맵 구성 요소 - </a:t>
            </a:r>
            <a:r>
              <a:rPr lang="en-US" sz="25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턴과</a:t>
            </a: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행동순서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RPG 이동 및 전투 시스템 기획서 | 10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253770"/>
            <a:ext cx="3566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턴과</a:t>
            </a: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행동 순서</a:t>
            </a:r>
            <a:endParaRPr lang="en-US" sz="1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1C83B-BEED-8F20-50BD-8E153B4B12BC}"/>
              </a:ext>
            </a:extLst>
          </p:cNvPr>
          <p:cNvSpPr txBox="1"/>
          <p:nvPr/>
        </p:nvSpPr>
        <p:spPr>
          <a:xfrm>
            <a:off x="446130" y="1883742"/>
            <a:ext cx="104643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en-US" sz="1500" dirty="0"/>
              <a:t>전투는 플레이어 턴과 적 턴이 번갈아 진행된다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 </a:t>
            </a:r>
            <a:r>
              <a:rPr lang="ko-KR" altLang="en-US" sz="1500" dirty="0"/>
              <a:t>플레이어 턴에는 아군 유닛을 원하는 순서로 선택할 수 있다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3. </a:t>
            </a:r>
            <a:r>
              <a:rPr lang="ko-KR" altLang="en-US" sz="1500" dirty="0"/>
              <a:t>한 유닛은 한 턴에 한 번만 행동할 수 있다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4. </a:t>
            </a:r>
            <a:r>
              <a:rPr lang="ko-KR" altLang="en-US" sz="1500" dirty="0"/>
              <a:t>유닛을 선택하면 이동할 위치를 먼저 정한다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5. </a:t>
            </a:r>
            <a:r>
              <a:rPr lang="ko-KR" altLang="en-US" sz="1500" dirty="0"/>
              <a:t>이동 후 공격 </a:t>
            </a:r>
            <a:r>
              <a:rPr lang="en-US" altLang="ko-KR" sz="1500" dirty="0"/>
              <a:t>/ </a:t>
            </a:r>
            <a:r>
              <a:rPr lang="ko-KR" altLang="en-US" sz="1500" dirty="0"/>
              <a:t>특수능력 </a:t>
            </a:r>
            <a:r>
              <a:rPr lang="en-US" altLang="ko-KR" sz="1500" dirty="0"/>
              <a:t>/ </a:t>
            </a:r>
            <a:r>
              <a:rPr lang="ko-KR" altLang="en-US" sz="1500" dirty="0"/>
              <a:t>대기 중 하나를 선택한다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6. </a:t>
            </a:r>
            <a:r>
              <a:rPr lang="ko-KR" altLang="en-US" sz="1500" dirty="0"/>
              <a:t>공격</a:t>
            </a:r>
            <a:r>
              <a:rPr lang="en-US" altLang="ko-KR" sz="1500" dirty="0"/>
              <a:t>, </a:t>
            </a:r>
            <a:r>
              <a:rPr lang="ko-KR" altLang="en-US" sz="1500" dirty="0"/>
              <a:t>특수능력</a:t>
            </a:r>
            <a:r>
              <a:rPr lang="en-US" altLang="ko-KR" sz="1500" dirty="0"/>
              <a:t>, </a:t>
            </a:r>
            <a:r>
              <a:rPr lang="ko-KR" altLang="en-US" sz="1500" dirty="0"/>
              <a:t>대기를 확정하면 해당 유닛의 행동은 끝난다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7. </a:t>
            </a:r>
            <a:r>
              <a:rPr lang="ko-KR" altLang="en-US" sz="1500" dirty="0"/>
              <a:t>모든 아군 유닛의 행동이 끝나면 적 턴으로 넘어간다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8. </a:t>
            </a:r>
            <a:r>
              <a:rPr lang="ko-KR" altLang="en-US" sz="1500" dirty="0"/>
              <a:t>유닛 행동이 끝날 때마다 승리 조건과 패배 조건을 확인한다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545A56-3D3D-4F43-AEB9-59A251D8DE2B}"/>
              </a:ext>
            </a:extLst>
          </p:cNvPr>
          <p:cNvSpPr txBox="1"/>
          <p:nvPr/>
        </p:nvSpPr>
        <p:spPr>
          <a:xfrm>
            <a:off x="565484" y="71672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턴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행동순서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468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조작 방법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 이동 / 화면 회전 / 스크롤 / 결정 / 취소 / </a:t>
            </a:r>
            <a:r>
              <a:rPr lang="ko-KR" altLang="en-US" sz="1400" dirty="0" err="1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유닛찾기</a:t>
            </a:r>
            <a:r>
              <a:rPr lang="en-US" altLang="ko-KR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sz="1400" dirty="0" err="1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</a:t>
            </a:r>
            <a:r>
              <a:rPr 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전환</a:t>
            </a:r>
            <a:endParaRPr lang="en-US" sz="14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48D8C6FA-AB4C-407F-E000-A0D1A321EBF5}"/>
              </a:ext>
            </a:extLst>
          </p:cNvPr>
          <p:cNvSpPr/>
          <p:nvPr/>
        </p:nvSpPr>
        <p:spPr>
          <a:xfrm>
            <a:off x="749808" y="3060834"/>
            <a:ext cx="2859666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조작 방법</a:t>
            </a:r>
            <a:endParaRPr lang="en-US" sz="2500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2BCB999-5DD7-86BE-F0D8-E8C361DF226C}"/>
              </a:ext>
            </a:extLst>
          </p:cNvPr>
          <p:cNvGrpSpPr/>
          <p:nvPr/>
        </p:nvGrpSpPr>
        <p:grpSpPr>
          <a:xfrm>
            <a:off x="640080" y="1142999"/>
            <a:ext cx="10972800" cy="5074920"/>
            <a:chOff x="640080" y="1142999"/>
            <a:chExt cx="10972800" cy="5074920"/>
          </a:xfrm>
        </p:grpSpPr>
        <p:sp>
          <p:nvSpPr>
            <p:cNvPr id="7" name="Text 5"/>
            <p:cNvSpPr/>
            <p:nvPr/>
          </p:nvSpPr>
          <p:spPr>
            <a:xfrm>
              <a:off x="640080" y="1142999"/>
              <a:ext cx="1920240" cy="724989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조작</a:t>
              </a:r>
              <a:endParaRPr lang="en-US" sz="102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560320" y="1143000"/>
              <a:ext cx="4663440" cy="724989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내용</a:t>
              </a:r>
              <a:endParaRPr lang="en-US" sz="102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223760" y="1143000"/>
              <a:ext cx="4389120" cy="724989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처리 결과</a:t>
              </a:r>
              <a:endParaRPr lang="en-US" sz="102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40080" y="1867988"/>
              <a:ext cx="1920240" cy="724989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커서 이동</a:t>
              </a:r>
              <a:endParaRPr lang="en-US" sz="102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560320" y="1867988"/>
              <a:ext cx="4663440" cy="724989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/>
                <a:t>타일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유닛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대상을 선택한다</a:t>
              </a:r>
              <a:r>
                <a:rPr lang="en-US" altLang="ko-KR" sz="1050" dirty="0"/>
                <a:t>.</a:t>
              </a:r>
              <a:endParaRPr lang="en-US" sz="102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223760" y="1867989"/>
              <a:ext cx="4389120" cy="724989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/>
                <a:t>커서 위치를 기준으로 정보가 표시된다</a:t>
              </a:r>
              <a:r>
                <a:rPr lang="en-US" altLang="ko-KR" sz="1050" dirty="0"/>
                <a:t>.</a:t>
              </a:r>
              <a:endParaRPr lang="en-US" sz="102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40080" y="2592976"/>
              <a:ext cx="1920240" cy="724989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화면 회전</a:t>
              </a:r>
              <a:endParaRPr lang="en-US" sz="102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560320" y="2592976"/>
              <a:ext cx="4663440" cy="724989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 err="1"/>
                <a:t>맵을</a:t>
              </a:r>
              <a:r>
                <a:rPr lang="ko-KR" altLang="en-US" sz="1050" dirty="0"/>
                <a:t> 다른 방향에서 볼 수 있게 화면을 돌린다</a:t>
              </a:r>
              <a:r>
                <a:rPr lang="en-US" altLang="ko-KR" sz="1050" dirty="0"/>
                <a:t>.</a:t>
              </a:r>
              <a:endParaRPr lang="en-US" sz="102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223760" y="2592977"/>
              <a:ext cx="4389120" cy="724989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/>
                <a:t>기본 진행에는 영향을 주지 않는 선택 기능이다</a:t>
              </a:r>
              <a:r>
                <a:rPr lang="en-US" altLang="ko-KR" sz="1050" dirty="0"/>
                <a:t>.</a:t>
              </a:r>
              <a:endParaRPr lang="en-US" sz="102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40080" y="3317965"/>
              <a:ext cx="1920240" cy="724989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화면 스크롤</a:t>
              </a:r>
              <a:endParaRPr lang="en-US" sz="102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560320" y="3317965"/>
              <a:ext cx="4663440" cy="724989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/>
                <a:t>현재 화면 밖의 </a:t>
              </a:r>
              <a:r>
                <a:rPr lang="ko-KR" altLang="en-US" sz="1050" dirty="0" err="1"/>
                <a:t>맵을</a:t>
              </a:r>
              <a:r>
                <a:rPr lang="ko-KR" altLang="en-US" sz="1050" dirty="0"/>
                <a:t> 확인한다</a:t>
              </a:r>
              <a:r>
                <a:rPr lang="en-US" altLang="ko-KR" sz="1050" dirty="0"/>
                <a:t>.</a:t>
              </a:r>
              <a:endParaRPr lang="en-US" sz="102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223760" y="3317966"/>
              <a:ext cx="4389120" cy="724989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/>
                <a:t>화면이 커서 이동 방향에 맞춰 이동한다</a:t>
              </a:r>
              <a:r>
                <a:rPr lang="en-US" altLang="ko-KR" sz="1050" dirty="0"/>
                <a:t>.</a:t>
              </a:r>
              <a:endParaRPr lang="en-US" sz="102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40080" y="4042953"/>
              <a:ext cx="1920240" cy="724989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결정</a:t>
              </a:r>
              <a:endParaRPr lang="en-US" sz="102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560320" y="4042953"/>
              <a:ext cx="4663440" cy="724989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/>
                <a:t>유닛 선택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이동 위치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공격 대상을 확정한다</a:t>
              </a:r>
              <a:r>
                <a:rPr lang="en-US" altLang="ko-KR" sz="1050" dirty="0"/>
                <a:t>.</a:t>
              </a:r>
              <a:endParaRPr lang="en-US" sz="102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223760" y="4042954"/>
              <a:ext cx="4389120" cy="724989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/>
                <a:t>선택한 행동을 다음 단계로 진행한다</a:t>
              </a:r>
              <a:r>
                <a:rPr lang="en-US" altLang="ko-KR" sz="1050" dirty="0"/>
                <a:t>.</a:t>
              </a:r>
              <a:endParaRPr lang="en-US" sz="102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40080" y="4767942"/>
              <a:ext cx="1920240" cy="724989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취소</a:t>
              </a:r>
              <a:endParaRPr lang="en-US" sz="102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560320" y="4767942"/>
              <a:ext cx="4663440" cy="724989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/>
                <a:t>이전 선택 단계로 돌아간다</a:t>
              </a:r>
              <a:r>
                <a:rPr lang="en-US" altLang="ko-KR" sz="1050" dirty="0"/>
                <a:t>.</a:t>
              </a:r>
              <a:endParaRPr lang="en-US" sz="102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7223760" y="4767942"/>
              <a:ext cx="4389120" cy="724989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/>
                <a:t>최종 행동 </a:t>
              </a:r>
              <a:r>
                <a:rPr lang="ko-KR" altLang="en-US" sz="1050" dirty="0" err="1"/>
                <a:t>확정전까지만</a:t>
              </a:r>
              <a:r>
                <a:rPr lang="ko-KR" altLang="en-US" sz="1050" dirty="0"/>
                <a:t> 사용할 수 있다</a:t>
              </a:r>
              <a:r>
                <a:rPr lang="en-US" altLang="ko-KR" sz="1050" dirty="0"/>
                <a:t>.</a:t>
              </a:r>
              <a:endParaRPr lang="en-US" sz="102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40080" y="5492930"/>
              <a:ext cx="1920240" cy="724989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유닛 찾기 / 타겟 전환</a:t>
              </a:r>
              <a:endParaRPr lang="en-US" sz="102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2560320" y="5492930"/>
              <a:ext cx="4663440" cy="724989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/>
                <a:t>행동 가능한 유닛이나 공격 대상을 바꾼다</a:t>
              </a:r>
              <a:r>
                <a:rPr lang="en-US" altLang="ko-KR" sz="1050" dirty="0"/>
                <a:t>.</a:t>
              </a:r>
              <a:endParaRPr lang="en-US" sz="102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223760" y="5492930"/>
              <a:ext cx="4389120" cy="724989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/>
                <a:t>원하는 대상을 다시 선택할 수 있다</a:t>
              </a:r>
              <a:r>
                <a:rPr lang="en-US" altLang="ko-KR" sz="1050" dirty="0"/>
                <a:t>.</a:t>
              </a:r>
              <a:endParaRPr lang="en-US" sz="102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468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유닛 상세 규칙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/ 병종 / 체력 / 공격 / 사정거리 / 이동 / </a:t>
            </a:r>
            <a:r>
              <a:rPr lang="ko-KR" alt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상성</a:t>
            </a:r>
            <a:endParaRPr lang="en-US" sz="14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DC2E397-D569-651B-1C2D-8B747BDBDEF1}"/>
              </a:ext>
            </a:extLst>
          </p:cNvPr>
          <p:cNvSpPr/>
          <p:nvPr/>
        </p:nvSpPr>
        <p:spPr>
          <a:xfrm>
            <a:off x="749808" y="3107757"/>
            <a:ext cx="4122981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유닛 상세 규칙 - 기본 구조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RPG 이동 및 전투 시스템 기획서 | 14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5394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</a:t>
            </a: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</a:t>
            </a:r>
            <a:r>
              <a:rPr lang="en-US" sz="17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3735806"/>
            <a:ext cx="53949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특수능력 기본 정보</a:t>
            </a:r>
            <a:endParaRPr lang="en-US" sz="1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A84194-10FC-3F97-0820-192B16C6C4DF}"/>
              </a:ext>
            </a:extLst>
          </p:cNvPr>
          <p:cNvSpPr txBox="1"/>
          <p:nvPr/>
        </p:nvSpPr>
        <p:spPr>
          <a:xfrm>
            <a:off x="530352" y="1752147"/>
            <a:ext cx="890547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en-US" sz="1500" dirty="0"/>
              <a:t>유닛은 전투 </a:t>
            </a:r>
            <a:r>
              <a:rPr lang="ko-KR" altLang="en-US" sz="1500" dirty="0" err="1"/>
              <a:t>맵에서</a:t>
            </a:r>
            <a:r>
              <a:rPr lang="ko-KR" altLang="en-US" sz="1500" dirty="0"/>
              <a:t> 이동과 전투를 진행하는 기본 단위이다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 </a:t>
            </a:r>
            <a:r>
              <a:rPr lang="ko-KR" altLang="en-US" sz="1500" dirty="0"/>
              <a:t>본 문서에서는 영웅 </a:t>
            </a:r>
            <a:r>
              <a:rPr lang="en-US" altLang="ko-KR" sz="1500" dirty="0"/>
              <a:t>1</a:t>
            </a:r>
            <a:r>
              <a:rPr lang="ko-KR" altLang="en-US" sz="1500" dirty="0"/>
              <a:t>명을 하나의 유닛으로 본다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3. </a:t>
            </a:r>
            <a:r>
              <a:rPr lang="ko-KR" altLang="en-US" sz="1500" dirty="0"/>
              <a:t>기본 유닛은 타일 </a:t>
            </a:r>
            <a:r>
              <a:rPr lang="en-US" altLang="ko-KR" sz="1500" dirty="0"/>
              <a:t>1</a:t>
            </a:r>
            <a:r>
              <a:rPr lang="ko-KR" altLang="en-US" sz="1500" dirty="0"/>
              <a:t>칸을 차지한다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4. </a:t>
            </a:r>
            <a:r>
              <a:rPr lang="ko-KR" altLang="en-US" sz="1500" dirty="0"/>
              <a:t>같은 타일에는 유닛 </a:t>
            </a:r>
            <a:r>
              <a:rPr lang="en-US" altLang="ko-KR" sz="1500" dirty="0"/>
              <a:t>1</a:t>
            </a:r>
            <a:r>
              <a:rPr lang="ko-KR" altLang="en-US" sz="1500" dirty="0"/>
              <a:t>명만 위치할 수 있다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5. </a:t>
            </a:r>
            <a:r>
              <a:rPr lang="ko-KR" altLang="en-US" sz="1500" dirty="0"/>
              <a:t>유닛은 이름</a:t>
            </a:r>
            <a:r>
              <a:rPr lang="en-US" altLang="ko-KR" sz="1500" dirty="0"/>
              <a:t>, </a:t>
            </a:r>
            <a:r>
              <a:rPr lang="ko-KR" altLang="en-US" sz="1500" dirty="0"/>
              <a:t>병종</a:t>
            </a:r>
            <a:r>
              <a:rPr lang="en-US" altLang="ko-KR" sz="1500" dirty="0"/>
              <a:t>, </a:t>
            </a:r>
            <a:r>
              <a:rPr lang="ko-KR" altLang="en-US" sz="1500" dirty="0"/>
              <a:t>체력</a:t>
            </a:r>
            <a:r>
              <a:rPr lang="en-US" altLang="ko-KR" sz="1500" dirty="0"/>
              <a:t>, </a:t>
            </a:r>
            <a:r>
              <a:rPr lang="ko-KR" altLang="en-US" sz="1500" dirty="0"/>
              <a:t>공격력</a:t>
            </a:r>
            <a:r>
              <a:rPr lang="en-US" altLang="ko-KR" sz="1500" dirty="0"/>
              <a:t>, </a:t>
            </a:r>
            <a:r>
              <a:rPr lang="ko-KR" altLang="en-US" sz="1500" dirty="0"/>
              <a:t>방어력</a:t>
            </a:r>
            <a:r>
              <a:rPr lang="en-US" altLang="ko-KR" sz="1500" dirty="0"/>
              <a:t>, </a:t>
            </a:r>
            <a:r>
              <a:rPr lang="ko-KR" altLang="en-US" sz="1500" dirty="0"/>
              <a:t>사정거리</a:t>
            </a:r>
            <a:r>
              <a:rPr lang="en-US" altLang="ko-KR" sz="1500" dirty="0"/>
              <a:t>, </a:t>
            </a:r>
            <a:r>
              <a:rPr lang="ko-KR" altLang="en-US" sz="1500" dirty="0" err="1"/>
              <a:t>이동력</a:t>
            </a:r>
            <a:r>
              <a:rPr lang="en-US" altLang="ko-KR" sz="1500" dirty="0"/>
              <a:t>, </a:t>
            </a:r>
            <a:r>
              <a:rPr lang="ko-KR" altLang="en-US" sz="1500" dirty="0"/>
              <a:t>이동타입 정보를 가진다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6. </a:t>
            </a:r>
            <a:r>
              <a:rPr lang="ko-KR" altLang="en-US" sz="1500" dirty="0"/>
              <a:t>체력이 </a:t>
            </a:r>
            <a:r>
              <a:rPr lang="en-US" altLang="ko-KR" sz="1500" dirty="0"/>
              <a:t>0</a:t>
            </a:r>
            <a:r>
              <a:rPr lang="ko-KR" altLang="en-US" sz="1500" dirty="0"/>
              <a:t>이 되면 전투 불능 상태가 되고 전투 </a:t>
            </a:r>
            <a:r>
              <a:rPr lang="ko-KR" altLang="en-US" sz="1500" dirty="0" err="1"/>
              <a:t>맵에서</a:t>
            </a:r>
            <a:r>
              <a:rPr lang="ko-KR" altLang="en-US" sz="1500" dirty="0"/>
              <a:t> 제거된다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7. </a:t>
            </a:r>
            <a:r>
              <a:rPr lang="ko-KR" altLang="en-US" sz="1500" dirty="0"/>
              <a:t>제거된 유닛은 해당 스테이지가 끝날 때까지 다시 사용할 수 없다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090EFF-204A-F478-2165-3862519B2075}"/>
              </a:ext>
            </a:extLst>
          </p:cNvPr>
          <p:cNvSpPr txBox="1"/>
          <p:nvPr/>
        </p:nvSpPr>
        <p:spPr>
          <a:xfrm>
            <a:off x="530352" y="4422748"/>
            <a:ext cx="89054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en-US" sz="1500" dirty="0"/>
              <a:t>특수능력은 유닛이 가진 고유 능력이며</a:t>
            </a:r>
            <a:r>
              <a:rPr lang="en-US" altLang="ko-KR" sz="1500" dirty="0"/>
              <a:t>, </a:t>
            </a:r>
            <a:r>
              <a:rPr lang="ko-KR" altLang="en-US" sz="1500" dirty="0"/>
              <a:t>패시브와 액티브로 구분한다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 </a:t>
            </a:r>
            <a:r>
              <a:rPr lang="ko-KR" altLang="en-US" sz="1500" dirty="0"/>
              <a:t>패시브는 조건을 만족하면 자동으로 적용된다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3. </a:t>
            </a:r>
            <a:r>
              <a:rPr lang="ko-KR" altLang="en-US" sz="1500" dirty="0"/>
              <a:t>액티브는 특수능력 게이지가 </a:t>
            </a:r>
            <a:r>
              <a:rPr lang="en-US" altLang="ko-KR" sz="1500" dirty="0"/>
              <a:t>100</a:t>
            </a:r>
            <a:r>
              <a:rPr lang="ko-KR" altLang="en-US" sz="1500" dirty="0"/>
              <a:t>일 때 사용할 수 있다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4. </a:t>
            </a:r>
            <a:r>
              <a:rPr lang="ko-KR" altLang="en-US" sz="1500" dirty="0"/>
              <a:t>게이지는 자신의 턴 시작 시 </a:t>
            </a:r>
            <a:r>
              <a:rPr lang="en-US" altLang="ko-KR" sz="1500" dirty="0"/>
              <a:t>+10, </a:t>
            </a:r>
            <a:r>
              <a:rPr lang="ko-KR" altLang="en-US" sz="1500" dirty="0"/>
              <a:t>피해를 입힐 때 </a:t>
            </a:r>
            <a:r>
              <a:rPr lang="en-US" altLang="ko-KR" sz="1500" dirty="0"/>
              <a:t>+15, </a:t>
            </a:r>
            <a:r>
              <a:rPr lang="ko-KR" altLang="en-US" sz="1500" dirty="0"/>
              <a:t>피해를 받을 때 </a:t>
            </a:r>
            <a:r>
              <a:rPr lang="en-US" altLang="ko-KR" sz="1500" dirty="0"/>
              <a:t>+10 </a:t>
            </a:r>
            <a:r>
              <a:rPr lang="ko-KR" altLang="en-US" sz="1500" dirty="0"/>
              <a:t>증가한다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5. </a:t>
            </a:r>
            <a:r>
              <a:rPr lang="ko-KR" altLang="en-US" sz="1500" dirty="0"/>
              <a:t>범위공격으로 여러 대상에게 피해를 입혀도 게이지 증가는 </a:t>
            </a:r>
            <a:r>
              <a:rPr lang="en-US" altLang="ko-KR" sz="1500" dirty="0"/>
              <a:t>1</a:t>
            </a:r>
            <a:r>
              <a:rPr lang="ko-KR" altLang="en-US" sz="1500" dirty="0"/>
              <a:t>회만 적용한다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6. </a:t>
            </a:r>
            <a:r>
              <a:rPr lang="ko-KR" altLang="en-US" sz="1500" dirty="0"/>
              <a:t>액티브 특수능력을 사용하면 게이지는 </a:t>
            </a:r>
            <a:r>
              <a:rPr lang="en-US" altLang="ko-KR" sz="1500" dirty="0"/>
              <a:t>0</a:t>
            </a:r>
            <a:r>
              <a:rPr lang="ko-KR" altLang="en-US" sz="1500" dirty="0"/>
              <a:t>으로 초기화되고</a:t>
            </a:r>
            <a:r>
              <a:rPr lang="en-US" altLang="ko-KR" sz="1500" dirty="0"/>
              <a:t>, </a:t>
            </a:r>
            <a:r>
              <a:rPr lang="ko-KR" altLang="en-US" sz="1500" dirty="0"/>
              <a:t>해당 유닛의 행동은 종료된다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9D770F-D83B-198F-A32B-64028E8CCAF4}"/>
              </a:ext>
            </a:extLst>
          </p:cNvPr>
          <p:cNvSpPr txBox="1"/>
          <p:nvPr/>
        </p:nvSpPr>
        <p:spPr>
          <a:xfrm>
            <a:off x="594360" y="73077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ko-KR" altLang="en-US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유닛찾기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유닛 상세 규칙 - 능력치 항목</a:t>
            </a:r>
            <a:endParaRPr lang="en-US" sz="25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A2161DF-2D3C-0B88-86FD-EF9E1FC1A4D9}"/>
              </a:ext>
            </a:extLst>
          </p:cNvPr>
          <p:cNvGrpSpPr/>
          <p:nvPr/>
        </p:nvGrpSpPr>
        <p:grpSpPr>
          <a:xfrm>
            <a:off x="931715" y="1111394"/>
            <a:ext cx="9840890" cy="5267632"/>
            <a:chOff x="594360" y="1207008"/>
            <a:chExt cx="11064240" cy="5563773"/>
          </a:xfrm>
        </p:grpSpPr>
        <p:sp>
          <p:nvSpPr>
            <p:cNvPr id="7" name="Text 5"/>
            <p:cNvSpPr/>
            <p:nvPr/>
          </p:nvSpPr>
          <p:spPr>
            <a:xfrm>
              <a:off x="594360" y="1207008"/>
              <a:ext cx="1920240" cy="397412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항목</a:t>
              </a:r>
              <a:endParaRPr lang="en-US" sz="8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514600" y="1207008"/>
              <a:ext cx="9144000" cy="397412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내용</a:t>
              </a:r>
              <a:endParaRPr lang="en-US" sz="8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94360" y="1604420"/>
              <a:ext cx="1920240" cy="397412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이름</a:t>
              </a:r>
              <a:endParaRPr lang="en-US" sz="8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514600" y="1604420"/>
              <a:ext cx="9144000" cy="397412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900" dirty="0"/>
                <a:t>유닛</a:t>
              </a:r>
              <a:r>
                <a:rPr lang="ko-KR" altLang="ko-KR" sz="900" dirty="0"/>
                <a:t> 이름은 한글 2~8자, 영문 2~16자까지 사용한다. </a:t>
              </a:r>
              <a:r>
                <a:rPr lang="ko-KR" altLang="en-US" sz="900" dirty="0"/>
                <a:t>유닛</a:t>
              </a:r>
              <a:r>
                <a:rPr lang="ko-KR" altLang="ko-KR" sz="900" dirty="0"/>
                <a:t> 이름은 중복 사용할 수 없고, 일반 적/몬스터 이름은 중복 가능하다.</a:t>
              </a:r>
              <a:endParaRPr lang="en-US" sz="850" b="1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94360" y="2001833"/>
              <a:ext cx="1920240" cy="397412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병종</a:t>
              </a:r>
              <a:endParaRPr lang="en-US" sz="8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514600" y="2001833"/>
              <a:ext cx="9144000" cy="397412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900" dirty="0"/>
                <a:t>유닛은 기본 병종 1개를 가</a:t>
              </a:r>
              <a:r>
                <a:rPr lang="ko-KR" altLang="en-US" sz="900" dirty="0"/>
                <a:t>지고</a:t>
              </a:r>
              <a:r>
                <a:rPr lang="en-US" altLang="ko-KR" sz="900" dirty="0"/>
                <a:t>, </a:t>
              </a:r>
              <a:r>
                <a:rPr lang="ko-KR" altLang="ko-KR" sz="900" dirty="0"/>
                <a:t>보병, 기병, </a:t>
              </a:r>
              <a:r>
                <a:rPr lang="ko-KR" altLang="ko-KR" sz="900" dirty="0" err="1"/>
                <a:t>비병</a:t>
              </a:r>
              <a:r>
                <a:rPr lang="ko-KR" altLang="ko-KR" sz="900" dirty="0"/>
                <a:t>, 수병, </a:t>
              </a:r>
              <a:r>
                <a:rPr lang="ko-KR" altLang="ko-KR" sz="900" dirty="0" err="1"/>
                <a:t>스키병</a:t>
              </a:r>
              <a:r>
                <a:rPr lang="ko-KR" altLang="ko-KR" sz="900" dirty="0"/>
                <a:t>, 조사병단을 기본 병종으로 사용한다.</a:t>
              </a:r>
              <a:endParaRPr lang="en-US" sz="8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94360" y="2399245"/>
              <a:ext cx="1920240" cy="397412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체력</a:t>
              </a:r>
              <a:endParaRPr lang="en-US" sz="8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514600" y="2399245"/>
              <a:ext cx="9144000" cy="397412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900" dirty="0"/>
                <a:t>체력은 </a:t>
              </a:r>
              <a:r>
                <a:rPr lang="en-US" altLang="ko-KR" sz="900" dirty="0"/>
                <a:t>1~5000 </a:t>
              </a:r>
              <a:r>
                <a:rPr lang="ko-KR" altLang="en-US" sz="900" dirty="0"/>
                <a:t>범위로 설정한다</a:t>
              </a:r>
              <a:r>
                <a:rPr lang="en-US" altLang="ko-KR" sz="900" dirty="0"/>
                <a:t>. </a:t>
              </a:r>
              <a:r>
                <a:rPr lang="ko-KR" altLang="en-US" sz="900" dirty="0"/>
                <a:t>일반 유닛의 기본 체력은 </a:t>
              </a:r>
              <a:r>
                <a:rPr lang="en-US" altLang="ko-KR" sz="900" dirty="0"/>
                <a:t>1000~1500 </a:t>
              </a:r>
              <a:r>
                <a:rPr lang="ko-KR" altLang="en-US" sz="900" dirty="0"/>
                <a:t>범위로 설정한다</a:t>
              </a:r>
              <a:r>
                <a:rPr lang="en-US" altLang="ko-KR" sz="900" dirty="0"/>
                <a:t>. </a:t>
              </a:r>
              <a:r>
                <a:rPr lang="ko-KR" altLang="en-US" sz="900" dirty="0"/>
                <a:t>체력이 </a:t>
              </a:r>
              <a:r>
                <a:rPr lang="en-US" altLang="ko-KR" sz="900" dirty="0"/>
                <a:t>0</a:t>
              </a:r>
              <a:r>
                <a:rPr lang="ko-KR" altLang="en-US" sz="900" dirty="0"/>
                <a:t>이 되면 전투 불능 상태가 된다</a:t>
              </a:r>
              <a:r>
                <a:rPr lang="en-US" altLang="ko-KR" sz="900" dirty="0"/>
                <a:t>.</a:t>
              </a:r>
              <a:endParaRPr lang="en-US" sz="8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94360" y="2796657"/>
              <a:ext cx="1920240" cy="397412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공격력</a:t>
              </a:r>
              <a:endParaRPr lang="en-US" sz="8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514600" y="2796657"/>
              <a:ext cx="9144000" cy="397412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900" dirty="0"/>
                <a:t>공격력은 기본 데미지 계산에 사용한다. 물리 공격은 공격력과 물리방어, 마법 공격은 공격력과 마법방어를 기준으로 계산한다.</a:t>
              </a:r>
              <a:endParaRPr lang="en-US" sz="8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94360" y="3194070"/>
              <a:ext cx="1920240" cy="397412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공격타입</a:t>
              </a:r>
              <a:endParaRPr lang="en-US" sz="8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514600" y="3194070"/>
              <a:ext cx="9144000" cy="397412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900" dirty="0"/>
                <a:t>공격타입은 물리와 마법으로 구분한다</a:t>
              </a:r>
              <a:r>
                <a:rPr lang="en-US" altLang="ko-KR" sz="900" dirty="0"/>
                <a:t>. </a:t>
              </a:r>
              <a:r>
                <a:rPr lang="ko-KR" altLang="en-US" sz="900" dirty="0"/>
                <a:t>병종 또는 유닛 설정에 따라 공격타입을 지정한다</a:t>
              </a:r>
              <a:r>
                <a:rPr lang="en-US" altLang="ko-KR" sz="900" dirty="0"/>
                <a:t>.</a:t>
              </a:r>
              <a:endParaRPr lang="en-US" sz="8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94360" y="3591482"/>
              <a:ext cx="1920240" cy="397412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사정거리</a:t>
              </a:r>
              <a:endParaRPr lang="en-US" sz="8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514600" y="3591482"/>
              <a:ext cx="9144000" cy="397412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900" dirty="0"/>
                <a:t>기본 근접 공격 사정거리는 가로/세로 1칸이다. 원거리 공격은 최소 2칸, 최대 3칸으로 설정한다. 특수능력 사정거리는 최대 5칸까지 설정할 수 있다.</a:t>
              </a:r>
              <a:endParaRPr lang="en-US" sz="8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94360" y="3988894"/>
              <a:ext cx="1920240" cy="397412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물리</a:t>
              </a:r>
              <a:r>
                <a:rPr lang="en-US" sz="85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방어력</a:t>
              </a:r>
              <a:endParaRPr lang="en-US" sz="8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2514600" y="3988894"/>
              <a:ext cx="9144000" cy="397412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900" dirty="0"/>
                <a:t>물리 공격으로 받는 데미지를 줄이는 수치이다. 물리 데미지 계산 시 공격력에서 물리방어를 차감한다.</a:t>
              </a:r>
              <a:endParaRPr lang="en-US" sz="8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94360" y="4783719"/>
              <a:ext cx="1920240" cy="397412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이동력</a:t>
              </a:r>
              <a:endParaRPr lang="en-US" sz="8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514600" y="4783719"/>
              <a:ext cx="9144000" cy="397412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900" dirty="0"/>
                <a:t>유닛이 한 턴에 이동할 수 있는 기본 범위이다. 기본 </a:t>
              </a:r>
              <a:r>
                <a:rPr lang="ko-KR" altLang="ko-KR" sz="900" dirty="0" err="1"/>
                <a:t>이동력은</a:t>
              </a:r>
              <a:r>
                <a:rPr lang="ko-KR" altLang="ko-KR" sz="900" dirty="0"/>
                <a:t> 3~6칸으로 설정한다. 실제 이동 가능 범위는 지형별 </a:t>
              </a:r>
              <a:r>
                <a:rPr lang="ko-KR" altLang="ko-KR" sz="900" dirty="0" err="1"/>
                <a:t>이동력</a:t>
              </a:r>
              <a:r>
                <a:rPr lang="ko-KR" altLang="ko-KR" sz="900" dirty="0"/>
                <a:t> 소모량을 적용해 계산한다.</a:t>
              </a:r>
              <a:endParaRPr lang="en-US" sz="8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94360" y="5181132"/>
              <a:ext cx="1920240" cy="397412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이동타입</a:t>
              </a:r>
              <a:endParaRPr lang="en-US" sz="8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2514600" y="5181132"/>
              <a:ext cx="9144000" cy="397412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900" dirty="0"/>
                <a:t>이동타입은 지상이동, 공중이동, 수상이동, 특수이동으로 구분한다. 이동타입에 따라 지형 이동 제한과 </a:t>
              </a:r>
              <a:r>
                <a:rPr lang="ko-KR" altLang="ko-KR" sz="900" dirty="0" err="1"/>
                <a:t>이동력</a:t>
              </a:r>
              <a:r>
                <a:rPr lang="ko-KR" altLang="ko-KR" sz="900" dirty="0"/>
                <a:t> 소모량이 달라진다.</a:t>
              </a:r>
              <a:endParaRPr lang="en-US" sz="8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94360" y="5578544"/>
              <a:ext cx="1920240" cy="397412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지형적응</a:t>
              </a:r>
              <a:endParaRPr lang="en-US" sz="8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2514600" y="5578544"/>
              <a:ext cx="9144000" cy="397412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900" dirty="0"/>
                <a:t>지형적응은 A~F 등급으로 구분한다. 등급에 따라 공격력, 방어력, </a:t>
              </a:r>
              <a:r>
                <a:rPr lang="ko-KR" altLang="ko-KR" sz="900" dirty="0" err="1"/>
                <a:t>회피율</a:t>
              </a:r>
              <a:r>
                <a:rPr lang="ko-KR" altLang="ko-KR" sz="900" dirty="0"/>
                <a:t> 보정이 적용된다. </a:t>
              </a:r>
              <a:r>
                <a:rPr lang="ko-KR" altLang="ko-KR" sz="900" dirty="0" err="1"/>
                <a:t>F</a:t>
              </a:r>
              <a:r>
                <a:rPr lang="ko-KR" altLang="ko-KR" sz="900" dirty="0"/>
                <a:t> 등급 지형은 진입할 수 없다.</a:t>
              </a:r>
              <a:endParaRPr lang="en-US" sz="8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94360" y="5975956"/>
              <a:ext cx="1920240" cy="397412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병종 간 상성</a:t>
              </a:r>
              <a:endParaRPr lang="en-US" sz="8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2514600" y="5975956"/>
              <a:ext cx="9144000" cy="397412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900" dirty="0"/>
                <a:t>병종 간 유리/불리 관계를 의미한다. 유리 상성으로 공격하면 데미지 보정이 적용되고, 불리 상성으로 공격하면 데미지 보정이 감소한다.</a:t>
              </a:r>
              <a:endParaRPr lang="en-US" sz="8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94360" y="6373369"/>
              <a:ext cx="1920240" cy="397412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특수능력</a:t>
              </a:r>
              <a:endParaRPr lang="en-US" sz="85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514600" y="6373369"/>
              <a:ext cx="9144000" cy="397412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900" dirty="0"/>
                <a:t>유닛마다 보유할 수 있는 고유 능력이다. 패시브와 액티브로 구분하며, 액티브는 특수능력 게이지가 100일 때 사용할 수 있다.</a:t>
              </a:r>
              <a:endParaRPr lang="en-US" sz="850" dirty="0"/>
            </a:p>
          </p:txBody>
        </p:sp>
        <p:sp>
          <p:nvSpPr>
            <p:cNvPr id="6" name="Text 19">
              <a:extLst>
                <a:ext uri="{FF2B5EF4-FFF2-40B4-BE49-F238E27FC236}">
                  <a16:creationId xmlns:a16="http://schemas.microsoft.com/office/drawing/2014/main" id="{91570AAC-683A-EED2-91B5-0C1CFFBFEF17}"/>
                </a:ext>
              </a:extLst>
            </p:cNvPr>
            <p:cNvSpPr/>
            <p:nvPr/>
          </p:nvSpPr>
          <p:spPr>
            <a:xfrm>
              <a:off x="594360" y="4386306"/>
              <a:ext cx="1920240" cy="397412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마법</a:t>
              </a:r>
              <a:r>
                <a:rPr lang="en-US" sz="85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방어력</a:t>
              </a:r>
              <a:endParaRPr lang="en-US" sz="850" dirty="0"/>
            </a:p>
          </p:txBody>
        </p:sp>
        <p:sp>
          <p:nvSpPr>
            <p:cNvPr id="33" name="Text 20">
              <a:extLst>
                <a:ext uri="{FF2B5EF4-FFF2-40B4-BE49-F238E27FC236}">
                  <a16:creationId xmlns:a16="http://schemas.microsoft.com/office/drawing/2014/main" id="{ABFE1115-49BD-47E3-9CB7-EEA957CBC9AF}"/>
                </a:ext>
              </a:extLst>
            </p:cNvPr>
            <p:cNvSpPr/>
            <p:nvPr/>
          </p:nvSpPr>
          <p:spPr>
            <a:xfrm>
              <a:off x="2514600" y="4386306"/>
              <a:ext cx="9144000" cy="397412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900" dirty="0"/>
                <a:t>마법 공격으로 받는 데미지를 줄이는 수치이다. 마법 데미지 계산 시 공격력에서 마법방어를 차감한다.</a:t>
              </a:r>
              <a:endParaRPr lang="en-US" sz="850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E478F075-9548-6DB9-0A2B-C95443CA8791}"/>
              </a:ext>
            </a:extLst>
          </p:cNvPr>
          <p:cNvSpPr txBox="1"/>
          <p:nvPr/>
        </p:nvSpPr>
        <p:spPr>
          <a:xfrm>
            <a:off x="3368290" y="6445561"/>
            <a:ext cx="54554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※ </a:t>
            </a:r>
            <a:r>
              <a:rPr lang="ko-KR" altLang="en-US" sz="1200" b="1" dirty="0"/>
              <a:t>특수능력 예시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설산 </a:t>
            </a:r>
            <a:r>
              <a:rPr lang="ko-KR" altLang="en-US" sz="1200" b="1" dirty="0" err="1"/>
              <a:t>회피율</a:t>
            </a:r>
            <a:r>
              <a:rPr lang="ko-KR" altLang="en-US" sz="1200" b="1" dirty="0"/>
              <a:t> 증가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늪지대 치명타 증가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이동 후 범위 공격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23F559-DC76-2A56-DA36-6E69ECBD4C82}"/>
              </a:ext>
            </a:extLst>
          </p:cNvPr>
          <p:cNvSpPr txBox="1"/>
          <p:nvPr/>
        </p:nvSpPr>
        <p:spPr>
          <a:xfrm>
            <a:off x="502920" y="798638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ko-KR" altLang="en-US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유닛찾기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유닛 상세 규칙 - 사정거리와 병종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30352" y="1143000"/>
            <a:ext cx="5394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사정거리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6072" y="3236976"/>
            <a:ext cx="53949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병종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6072" y="5151291"/>
            <a:ext cx="6192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</a:t>
            </a:r>
            <a:r>
              <a:rPr lang="ko-KR" alt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서로의 사정거리가 다를 경우</a:t>
            </a:r>
            <a:r>
              <a:rPr lang="en-US" altLang="ko-KR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사정거리가 긴 유닛은 반격을 받지 않고 공격할 수 있다</a:t>
            </a:r>
            <a:r>
              <a:rPr lang="en-US" altLang="ko-KR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32E84-339C-58B3-422E-81C159EFE14B}"/>
              </a:ext>
            </a:extLst>
          </p:cNvPr>
          <p:cNvSpPr txBox="1"/>
          <p:nvPr/>
        </p:nvSpPr>
        <p:spPr>
          <a:xfrm>
            <a:off x="502919" y="1688662"/>
            <a:ext cx="8159817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en-US" sz="1500" dirty="0"/>
              <a:t>사정거리는 유닛이 공격 또는 특수능력을 사용할 수 있는 거리이다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 </a:t>
            </a:r>
            <a:r>
              <a:rPr lang="ko-KR" altLang="en-US" sz="1500" dirty="0"/>
              <a:t>기본 근접 공격은 가로</a:t>
            </a:r>
            <a:r>
              <a:rPr lang="en-US" altLang="ko-KR" sz="1500" dirty="0"/>
              <a:t>/</a:t>
            </a:r>
            <a:r>
              <a:rPr lang="ko-KR" altLang="en-US" sz="1500" dirty="0"/>
              <a:t>세로 </a:t>
            </a:r>
            <a:r>
              <a:rPr lang="en-US" altLang="ko-KR" sz="1500" dirty="0"/>
              <a:t>1</a:t>
            </a:r>
            <a:r>
              <a:rPr lang="ko-KR" altLang="en-US" sz="1500" dirty="0"/>
              <a:t>칸을 기준으로 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3. </a:t>
            </a:r>
            <a:r>
              <a:rPr lang="ko-KR" altLang="en-US" sz="1500" dirty="0"/>
              <a:t>일부 병종이나 특수능력은 더 긴 사정거리를 가질 수 있다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4. </a:t>
            </a:r>
            <a:r>
              <a:rPr lang="ko-KR" altLang="en-US" sz="1500" dirty="0"/>
              <a:t>대상이 사정거리 밖에 있으면 공격 또는 특수능력을 사용할 수 없다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5. </a:t>
            </a:r>
            <a:r>
              <a:rPr lang="ko-KR" altLang="en-US" sz="1500" dirty="0"/>
              <a:t>서로의 사정거리가 다를 경우</a:t>
            </a:r>
            <a:r>
              <a:rPr lang="en-US" altLang="ko-KR" sz="1500" dirty="0"/>
              <a:t>, </a:t>
            </a:r>
            <a:r>
              <a:rPr lang="ko-KR" altLang="en-US" sz="1500" dirty="0"/>
              <a:t>사정거리가 긴 유닛이 반격을 받지 않고 공격할 수 있다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D50105-0A81-5B25-6D2C-0B3AD772AB8C}"/>
              </a:ext>
            </a:extLst>
          </p:cNvPr>
          <p:cNvSpPr txBox="1"/>
          <p:nvPr/>
        </p:nvSpPr>
        <p:spPr>
          <a:xfrm>
            <a:off x="502919" y="3803556"/>
            <a:ext cx="60970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1. 병종은 유닛의 전투 방식과 이동 방식에 영향을 주는 분류이다.</a:t>
            </a:r>
          </a:p>
          <a:p>
            <a:r>
              <a:rPr lang="ko-KR" altLang="en-US" sz="1500" dirty="0"/>
              <a:t>2. 병종에 따라 </a:t>
            </a:r>
            <a:r>
              <a:rPr lang="ko-KR" altLang="en-US" sz="1500" dirty="0" err="1"/>
              <a:t>이동력</a:t>
            </a:r>
            <a:r>
              <a:rPr lang="ko-KR" altLang="en-US" sz="1500" dirty="0"/>
              <a:t>, 사정거리, 지형적응, 상성이 달라질 수 있다.</a:t>
            </a:r>
          </a:p>
          <a:p>
            <a:r>
              <a:rPr lang="ko-KR" altLang="en-US" sz="1500" dirty="0"/>
              <a:t>3. 기본 병종은 보병, 기병, </a:t>
            </a:r>
            <a:r>
              <a:rPr lang="ko-KR" altLang="en-US" sz="1500" dirty="0" err="1"/>
              <a:t>비병</a:t>
            </a:r>
            <a:r>
              <a:rPr lang="ko-KR" altLang="en-US" sz="1500" dirty="0"/>
              <a:t>, 수병 등을 기준으로 한다.</a:t>
            </a:r>
          </a:p>
          <a:p>
            <a:r>
              <a:rPr lang="ko-KR" altLang="en-US" sz="1500" dirty="0"/>
              <a:t>4. 추가 병종은 스테이지 또는 기획 의도에 따라 확장할 수 있다.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4D340-7768-C457-5F6D-91A72280681B}"/>
              </a:ext>
            </a:extLst>
          </p:cNvPr>
          <p:cNvSpPr txBox="1"/>
          <p:nvPr/>
        </p:nvSpPr>
        <p:spPr>
          <a:xfrm>
            <a:off x="576072" y="735165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ko-KR" altLang="en-US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유닛찾기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468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지형 상세 규칙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 종류 / </a:t>
            </a:r>
            <a:r>
              <a:rPr lang="en-US" sz="1400" dirty="0" err="1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이동력</a:t>
            </a:r>
            <a:r>
              <a:rPr 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소모</a:t>
            </a:r>
            <a:r>
              <a:rPr lang="ko-KR" alt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량</a:t>
            </a:r>
            <a:r>
              <a:rPr 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400" dirty="0" err="1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sz="14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78EE35F2-ED09-67E8-BCFD-42DBA911A73C}"/>
              </a:ext>
            </a:extLst>
          </p:cNvPr>
          <p:cNvSpPr/>
          <p:nvPr/>
        </p:nvSpPr>
        <p:spPr>
          <a:xfrm>
            <a:off x="749808" y="3119789"/>
            <a:ext cx="438912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지형 상세 규칙 - 지형 종류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30352" y="1144367"/>
            <a:ext cx="5394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기본</a:t>
            </a:r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지형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0352" y="3584448"/>
            <a:ext cx="539496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en-US" sz="1700" b="1" dirty="0" err="1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추가</a:t>
            </a:r>
            <a:r>
              <a:rPr lang="en-US" sz="1700" b="1" dirty="0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지형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95AFA-EE3D-2242-5C5E-84521235C52E}"/>
              </a:ext>
            </a:extLst>
          </p:cNvPr>
          <p:cNvSpPr txBox="1"/>
          <p:nvPr/>
        </p:nvSpPr>
        <p:spPr>
          <a:xfrm>
            <a:off x="502920" y="1710430"/>
            <a:ext cx="61192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1. 기본 지형은 대부분의 스테이지에서 사용할 수 있는 일반 지형이다.</a:t>
            </a:r>
          </a:p>
          <a:p>
            <a:r>
              <a:rPr lang="ko-KR" altLang="en-US" sz="1500" dirty="0"/>
              <a:t>2. 각 지형은 유닛의 이동과 전투에 영향을 줄 수 있다.</a:t>
            </a:r>
          </a:p>
          <a:p>
            <a:r>
              <a:rPr lang="ko-KR" altLang="en-US" sz="1500" dirty="0"/>
              <a:t>3. 기본 지형은 평지, 다리, 숲, 사막, 물, 산으로 구성한다.</a:t>
            </a:r>
          </a:p>
          <a:p>
            <a:r>
              <a:rPr lang="ko-KR" altLang="en-US" sz="1500" dirty="0"/>
              <a:t>4. 지형마다 병종별 </a:t>
            </a:r>
            <a:r>
              <a:rPr lang="ko-KR" altLang="en-US" sz="1500" dirty="0" err="1"/>
              <a:t>이동력</a:t>
            </a:r>
            <a:r>
              <a:rPr lang="ko-KR" altLang="en-US" sz="1500" dirty="0"/>
              <a:t> 소모량이 다르게 적용된다.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F5CEA5-6707-25A8-3057-BE640F90372E}"/>
              </a:ext>
            </a:extLst>
          </p:cNvPr>
          <p:cNvSpPr txBox="1"/>
          <p:nvPr/>
        </p:nvSpPr>
        <p:spPr>
          <a:xfrm>
            <a:off x="502920" y="4223681"/>
            <a:ext cx="790956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1. 추가 지형은 특정 스테이지의 특징을 살리기 위해 사용하는 지형이다.</a:t>
            </a:r>
          </a:p>
          <a:p>
            <a:r>
              <a:rPr lang="ko-KR" altLang="en-US" sz="1500" dirty="0"/>
              <a:t>2. 본 문서에서는 설산과 늪지대를 추가 지형으로 설정한다.</a:t>
            </a:r>
          </a:p>
          <a:p>
            <a:r>
              <a:rPr lang="ko-KR" altLang="en-US" sz="1500" dirty="0"/>
              <a:t>3. 설산은 눈으로 인해 일부 병종의 이동이 불리한 지형이다.</a:t>
            </a:r>
          </a:p>
          <a:p>
            <a:r>
              <a:rPr lang="ko-KR" altLang="en-US" sz="1500" dirty="0"/>
              <a:t>4. 늪지대는 일반 병종이 이동하기 어렵고, 특정 병종이 유리하게 활용할 수 있는 지형이다.</a:t>
            </a:r>
          </a:p>
          <a:p>
            <a:r>
              <a:rPr lang="ko-KR" altLang="en-US" sz="1500" dirty="0"/>
              <a:t>5. 추가 지형의 효과와 수치는 밸런스 조정 과정에서 변경될 수 있다.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01E426-33F7-4BD3-9978-957F43D0F507}"/>
              </a:ext>
            </a:extLst>
          </p:cNvPr>
          <p:cNvSpPr txBox="1"/>
          <p:nvPr/>
        </p:nvSpPr>
        <p:spPr>
          <a:xfrm>
            <a:off x="502920" y="76607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이동력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소모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량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507371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지형 상세 규칙 - 이동력 소모량</a:t>
            </a:r>
            <a:endParaRPr lang="en-US" sz="2500" dirty="0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6A10653-81C9-AC04-914A-CD735C4549F0}"/>
              </a:ext>
            </a:extLst>
          </p:cNvPr>
          <p:cNvGrpSpPr/>
          <p:nvPr/>
        </p:nvGrpSpPr>
        <p:grpSpPr>
          <a:xfrm>
            <a:off x="502920" y="1528842"/>
            <a:ext cx="10972800" cy="4160520"/>
            <a:chOff x="594360" y="1097280"/>
            <a:chExt cx="10972800" cy="4160520"/>
          </a:xfrm>
        </p:grpSpPr>
        <p:sp>
          <p:nvSpPr>
            <p:cNvPr id="7" name="Text 5"/>
            <p:cNvSpPr/>
            <p:nvPr/>
          </p:nvSpPr>
          <p:spPr>
            <a:xfrm>
              <a:off x="594360" y="1097280"/>
              <a:ext cx="16459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지형</a:t>
              </a:r>
              <a:endParaRPr lang="en-US" sz="102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240280" y="1097280"/>
              <a:ext cx="14173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보병</a:t>
              </a:r>
              <a:endParaRPr lang="en-US" sz="102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657600" y="1097280"/>
              <a:ext cx="14173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기병</a:t>
              </a:r>
              <a:endParaRPr lang="en-US" sz="102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074920" y="1097280"/>
              <a:ext cx="14173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비병</a:t>
              </a:r>
              <a:endParaRPr lang="en-US" sz="102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492240" y="1097280"/>
              <a:ext cx="14173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수병</a:t>
              </a:r>
              <a:endParaRPr lang="en-US" sz="102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909560" y="1097280"/>
              <a:ext cx="1737360" cy="462280"/>
            </a:xfrm>
            <a:prstGeom prst="rect">
              <a:avLst/>
            </a:prstGeom>
            <a:solidFill>
              <a:srgbClr val="FDBA7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스키병</a:t>
              </a:r>
              <a:endParaRPr lang="en-US" sz="102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9646920" y="1097280"/>
              <a:ext cx="1920240" cy="462280"/>
            </a:xfrm>
            <a:prstGeom prst="rect">
              <a:avLst/>
            </a:prstGeom>
            <a:solidFill>
              <a:srgbClr val="FDBA7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조사병단</a:t>
              </a:r>
              <a:endParaRPr lang="en-US" sz="102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94360" y="1559560"/>
              <a:ext cx="16459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평지</a:t>
              </a:r>
              <a:endParaRPr lang="en-US" sz="102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240280" y="155956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657600" y="155956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074920" y="155956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492240" y="155956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02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909560" y="1559560"/>
              <a:ext cx="173736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02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9646920" y="1559560"/>
              <a:ext cx="192024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94360" y="2021840"/>
              <a:ext cx="16459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다리</a:t>
              </a:r>
              <a:endParaRPr lang="en-US" sz="102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2240280" y="202184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3657600" y="202184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074920" y="202184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492240" y="202184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02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909560" y="2021840"/>
              <a:ext cx="173736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02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9646920" y="2021840"/>
              <a:ext cx="192024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94360" y="2484120"/>
              <a:ext cx="16459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숲</a:t>
              </a:r>
              <a:endParaRPr lang="en-US" sz="102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2240280" y="248412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657600" y="248412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02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074920" y="248412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6492240" y="248412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</a:t>
              </a:r>
              <a:endParaRPr lang="en-US" sz="102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7909560" y="2484120"/>
              <a:ext cx="173736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</a:t>
              </a:r>
              <a:endParaRPr lang="en-US" sz="102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9646920" y="2484120"/>
              <a:ext cx="192024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594360" y="2946400"/>
              <a:ext cx="16459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사막</a:t>
              </a:r>
              <a:endParaRPr lang="en-US" sz="102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2240280" y="294640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02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3657600" y="294640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5074920" y="294640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6492240" y="294640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</a:t>
              </a:r>
              <a:endParaRPr lang="en-US" sz="102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7909560" y="2946400"/>
              <a:ext cx="173736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02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9646920" y="2946400"/>
              <a:ext cx="192024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02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594360" y="3408680"/>
              <a:ext cx="16459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물</a:t>
              </a:r>
              <a:endParaRPr lang="en-US" sz="102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2240280" y="340868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02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3657600" y="340868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</a:t>
              </a:r>
              <a:endParaRPr lang="en-US" sz="102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5074920" y="340868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6492240" y="340868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7909560" y="3408680"/>
              <a:ext cx="173736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-1</a:t>
              </a:r>
              <a:endParaRPr lang="en-US" sz="102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9646920" y="3408680"/>
              <a:ext cx="192024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02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594360" y="3870960"/>
              <a:ext cx="16459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산</a:t>
              </a:r>
              <a:endParaRPr lang="en-US" sz="102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2240280" y="387096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-1</a:t>
              </a:r>
              <a:endParaRPr lang="en-US" sz="102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3657600" y="387096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-1</a:t>
              </a:r>
              <a:endParaRPr lang="en-US" sz="102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5074920" y="387096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6492240" y="387096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-1</a:t>
              </a:r>
              <a:endParaRPr lang="en-US" sz="102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7909560" y="3870960"/>
              <a:ext cx="173736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-1</a:t>
              </a:r>
              <a:endParaRPr lang="en-US" sz="102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9646920" y="3870960"/>
              <a:ext cx="192024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594360" y="4333240"/>
              <a:ext cx="16459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설산</a:t>
              </a:r>
              <a:endParaRPr lang="en-US" sz="102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2240280" y="433324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02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3657600" y="433324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</a:t>
              </a:r>
              <a:endParaRPr lang="en-US" sz="102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5074920" y="433324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6492240" y="433324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02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7909560" y="4333240"/>
              <a:ext cx="173736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9646920" y="4333240"/>
              <a:ext cx="192024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594360" y="4795520"/>
              <a:ext cx="16459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늪지대</a:t>
              </a:r>
              <a:endParaRPr lang="en-US" sz="102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2240280" y="479552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-1</a:t>
              </a:r>
              <a:endParaRPr lang="en-US" sz="102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3657600" y="479552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-1</a:t>
              </a:r>
              <a:endParaRPr lang="en-US" sz="102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5074920" y="479552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6492240" y="479552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-1</a:t>
              </a:r>
              <a:endParaRPr lang="en-US" sz="102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7909560" y="4795520"/>
              <a:ext cx="173736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-1</a:t>
              </a:r>
              <a:endParaRPr lang="en-US" sz="102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9646920" y="4795520"/>
              <a:ext cx="192024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020" dirty="0"/>
            </a:p>
          </p:txBody>
        </p:sp>
      </p:grpSp>
      <p:sp>
        <p:nvSpPr>
          <p:cNvPr id="70" name="Text 68"/>
          <p:cNvSpPr/>
          <p:nvPr/>
        </p:nvSpPr>
        <p:spPr>
          <a:xfrm>
            <a:off x="655320" y="587732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-1은 이동 불가를 의미한다. 위 수치는 초기 기획 기준이며, 밸런스 조정 과정에서 변경될 수 </a:t>
            </a:r>
            <a:r>
              <a:rPr lang="en-US" sz="1100" b="1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</a:t>
            </a: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100" dirty="0"/>
              <a:t> </a:t>
            </a:r>
            <a:endParaRPr lang="en-U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42E16E7F-0234-1697-04F1-84D706798425}"/>
              </a:ext>
            </a:extLst>
          </p:cNvPr>
          <p:cNvSpPr/>
          <p:nvPr/>
        </p:nvSpPr>
        <p:spPr>
          <a:xfrm>
            <a:off x="530353" y="1054100"/>
            <a:ext cx="4453128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ko-KR" altLang="en-US" sz="1000" b="1" dirty="0">
                <a:solidFill>
                  <a:schemeClr val="accent1"/>
                </a:solidFill>
              </a:rPr>
              <a:t> </a:t>
            </a:r>
            <a:r>
              <a:rPr lang="ko-KR" altLang="en-US" sz="1000" b="1" dirty="0" err="1">
                <a:solidFill>
                  <a:schemeClr val="accent1"/>
                </a:solidFill>
              </a:rPr>
              <a:t>이동력</a:t>
            </a:r>
            <a:r>
              <a:rPr lang="ko-KR" altLang="en-US" sz="1000" b="1" dirty="0">
                <a:solidFill>
                  <a:schemeClr val="accent1"/>
                </a:solidFill>
              </a:rPr>
              <a:t> 소모량은 유닛이 특정 지형을 지나갈 때 소비하는 </a:t>
            </a:r>
            <a:r>
              <a:rPr lang="ko-KR" altLang="en-US" sz="1000" b="1" dirty="0" err="1">
                <a:solidFill>
                  <a:schemeClr val="accent1"/>
                </a:solidFill>
              </a:rPr>
              <a:t>이동력</a:t>
            </a:r>
            <a:r>
              <a:rPr lang="ko-KR" altLang="en-US" sz="1000" b="1" dirty="0">
                <a:solidFill>
                  <a:schemeClr val="accent1"/>
                </a:solidFill>
              </a:rPr>
              <a:t> 수치이다</a:t>
            </a:r>
            <a:r>
              <a:rPr lang="en-US" altLang="ko-KR" sz="1000" b="1" dirty="0">
                <a:solidFill>
                  <a:schemeClr val="accent1"/>
                </a:solidFill>
              </a:rPr>
              <a:t>.</a:t>
            </a:r>
            <a:endParaRPr lang="ko-KR" altLang="en-US" sz="1000" b="1" dirty="0">
              <a:solidFill>
                <a:schemeClr val="accent1"/>
              </a:solidFill>
            </a:endParaRPr>
          </a:p>
          <a:p>
            <a:r>
              <a:rPr lang="ko-KR" altLang="en-US" sz="1000" b="1" dirty="0">
                <a:solidFill>
                  <a:schemeClr val="accent1"/>
                </a:solidFill>
              </a:rPr>
              <a:t> 숫자가 낮을수록 이동하기 쉽고</a:t>
            </a:r>
            <a:r>
              <a:rPr lang="en-US" altLang="ko-KR" sz="1000" b="1" dirty="0">
                <a:solidFill>
                  <a:schemeClr val="accent1"/>
                </a:solidFill>
              </a:rPr>
              <a:t>, </a:t>
            </a:r>
            <a:r>
              <a:rPr lang="ko-KR" altLang="en-US" sz="1000" b="1" dirty="0">
                <a:solidFill>
                  <a:schemeClr val="accent1"/>
                </a:solidFill>
              </a:rPr>
              <a:t>숫자가 높을수록 이동하기 어렵다</a:t>
            </a:r>
            <a:r>
              <a:rPr lang="en-US" altLang="ko-KR" sz="1000" b="1" dirty="0">
                <a:solidFill>
                  <a:schemeClr val="accent1"/>
                </a:solidFill>
              </a:rPr>
              <a:t>.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E0948-DF2A-2051-E50C-1C8150B1BBE1}"/>
              </a:ext>
            </a:extLst>
          </p:cNvPr>
          <p:cNvSpPr txBox="1"/>
          <p:nvPr/>
        </p:nvSpPr>
        <p:spPr>
          <a:xfrm>
            <a:off x="502920" y="73152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이동력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소모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량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지형 상세 규칙 - 지형효과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3566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적용</a:t>
            </a:r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기준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2725751"/>
            <a:ext cx="35661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지형</a:t>
            </a:r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효과</a:t>
            </a:r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예시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4463623"/>
            <a:ext cx="356616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en-US" sz="1700" b="1" err="1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지형</a:t>
            </a:r>
            <a:r>
              <a:rPr lang="en-US" sz="1700" b="1" dirty="0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700" b="1" err="1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적응력</a:t>
            </a:r>
            <a:endParaRPr lang="en-US" sz="1700">
              <a:latin typeface="Malgun Gothic"/>
              <a:ea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4F89E8-C5F6-D7D6-1FF8-9DE50C69CD58}"/>
              </a:ext>
            </a:extLst>
          </p:cNvPr>
          <p:cNvSpPr txBox="1"/>
          <p:nvPr/>
        </p:nvSpPr>
        <p:spPr>
          <a:xfrm>
            <a:off x="594360" y="1618568"/>
            <a:ext cx="75031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1. 지형효과는 유닛이 현재 위치한 타일을 기준으로 적용한다.</a:t>
            </a:r>
          </a:p>
          <a:p>
            <a:r>
              <a:rPr lang="ko-KR" altLang="en-US" sz="1500" dirty="0"/>
              <a:t>2. 유닛이 지형효과가 있는 타일에 위치하면 전투 보정을 받을 수 있다.</a:t>
            </a:r>
          </a:p>
          <a:p>
            <a:r>
              <a:rPr lang="en-US" altLang="ko-KR" sz="1500" dirty="0"/>
              <a:t>3. </a:t>
            </a:r>
            <a:r>
              <a:rPr lang="ko-KR" altLang="en-US" sz="1500" dirty="0"/>
              <a:t>지형효과는 방어력</a:t>
            </a:r>
            <a:r>
              <a:rPr lang="en-US" altLang="ko-KR" sz="1500" dirty="0"/>
              <a:t>, </a:t>
            </a:r>
            <a:r>
              <a:rPr lang="ko-KR" altLang="en-US" sz="1500" dirty="0" err="1"/>
              <a:t>회피율</a:t>
            </a:r>
            <a:r>
              <a:rPr lang="en-US" altLang="ko-KR" sz="1500" dirty="0"/>
              <a:t>, </a:t>
            </a:r>
            <a:r>
              <a:rPr lang="ko-KR" altLang="en-US" sz="1500" dirty="0"/>
              <a:t>이동 보정</a:t>
            </a:r>
            <a:r>
              <a:rPr lang="en-US" altLang="ko-KR" sz="1500" dirty="0"/>
              <a:t>, </a:t>
            </a:r>
            <a:r>
              <a:rPr lang="ko-KR" altLang="en-US" sz="1500" dirty="0"/>
              <a:t>특수능력 발동 등에 영향을 줄 수 있다</a:t>
            </a:r>
            <a:r>
              <a:rPr lang="en-US" altLang="ko-KR" sz="1500" dirty="0"/>
              <a:t>.</a:t>
            </a:r>
            <a:br>
              <a:rPr lang="en-US" altLang="ko-KR" sz="1500" dirty="0"/>
            </a:br>
            <a:r>
              <a:rPr lang="ko-KR" altLang="en-US" sz="1500" dirty="0"/>
              <a:t>4. 같은 지형이라도 병종 또는 지형적응에 따라 효과가 다르게 적용될 수 있다.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4F6EFB-74B6-8F3A-A70C-9C8E19A04281}"/>
              </a:ext>
            </a:extLst>
          </p:cNvPr>
          <p:cNvSpPr txBox="1"/>
          <p:nvPr/>
        </p:nvSpPr>
        <p:spPr>
          <a:xfrm>
            <a:off x="530352" y="3163463"/>
            <a:ext cx="716631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1. 숲 : 방어력 보정이 적용될 수 있으며, 기병은 이동이 불리하다.</a:t>
            </a:r>
          </a:p>
          <a:p>
            <a:r>
              <a:rPr lang="ko-KR" altLang="en-US" sz="1500" dirty="0"/>
              <a:t>2. 산 : 일반 병종은 진입이 제한될 수 있고, </a:t>
            </a:r>
            <a:r>
              <a:rPr lang="ko-KR" altLang="en-US" sz="1500" dirty="0" err="1"/>
              <a:t>비병은</a:t>
            </a:r>
            <a:r>
              <a:rPr lang="ko-KR" altLang="en-US" sz="1500" dirty="0"/>
              <a:t> 이동이 가능하다.</a:t>
            </a:r>
          </a:p>
          <a:p>
            <a:r>
              <a:rPr lang="ko-KR" altLang="en-US" sz="1500" dirty="0"/>
              <a:t>3. 물 : 수병 또는 특수 병종에게 유리하게 작동할 수 있다.</a:t>
            </a:r>
          </a:p>
          <a:p>
            <a:r>
              <a:rPr lang="ko-KR" altLang="en-US" sz="1500" dirty="0"/>
              <a:t>4. 설산 : 스키병에게 유리하며, 일반 병종은 이동이 불리하다.</a:t>
            </a:r>
          </a:p>
          <a:p>
            <a:r>
              <a:rPr lang="ko-KR" altLang="en-US" sz="1500" dirty="0"/>
              <a:t>5. 늪지대 : 조사병단에게 유리하며, 일반 병종은 이동이 제한될 수 있다.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303D2C-DBE2-421E-A369-FA6ACAC69727}"/>
              </a:ext>
            </a:extLst>
          </p:cNvPr>
          <p:cNvGrpSpPr/>
          <p:nvPr/>
        </p:nvGrpSpPr>
        <p:grpSpPr>
          <a:xfrm>
            <a:off x="594360" y="4939190"/>
            <a:ext cx="4646243" cy="1763362"/>
            <a:chOff x="6720840" y="2894234"/>
            <a:chExt cx="4480560" cy="3235960"/>
          </a:xfrm>
        </p:grpSpPr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D8D56CCC-8AA8-441D-A01A-D0D81D37CAC4}"/>
                </a:ext>
              </a:extLst>
            </p:cNvPr>
            <p:cNvSpPr/>
            <p:nvPr/>
          </p:nvSpPr>
          <p:spPr>
            <a:xfrm>
              <a:off x="6720840" y="2894234"/>
              <a:ext cx="16459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병종</a:t>
              </a:r>
              <a:endParaRPr lang="en-US" sz="1020" dirty="0"/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9D3256A5-6E5F-427F-8D44-F782E4BF8B35}"/>
                </a:ext>
              </a:extLst>
            </p:cNvPr>
            <p:cNvSpPr/>
            <p:nvPr/>
          </p:nvSpPr>
          <p:spPr>
            <a:xfrm>
              <a:off x="8366760" y="2894234"/>
              <a:ext cx="14173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유리한 지형</a:t>
              </a:r>
              <a:endParaRPr lang="en-US" sz="1020" dirty="0"/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695DCB4A-ABB4-457A-889D-001ABBE099B4}"/>
                </a:ext>
              </a:extLst>
            </p:cNvPr>
            <p:cNvSpPr/>
            <p:nvPr/>
          </p:nvSpPr>
          <p:spPr>
            <a:xfrm>
              <a:off x="9784080" y="2894234"/>
              <a:ext cx="14173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불리한 지형</a:t>
              </a:r>
              <a:endParaRPr lang="en-US" sz="1020" dirty="0"/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947A0243-64D6-4892-886D-FDAD8835AFF4}"/>
                </a:ext>
              </a:extLst>
            </p:cNvPr>
            <p:cNvSpPr/>
            <p:nvPr/>
          </p:nvSpPr>
          <p:spPr>
            <a:xfrm>
              <a:off x="6720840" y="3356514"/>
              <a:ext cx="16459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보병</a:t>
              </a:r>
              <a:endParaRPr lang="en-US" sz="1020" dirty="0"/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3ACE0F7D-98FA-4453-B258-13A342D4A9B4}"/>
                </a:ext>
              </a:extLst>
            </p:cNvPr>
            <p:cNvSpPr/>
            <p:nvPr/>
          </p:nvSpPr>
          <p:spPr>
            <a:xfrm>
              <a:off x="8366760" y="3356514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평지</a:t>
              </a:r>
              <a:r>
                <a:rPr lang="en-US" altLang="ko-KR" sz="1020" dirty="0"/>
                <a:t>, </a:t>
              </a:r>
              <a:r>
                <a:rPr lang="ko-KR" altLang="en-US" sz="1020" dirty="0"/>
                <a:t>숲</a:t>
              </a:r>
              <a:endParaRPr lang="en-US" sz="1020" dirty="0"/>
            </a:p>
          </p:txBody>
        </p:sp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C0FCF50B-0BC1-4901-B536-6CF43C5A9BBE}"/>
                </a:ext>
              </a:extLst>
            </p:cNvPr>
            <p:cNvSpPr/>
            <p:nvPr/>
          </p:nvSpPr>
          <p:spPr>
            <a:xfrm>
              <a:off x="9784080" y="3356514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산</a:t>
              </a:r>
              <a:r>
                <a:rPr lang="en-US" altLang="ko-KR" sz="1020" dirty="0"/>
                <a:t>, </a:t>
              </a:r>
              <a:r>
                <a:rPr lang="ko-KR" altLang="en-US" sz="1020" dirty="0"/>
                <a:t>늪지대</a:t>
              </a:r>
              <a:endParaRPr lang="en-US" sz="102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841EA4D0-BB54-4751-A706-E446702749B8}"/>
                </a:ext>
              </a:extLst>
            </p:cNvPr>
            <p:cNvSpPr/>
            <p:nvPr/>
          </p:nvSpPr>
          <p:spPr>
            <a:xfrm>
              <a:off x="6720840" y="3818794"/>
              <a:ext cx="16459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기병</a:t>
              </a:r>
              <a:endParaRPr lang="en-US" sz="1020" dirty="0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294526FA-F22E-4469-BC4D-60A0624B684D}"/>
                </a:ext>
              </a:extLst>
            </p:cNvPr>
            <p:cNvSpPr/>
            <p:nvPr/>
          </p:nvSpPr>
          <p:spPr>
            <a:xfrm>
              <a:off x="8366760" y="3818794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평지</a:t>
              </a:r>
              <a:r>
                <a:rPr lang="en-US" altLang="ko-KR" sz="1020" dirty="0"/>
                <a:t>, </a:t>
              </a:r>
              <a:r>
                <a:rPr lang="ko-KR" altLang="en-US" sz="1020" dirty="0"/>
                <a:t>사막</a:t>
              </a:r>
              <a:endParaRPr lang="en-US" sz="102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9657EE72-DBCA-4824-BFBC-01BF3CE47FB7}"/>
                </a:ext>
              </a:extLst>
            </p:cNvPr>
            <p:cNvSpPr/>
            <p:nvPr/>
          </p:nvSpPr>
          <p:spPr>
            <a:xfrm>
              <a:off x="9784080" y="3818794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숲</a:t>
              </a:r>
              <a:r>
                <a:rPr lang="en-US" altLang="ko-KR" sz="1020" dirty="0"/>
                <a:t>, </a:t>
              </a:r>
              <a:r>
                <a:rPr lang="ko-KR" altLang="en-US" sz="1020" dirty="0"/>
                <a:t>산</a:t>
              </a:r>
              <a:r>
                <a:rPr lang="en-US" altLang="ko-KR" sz="1020" dirty="0"/>
                <a:t>, </a:t>
              </a:r>
              <a:r>
                <a:rPr lang="ko-KR" altLang="en-US" sz="1020" dirty="0" err="1"/>
                <a:t>눞지대</a:t>
              </a:r>
              <a:endParaRPr lang="en-US" sz="1020" dirty="0"/>
            </a:p>
          </p:txBody>
        </p:sp>
        <p:sp>
          <p:nvSpPr>
            <p:cNvPr id="23" name="Text 26">
              <a:extLst>
                <a:ext uri="{FF2B5EF4-FFF2-40B4-BE49-F238E27FC236}">
                  <a16:creationId xmlns:a16="http://schemas.microsoft.com/office/drawing/2014/main" id="{F5157846-6A66-42F9-BF7E-91F15001B069}"/>
                </a:ext>
              </a:extLst>
            </p:cNvPr>
            <p:cNvSpPr/>
            <p:nvPr/>
          </p:nvSpPr>
          <p:spPr>
            <a:xfrm>
              <a:off x="6720840" y="4281074"/>
              <a:ext cx="16459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 err="1"/>
                <a:t>비병</a:t>
              </a:r>
              <a:endParaRPr lang="en-US" sz="1020" dirty="0"/>
            </a:p>
          </p:txBody>
        </p:sp>
        <p:sp>
          <p:nvSpPr>
            <p:cNvPr id="24" name="Text 27">
              <a:extLst>
                <a:ext uri="{FF2B5EF4-FFF2-40B4-BE49-F238E27FC236}">
                  <a16:creationId xmlns:a16="http://schemas.microsoft.com/office/drawing/2014/main" id="{7F79BB0C-F743-49A3-9EFA-DE761FFAD814}"/>
                </a:ext>
              </a:extLst>
            </p:cNvPr>
            <p:cNvSpPr/>
            <p:nvPr/>
          </p:nvSpPr>
          <p:spPr>
            <a:xfrm>
              <a:off x="8366760" y="4281074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산</a:t>
              </a:r>
              <a:r>
                <a:rPr lang="en-US" altLang="ko-KR" sz="1020" dirty="0"/>
                <a:t>, </a:t>
              </a:r>
              <a:r>
                <a:rPr lang="ko-KR" altLang="en-US" sz="1020" dirty="0"/>
                <a:t>물</a:t>
              </a:r>
              <a:endParaRPr lang="en-US" sz="1020" dirty="0"/>
            </a:p>
          </p:txBody>
        </p:sp>
        <p:sp>
          <p:nvSpPr>
            <p:cNvPr id="25" name="Text 28">
              <a:extLst>
                <a:ext uri="{FF2B5EF4-FFF2-40B4-BE49-F238E27FC236}">
                  <a16:creationId xmlns:a16="http://schemas.microsoft.com/office/drawing/2014/main" id="{FEAD1D44-0386-475A-B376-514695E0BB2E}"/>
                </a:ext>
              </a:extLst>
            </p:cNvPr>
            <p:cNvSpPr/>
            <p:nvPr/>
          </p:nvSpPr>
          <p:spPr>
            <a:xfrm>
              <a:off x="9784080" y="4281074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없음</a:t>
              </a:r>
              <a:endParaRPr lang="en-US" sz="1020" dirty="0"/>
            </a:p>
          </p:txBody>
        </p:sp>
        <p:sp>
          <p:nvSpPr>
            <p:cNvPr id="26" name="Text 33">
              <a:extLst>
                <a:ext uri="{FF2B5EF4-FFF2-40B4-BE49-F238E27FC236}">
                  <a16:creationId xmlns:a16="http://schemas.microsoft.com/office/drawing/2014/main" id="{F8630770-6C4E-4DB7-B487-42A113EDBA29}"/>
                </a:ext>
              </a:extLst>
            </p:cNvPr>
            <p:cNvSpPr/>
            <p:nvPr/>
          </p:nvSpPr>
          <p:spPr>
            <a:xfrm>
              <a:off x="6720840" y="4743354"/>
              <a:ext cx="16459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수병</a:t>
              </a:r>
              <a:endParaRPr lang="en-US" sz="1020" dirty="0"/>
            </a:p>
          </p:txBody>
        </p:sp>
        <p:sp>
          <p:nvSpPr>
            <p:cNvPr id="27" name="Text 34">
              <a:extLst>
                <a:ext uri="{FF2B5EF4-FFF2-40B4-BE49-F238E27FC236}">
                  <a16:creationId xmlns:a16="http://schemas.microsoft.com/office/drawing/2014/main" id="{5C3DBC19-8942-4509-8A5E-78802D48F201}"/>
                </a:ext>
              </a:extLst>
            </p:cNvPr>
            <p:cNvSpPr/>
            <p:nvPr/>
          </p:nvSpPr>
          <p:spPr>
            <a:xfrm>
              <a:off x="8366760" y="4743354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물</a:t>
              </a:r>
              <a:endParaRPr lang="en-US" sz="1020" dirty="0"/>
            </a:p>
          </p:txBody>
        </p:sp>
        <p:sp>
          <p:nvSpPr>
            <p:cNvPr id="28" name="Text 35">
              <a:extLst>
                <a:ext uri="{FF2B5EF4-FFF2-40B4-BE49-F238E27FC236}">
                  <a16:creationId xmlns:a16="http://schemas.microsoft.com/office/drawing/2014/main" id="{7A88637D-9C66-41D6-9420-09C9AECA3CE4}"/>
                </a:ext>
              </a:extLst>
            </p:cNvPr>
            <p:cNvSpPr/>
            <p:nvPr/>
          </p:nvSpPr>
          <p:spPr>
            <a:xfrm>
              <a:off x="9784080" y="4743354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산</a:t>
              </a:r>
              <a:r>
                <a:rPr lang="en-US" altLang="ko-KR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늪지대</a:t>
              </a:r>
              <a:endParaRPr lang="en-US" sz="1020" dirty="0"/>
            </a:p>
          </p:txBody>
        </p:sp>
        <p:sp>
          <p:nvSpPr>
            <p:cNvPr id="29" name="Text 40">
              <a:extLst>
                <a:ext uri="{FF2B5EF4-FFF2-40B4-BE49-F238E27FC236}">
                  <a16:creationId xmlns:a16="http://schemas.microsoft.com/office/drawing/2014/main" id="{89FEA00B-99B4-427A-ABF4-970FC322044E}"/>
                </a:ext>
              </a:extLst>
            </p:cNvPr>
            <p:cNvSpPr/>
            <p:nvPr/>
          </p:nvSpPr>
          <p:spPr>
            <a:xfrm>
              <a:off x="6720840" y="5205634"/>
              <a:ext cx="16459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 err="1"/>
                <a:t>스키병</a:t>
              </a:r>
              <a:endParaRPr lang="en-US" sz="1020" dirty="0"/>
            </a:p>
          </p:txBody>
        </p:sp>
        <p:sp>
          <p:nvSpPr>
            <p:cNvPr id="30" name="Text 41">
              <a:extLst>
                <a:ext uri="{FF2B5EF4-FFF2-40B4-BE49-F238E27FC236}">
                  <a16:creationId xmlns:a16="http://schemas.microsoft.com/office/drawing/2014/main" id="{3F3C9A38-F66D-42C7-AD5E-BCC4C3FE99CC}"/>
                </a:ext>
              </a:extLst>
            </p:cNvPr>
            <p:cNvSpPr/>
            <p:nvPr/>
          </p:nvSpPr>
          <p:spPr>
            <a:xfrm>
              <a:off x="8366760" y="5205634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설산</a:t>
              </a:r>
              <a:endParaRPr lang="en-US" sz="1020" dirty="0"/>
            </a:p>
          </p:txBody>
        </p:sp>
        <p:sp>
          <p:nvSpPr>
            <p:cNvPr id="31" name="Text 42">
              <a:extLst>
                <a:ext uri="{FF2B5EF4-FFF2-40B4-BE49-F238E27FC236}">
                  <a16:creationId xmlns:a16="http://schemas.microsoft.com/office/drawing/2014/main" id="{0564AFC6-4780-4CA7-BF46-5DB06BBE4FDC}"/>
                </a:ext>
              </a:extLst>
            </p:cNvPr>
            <p:cNvSpPr/>
            <p:nvPr/>
          </p:nvSpPr>
          <p:spPr>
            <a:xfrm>
              <a:off x="9784080" y="5205634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물</a:t>
              </a:r>
              <a:r>
                <a:rPr lang="en-US" altLang="ko-KR" sz="1020" dirty="0"/>
                <a:t>, </a:t>
              </a:r>
              <a:r>
                <a:rPr lang="ko-KR" altLang="en-US" sz="1020" dirty="0"/>
                <a:t>늪지대</a:t>
              </a:r>
              <a:endParaRPr lang="en-US" sz="1020" dirty="0"/>
            </a:p>
          </p:txBody>
        </p:sp>
        <p:sp>
          <p:nvSpPr>
            <p:cNvPr id="32" name="Text 47">
              <a:extLst>
                <a:ext uri="{FF2B5EF4-FFF2-40B4-BE49-F238E27FC236}">
                  <a16:creationId xmlns:a16="http://schemas.microsoft.com/office/drawing/2014/main" id="{95AE89E6-68DA-4C93-8B6A-B2F2750C1594}"/>
                </a:ext>
              </a:extLst>
            </p:cNvPr>
            <p:cNvSpPr/>
            <p:nvPr/>
          </p:nvSpPr>
          <p:spPr>
            <a:xfrm>
              <a:off x="6720840" y="5667914"/>
              <a:ext cx="16459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조사병단</a:t>
              </a:r>
              <a:endParaRPr lang="en-US" sz="1020" dirty="0"/>
            </a:p>
          </p:txBody>
        </p:sp>
        <p:sp>
          <p:nvSpPr>
            <p:cNvPr id="33" name="Text 48">
              <a:extLst>
                <a:ext uri="{FF2B5EF4-FFF2-40B4-BE49-F238E27FC236}">
                  <a16:creationId xmlns:a16="http://schemas.microsoft.com/office/drawing/2014/main" id="{311CA0A5-4CCC-45BE-B61A-9DE2EEDDFCCC}"/>
                </a:ext>
              </a:extLst>
            </p:cNvPr>
            <p:cNvSpPr/>
            <p:nvPr/>
          </p:nvSpPr>
          <p:spPr>
            <a:xfrm>
              <a:off x="8366760" y="5667914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숲</a:t>
              </a:r>
              <a:r>
                <a:rPr lang="en-US" altLang="ko-KR" sz="1020" dirty="0"/>
                <a:t>, </a:t>
              </a:r>
              <a:r>
                <a:rPr lang="ko-KR" altLang="en-US" sz="1020" dirty="0"/>
                <a:t>산</a:t>
              </a:r>
              <a:r>
                <a:rPr lang="en-US" altLang="ko-KR" sz="1020" dirty="0"/>
                <a:t>, </a:t>
              </a:r>
              <a:r>
                <a:rPr lang="ko-KR" altLang="en-US" sz="1020" dirty="0"/>
                <a:t>늪지대</a:t>
              </a:r>
              <a:endParaRPr lang="en-US" sz="1020" dirty="0"/>
            </a:p>
          </p:txBody>
        </p:sp>
        <p:sp>
          <p:nvSpPr>
            <p:cNvPr id="34" name="Text 49">
              <a:extLst>
                <a:ext uri="{FF2B5EF4-FFF2-40B4-BE49-F238E27FC236}">
                  <a16:creationId xmlns:a16="http://schemas.microsoft.com/office/drawing/2014/main" id="{284CE483-BB82-4D45-84A3-78FB4B7155FA}"/>
                </a:ext>
              </a:extLst>
            </p:cNvPr>
            <p:cNvSpPr/>
            <p:nvPr/>
          </p:nvSpPr>
          <p:spPr>
            <a:xfrm>
              <a:off x="9784080" y="5667914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물</a:t>
              </a:r>
              <a:endParaRPr lang="en-US" sz="1020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059836A-C9A1-C7E5-4BAF-9E989C324B7C}"/>
              </a:ext>
            </a:extLst>
          </p:cNvPr>
          <p:cNvSpPr txBox="1"/>
          <p:nvPr/>
        </p:nvSpPr>
        <p:spPr>
          <a:xfrm>
            <a:off x="530352" y="75773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이동력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소모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량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F1F2F-F982-DBF2-D6C3-25A1BEB6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3D42EFD-BFCC-4BCE-89E5-F2236C9EC24A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지형 상세 </a:t>
            </a:r>
            <a:r>
              <a:rPr lang="en-US" sz="25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– </a:t>
            </a:r>
            <a:r>
              <a:rPr lang="en-US" sz="25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적응력</a:t>
            </a:r>
            <a:endParaRPr lang="en-US" sz="2500" dirty="0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B2E21BA8-AC42-414A-8E44-6A4FA706DE76}"/>
              </a:ext>
            </a:extLst>
          </p:cNvPr>
          <p:cNvGrpSpPr/>
          <p:nvPr/>
        </p:nvGrpSpPr>
        <p:grpSpPr>
          <a:xfrm>
            <a:off x="466568" y="1305656"/>
            <a:ext cx="11399856" cy="4513715"/>
            <a:chOff x="6720840" y="2895057"/>
            <a:chExt cx="11580109" cy="3235137"/>
          </a:xfrm>
        </p:grpSpPr>
        <p:sp>
          <p:nvSpPr>
            <p:cNvPr id="72" name="Text 5">
              <a:extLst>
                <a:ext uri="{FF2B5EF4-FFF2-40B4-BE49-F238E27FC236}">
                  <a16:creationId xmlns:a16="http://schemas.microsoft.com/office/drawing/2014/main" id="{22623BF9-7C4E-400B-9674-FDB94A2F941C}"/>
                </a:ext>
              </a:extLst>
            </p:cNvPr>
            <p:cNvSpPr/>
            <p:nvPr/>
          </p:nvSpPr>
          <p:spPr>
            <a:xfrm>
              <a:off x="6720840" y="2895879"/>
              <a:ext cx="16459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병종</a:t>
              </a:r>
              <a:endParaRPr lang="en-US" sz="1020" dirty="0"/>
            </a:p>
          </p:txBody>
        </p:sp>
        <p:sp>
          <p:nvSpPr>
            <p:cNvPr id="73" name="Text 6">
              <a:extLst>
                <a:ext uri="{FF2B5EF4-FFF2-40B4-BE49-F238E27FC236}">
                  <a16:creationId xmlns:a16="http://schemas.microsoft.com/office/drawing/2014/main" id="{CEBB95CF-FD91-4091-AFDB-584B3863BC54}"/>
                </a:ext>
              </a:extLst>
            </p:cNvPr>
            <p:cNvSpPr/>
            <p:nvPr/>
          </p:nvSpPr>
          <p:spPr>
            <a:xfrm>
              <a:off x="8366760" y="2895057"/>
              <a:ext cx="14173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평지</a:t>
              </a:r>
              <a:endParaRPr lang="en-US" sz="1020" dirty="0"/>
            </a:p>
          </p:txBody>
        </p:sp>
        <p:sp>
          <p:nvSpPr>
            <p:cNvPr id="74" name="Text 7">
              <a:extLst>
                <a:ext uri="{FF2B5EF4-FFF2-40B4-BE49-F238E27FC236}">
                  <a16:creationId xmlns:a16="http://schemas.microsoft.com/office/drawing/2014/main" id="{826FD4F6-8350-4B18-8917-931082F6E773}"/>
                </a:ext>
              </a:extLst>
            </p:cNvPr>
            <p:cNvSpPr/>
            <p:nvPr/>
          </p:nvSpPr>
          <p:spPr>
            <a:xfrm>
              <a:off x="9784080" y="2895879"/>
              <a:ext cx="14173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숲</a:t>
              </a:r>
              <a:endParaRPr lang="en-US" sz="1020" dirty="0"/>
            </a:p>
          </p:txBody>
        </p:sp>
        <p:sp>
          <p:nvSpPr>
            <p:cNvPr id="75" name="Text 12">
              <a:extLst>
                <a:ext uri="{FF2B5EF4-FFF2-40B4-BE49-F238E27FC236}">
                  <a16:creationId xmlns:a16="http://schemas.microsoft.com/office/drawing/2014/main" id="{76004B53-6BA8-47E9-9576-D4C59B3E2F14}"/>
                </a:ext>
              </a:extLst>
            </p:cNvPr>
            <p:cNvSpPr/>
            <p:nvPr/>
          </p:nvSpPr>
          <p:spPr>
            <a:xfrm>
              <a:off x="6720840" y="3358159"/>
              <a:ext cx="16459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보병</a:t>
              </a:r>
              <a:endParaRPr lang="en-US" sz="1020" dirty="0"/>
            </a:p>
          </p:txBody>
        </p:sp>
        <p:sp>
          <p:nvSpPr>
            <p:cNvPr id="76" name="Text 13">
              <a:extLst>
                <a:ext uri="{FF2B5EF4-FFF2-40B4-BE49-F238E27FC236}">
                  <a16:creationId xmlns:a16="http://schemas.microsoft.com/office/drawing/2014/main" id="{D2B23923-13E9-4609-88FC-90FF1F65C8E3}"/>
                </a:ext>
              </a:extLst>
            </p:cNvPr>
            <p:cNvSpPr/>
            <p:nvPr/>
          </p:nvSpPr>
          <p:spPr>
            <a:xfrm>
              <a:off x="8353736" y="3362795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A</a:t>
              </a:r>
              <a:endParaRPr lang="en-US" sz="1020" dirty="0"/>
            </a:p>
          </p:txBody>
        </p:sp>
        <p:sp>
          <p:nvSpPr>
            <p:cNvPr id="77" name="Text 14">
              <a:extLst>
                <a:ext uri="{FF2B5EF4-FFF2-40B4-BE49-F238E27FC236}">
                  <a16:creationId xmlns:a16="http://schemas.microsoft.com/office/drawing/2014/main" id="{BD3C1B66-75A8-4D7D-91F2-68B20B1FF622}"/>
                </a:ext>
              </a:extLst>
            </p:cNvPr>
            <p:cNvSpPr/>
            <p:nvPr/>
          </p:nvSpPr>
          <p:spPr>
            <a:xfrm>
              <a:off x="9775996" y="3356514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B</a:t>
              </a:r>
              <a:endParaRPr lang="en-US" sz="1020" dirty="0"/>
            </a:p>
          </p:txBody>
        </p:sp>
        <p:sp>
          <p:nvSpPr>
            <p:cNvPr id="78" name="Text 19">
              <a:extLst>
                <a:ext uri="{FF2B5EF4-FFF2-40B4-BE49-F238E27FC236}">
                  <a16:creationId xmlns:a16="http://schemas.microsoft.com/office/drawing/2014/main" id="{9F4DAFD7-E4D5-482F-A773-686B92BB1FE4}"/>
                </a:ext>
              </a:extLst>
            </p:cNvPr>
            <p:cNvSpPr/>
            <p:nvPr/>
          </p:nvSpPr>
          <p:spPr>
            <a:xfrm>
              <a:off x="6720840" y="3820439"/>
              <a:ext cx="16459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기병</a:t>
              </a:r>
              <a:endParaRPr lang="en-US" sz="1020" dirty="0"/>
            </a:p>
          </p:txBody>
        </p:sp>
        <p:sp>
          <p:nvSpPr>
            <p:cNvPr id="79" name="Text 20">
              <a:extLst>
                <a:ext uri="{FF2B5EF4-FFF2-40B4-BE49-F238E27FC236}">
                  <a16:creationId xmlns:a16="http://schemas.microsoft.com/office/drawing/2014/main" id="{956B6899-292F-4156-A44C-C05A5FCB444B}"/>
                </a:ext>
              </a:extLst>
            </p:cNvPr>
            <p:cNvSpPr/>
            <p:nvPr/>
          </p:nvSpPr>
          <p:spPr>
            <a:xfrm>
              <a:off x="8352312" y="3822757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A</a:t>
              </a:r>
              <a:endParaRPr lang="en-US" sz="1020" dirty="0"/>
            </a:p>
          </p:txBody>
        </p:sp>
        <p:sp>
          <p:nvSpPr>
            <p:cNvPr id="80" name="Text 21">
              <a:extLst>
                <a:ext uri="{FF2B5EF4-FFF2-40B4-BE49-F238E27FC236}">
                  <a16:creationId xmlns:a16="http://schemas.microsoft.com/office/drawing/2014/main" id="{2B849783-00E9-4485-9FA0-E9031D09619A}"/>
                </a:ext>
              </a:extLst>
            </p:cNvPr>
            <p:cNvSpPr/>
            <p:nvPr/>
          </p:nvSpPr>
          <p:spPr>
            <a:xfrm>
              <a:off x="9784080" y="3825075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C</a:t>
              </a:r>
              <a:endParaRPr lang="en-US" sz="1020" dirty="0"/>
            </a:p>
          </p:txBody>
        </p:sp>
        <p:sp>
          <p:nvSpPr>
            <p:cNvPr id="81" name="Text 26">
              <a:extLst>
                <a:ext uri="{FF2B5EF4-FFF2-40B4-BE49-F238E27FC236}">
                  <a16:creationId xmlns:a16="http://schemas.microsoft.com/office/drawing/2014/main" id="{C8B60B74-3BFC-4CBB-A625-C7A321814F70}"/>
                </a:ext>
              </a:extLst>
            </p:cNvPr>
            <p:cNvSpPr/>
            <p:nvPr/>
          </p:nvSpPr>
          <p:spPr>
            <a:xfrm>
              <a:off x="6720840" y="4282719"/>
              <a:ext cx="16459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 err="1"/>
                <a:t>비병</a:t>
              </a:r>
              <a:endParaRPr lang="en-US" sz="1020" dirty="0"/>
            </a:p>
          </p:txBody>
        </p:sp>
        <p:sp>
          <p:nvSpPr>
            <p:cNvPr id="82" name="Text 27">
              <a:extLst>
                <a:ext uri="{FF2B5EF4-FFF2-40B4-BE49-F238E27FC236}">
                  <a16:creationId xmlns:a16="http://schemas.microsoft.com/office/drawing/2014/main" id="{CD13570E-10FD-461B-8C1F-26A91770F08E}"/>
                </a:ext>
              </a:extLst>
            </p:cNvPr>
            <p:cNvSpPr/>
            <p:nvPr/>
          </p:nvSpPr>
          <p:spPr>
            <a:xfrm>
              <a:off x="8366760" y="4281897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A</a:t>
              </a:r>
              <a:endParaRPr lang="en-US" sz="1020" dirty="0"/>
            </a:p>
          </p:txBody>
        </p:sp>
        <p:sp>
          <p:nvSpPr>
            <p:cNvPr id="83" name="Text 28">
              <a:extLst>
                <a:ext uri="{FF2B5EF4-FFF2-40B4-BE49-F238E27FC236}">
                  <a16:creationId xmlns:a16="http://schemas.microsoft.com/office/drawing/2014/main" id="{5D179FB2-E336-4484-A7A4-9A3FE6B34324}"/>
                </a:ext>
              </a:extLst>
            </p:cNvPr>
            <p:cNvSpPr/>
            <p:nvPr/>
          </p:nvSpPr>
          <p:spPr>
            <a:xfrm>
              <a:off x="9784080" y="4305413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A</a:t>
              </a:r>
              <a:endParaRPr lang="en-US" sz="1020" dirty="0"/>
            </a:p>
          </p:txBody>
        </p:sp>
        <p:sp>
          <p:nvSpPr>
            <p:cNvPr id="84" name="Text 33">
              <a:extLst>
                <a:ext uri="{FF2B5EF4-FFF2-40B4-BE49-F238E27FC236}">
                  <a16:creationId xmlns:a16="http://schemas.microsoft.com/office/drawing/2014/main" id="{37FC5806-05E5-4D91-BCEC-1664D84D0980}"/>
                </a:ext>
              </a:extLst>
            </p:cNvPr>
            <p:cNvSpPr/>
            <p:nvPr/>
          </p:nvSpPr>
          <p:spPr>
            <a:xfrm>
              <a:off x="6720840" y="4744999"/>
              <a:ext cx="16459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수병</a:t>
              </a:r>
              <a:endParaRPr lang="en-US" sz="1020" dirty="0"/>
            </a:p>
          </p:txBody>
        </p:sp>
        <p:sp>
          <p:nvSpPr>
            <p:cNvPr id="85" name="Text 34">
              <a:extLst>
                <a:ext uri="{FF2B5EF4-FFF2-40B4-BE49-F238E27FC236}">
                  <a16:creationId xmlns:a16="http://schemas.microsoft.com/office/drawing/2014/main" id="{298ACE8F-FAFC-41CC-B123-C1FAEFAF1D4D}"/>
                </a:ext>
              </a:extLst>
            </p:cNvPr>
            <p:cNvSpPr/>
            <p:nvPr/>
          </p:nvSpPr>
          <p:spPr>
            <a:xfrm>
              <a:off x="8360470" y="4748963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B</a:t>
              </a:r>
              <a:endParaRPr lang="en-US" sz="1020" dirty="0"/>
            </a:p>
          </p:txBody>
        </p:sp>
        <p:sp>
          <p:nvSpPr>
            <p:cNvPr id="86" name="Text 35">
              <a:extLst>
                <a:ext uri="{FF2B5EF4-FFF2-40B4-BE49-F238E27FC236}">
                  <a16:creationId xmlns:a16="http://schemas.microsoft.com/office/drawing/2014/main" id="{EF216EB9-C93B-4B2C-97D5-7517384136DE}"/>
                </a:ext>
              </a:extLst>
            </p:cNvPr>
            <p:cNvSpPr/>
            <p:nvPr/>
          </p:nvSpPr>
          <p:spPr>
            <a:xfrm>
              <a:off x="9784080" y="4743354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C</a:t>
              </a:r>
              <a:endParaRPr lang="en-US" sz="1020" dirty="0"/>
            </a:p>
          </p:txBody>
        </p:sp>
        <p:sp>
          <p:nvSpPr>
            <p:cNvPr id="87" name="Text 40">
              <a:extLst>
                <a:ext uri="{FF2B5EF4-FFF2-40B4-BE49-F238E27FC236}">
                  <a16:creationId xmlns:a16="http://schemas.microsoft.com/office/drawing/2014/main" id="{5EA1110B-9F1D-4E94-8357-F81FABED236B}"/>
                </a:ext>
              </a:extLst>
            </p:cNvPr>
            <p:cNvSpPr/>
            <p:nvPr/>
          </p:nvSpPr>
          <p:spPr>
            <a:xfrm>
              <a:off x="6720840" y="5205634"/>
              <a:ext cx="16459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 err="1"/>
                <a:t>스키병</a:t>
              </a:r>
              <a:endParaRPr lang="en-US" sz="1020" dirty="0"/>
            </a:p>
          </p:txBody>
        </p:sp>
        <p:sp>
          <p:nvSpPr>
            <p:cNvPr id="88" name="Text 41">
              <a:extLst>
                <a:ext uri="{FF2B5EF4-FFF2-40B4-BE49-F238E27FC236}">
                  <a16:creationId xmlns:a16="http://schemas.microsoft.com/office/drawing/2014/main" id="{932FDB02-5A3F-494B-B611-59E5FB2E0DED}"/>
                </a:ext>
              </a:extLst>
            </p:cNvPr>
            <p:cNvSpPr/>
            <p:nvPr/>
          </p:nvSpPr>
          <p:spPr>
            <a:xfrm>
              <a:off x="8360470" y="5207279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B</a:t>
              </a:r>
              <a:endParaRPr lang="en-US" sz="1020" dirty="0"/>
            </a:p>
          </p:txBody>
        </p:sp>
        <p:sp>
          <p:nvSpPr>
            <p:cNvPr id="89" name="Text 42">
              <a:extLst>
                <a:ext uri="{FF2B5EF4-FFF2-40B4-BE49-F238E27FC236}">
                  <a16:creationId xmlns:a16="http://schemas.microsoft.com/office/drawing/2014/main" id="{10CCB8C8-E6D3-4C85-80D7-8940BA83CB0A}"/>
                </a:ext>
              </a:extLst>
            </p:cNvPr>
            <p:cNvSpPr/>
            <p:nvPr/>
          </p:nvSpPr>
          <p:spPr>
            <a:xfrm>
              <a:off x="9784080" y="5215458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C</a:t>
              </a:r>
              <a:endParaRPr lang="en-US" sz="1020" dirty="0"/>
            </a:p>
          </p:txBody>
        </p:sp>
        <p:sp>
          <p:nvSpPr>
            <p:cNvPr id="90" name="Text 47">
              <a:extLst>
                <a:ext uri="{FF2B5EF4-FFF2-40B4-BE49-F238E27FC236}">
                  <a16:creationId xmlns:a16="http://schemas.microsoft.com/office/drawing/2014/main" id="{44CA2D32-1A0E-459F-8A0F-DCE07AA1E66A}"/>
                </a:ext>
              </a:extLst>
            </p:cNvPr>
            <p:cNvSpPr/>
            <p:nvPr/>
          </p:nvSpPr>
          <p:spPr>
            <a:xfrm>
              <a:off x="6720840" y="5667914"/>
              <a:ext cx="16459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조사병단</a:t>
              </a:r>
              <a:endParaRPr lang="en-US" sz="1020" dirty="0"/>
            </a:p>
          </p:txBody>
        </p:sp>
        <p:sp>
          <p:nvSpPr>
            <p:cNvPr id="91" name="Text 48">
              <a:extLst>
                <a:ext uri="{FF2B5EF4-FFF2-40B4-BE49-F238E27FC236}">
                  <a16:creationId xmlns:a16="http://schemas.microsoft.com/office/drawing/2014/main" id="{3E072335-1661-4DE9-805F-6C7828F82D42}"/>
                </a:ext>
              </a:extLst>
            </p:cNvPr>
            <p:cNvSpPr/>
            <p:nvPr/>
          </p:nvSpPr>
          <p:spPr>
            <a:xfrm>
              <a:off x="8366760" y="5667914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A</a:t>
              </a:r>
              <a:endParaRPr lang="en-US" sz="1020" dirty="0"/>
            </a:p>
          </p:txBody>
        </p:sp>
        <p:sp>
          <p:nvSpPr>
            <p:cNvPr id="92" name="Text 49">
              <a:extLst>
                <a:ext uri="{FF2B5EF4-FFF2-40B4-BE49-F238E27FC236}">
                  <a16:creationId xmlns:a16="http://schemas.microsoft.com/office/drawing/2014/main" id="{E8E45B43-1D96-4DD8-9423-AC9417606F9C}"/>
                </a:ext>
              </a:extLst>
            </p:cNvPr>
            <p:cNvSpPr/>
            <p:nvPr/>
          </p:nvSpPr>
          <p:spPr>
            <a:xfrm>
              <a:off x="9784080" y="5667914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A</a:t>
              </a:r>
              <a:endParaRPr lang="en-US" sz="1020" dirty="0"/>
            </a:p>
          </p:txBody>
        </p:sp>
        <p:sp>
          <p:nvSpPr>
            <p:cNvPr id="93" name="Text 7">
              <a:extLst>
                <a:ext uri="{FF2B5EF4-FFF2-40B4-BE49-F238E27FC236}">
                  <a16:creationId xmlns:a16="http://schemas.microsoft.com/office/drawing/2014/main" id="{63FAEA28-AD53-4E6A-BFA8-E391B0175BCD}"/>
                </a:ext>
              </a:extLst>
            </p:cNvPr>
            <p:cNvSpPr/>
            <p:nvPr/>
          </p:nvSpPr>
          <p:spPr>
            <a:xfrm>
              <a:off x="11194881" y="2896197"/>
              <a:ext cx="14173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사막</a:t>
              </a:r>
              <a:endParaRPr lang="en-US" sz="1020" dirty="0"/>
            </a:p>
          </p:txBody>
        </p:sp>
        <p:sp>
          <p:nvSpPr>
            <p:cNvPr id="97" name="Text 14">
              <a:extLst>
                <a:ext uri="{FF2B5EF4-FFF2-40B4-BE49-F238E27FC236}">
                  <a16:creationId xmlns:a16="http://schemas.microsoft.com/office/drawing/2014/main" id="{D65D9FAE-2A27-43C4-BE37-301D4339DAC0}"/>
                </a:ext>
              </a:extLst>
            </p:cNvPr>
            <p:cNvSpPr/>
            <p:nvPr/>
          </p:nvSpPr>
          <p:spPr>
            <a:xfrm>
              <a:off x="11193316" y="3361201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C</a:t>
              </a:r>
              <a:endParaRPr lang="en-US" sz="1020" dirty="0"/>
            </a:p>
          </p:txBody>
        </p:sp>
        <p:sp>
          <p:nvSpPr>
            <p:cNvPr id="101" name="Text 21">
              <a:extLst>
                <a:ext uri="{FF2B5EF4-FFF2-40B4-BE49-F238E27FC236}">
                  <a16:creationId xmlns:a16="http://schemas.microsoft.com/office/drawing/2014/main" id="{452867E8-51F9-47DC-BCD2-DD402A21573F}"/>
                </a:ext>
              </a:extLst>
            </p:cNvPr>
            <p:cNvSpPr/>
            <p:nvPr/>
          </p:nvSpPr>
          <p:spPr>
            <a:xfrm>
              <a:off x="11180407" y="3823482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B</a:t>
              </a:r>
              <a:endParaRPr lang="en-US" sz="1020" dirty="0"/>
            </a:p>
          </p:txBody>
        </p:sp>
        <p:sp>
          <p:nvSpPr>
            <p:cNvPr id="105" name="Text 7">
              <a:extLst>
                <a:ext uri="{FF2B5EF4-FFF2-40B4-BE49-F238E27FC236}">
                  <a16:creationId xmlns:a16="http://schemas.microsoft.com/office/drawing/2014/main" id="{2884FEFE-B5B3-4AA7-8DEE-BEF97C95C2EC}"/>
                </a:ext>
              </a:extLst>
            </p:cNvPr>
            <p:cNvSpPr/>
            <p:nvPr/>
          </p:nvSpPr>
          <p:spPr>
            <a:xfrm>
              <a:off x="12618702" y="2895956"/>
              <a:ext cx="14173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물</a:t>
              </a:r>
              <a:endParaRPr lang="en-US" sz="1020" dirty="0"/>
            </a:p>
          </p:txBody>
        </p:sp>
        <p:sp>
          <p:nvSpPr>
            <p:cNvPr id="106" name="Text 14">
              <a:extLst>
                <a:ext uri="{FF2B5EF4-FFF2-40B4-BE49-F238E27FC236}">
                  <a16:creationId xmlns:a16="http://schemas.microsoft.com/office/drawing/2014/main" id="{FD411ECD-0041-46E4-982A-A417AA8F814D}"/>
                </a:ext>
              </a:extLst>
            </p:cNvPr>
            <p:cNvSpPr/>
            <p:nvPr/>
          </p:nvSpPr>
          <p:spPr>
            <a:xfrm>
              <a:off x="12618702" y="3356514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C</a:t>
              </a:r>
              <a:endParaRPr lang="en-US" sz="1020" dirty="0"/>
            </a:p>
          </p:txBody>
        </p:sp>
        <p:sp>
          <p:nvSpPr>
            <p:cNvPr id="107" name="Text 21">
              <a:extLst>
                <a:ext uri="{FF2B5EF4-FFF2-40B4-BE49-F238E27FC236}">
                  <a16:creationId xmlns:a16="http://schemas.microsoft.com/office/drawing/2014/main" id="{990CB7E9-99A6-4843-9F02-F941ED2E0287}"/>
                </a:ext>
              </a:extLst>
            </p:cNvPr>
            <p:cNvSpPr/>
            <p:nvPr/>
          </p:nvSpPr>
          <p:spPr>
            <a:xfrm>
              <a:off x="12613859" y="3818341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/>
                <a:t>C</a:t>
              </a:r>
            </a:p>
          </p:txBody>
        </p:sp>
        <p:sp>
          <p:nvSpPr>
            <p:cNvPr id="108" name="Text 7">
              <a:extLst>
                <a:ext uri="{FF2B5EF4-FFF2-40B4-BE49-F238E27FC236}">
                  <a16:creationId xmlns:a16="http://schemas.microsoft.com/office/drawing/2014/main" id="{19E5D5BB-D787-4C31-8854-1060F61DE1B7}"/>
                </a:ext>
              </a:extLst>
            </p:cNvPr>
            <p:cNvSpPr/>
            <p:nvPr/>
          </p:nvSpPr>
          <p:spPr>
            <a:xfrm>
              <a:off x="14036022" y="2898922"/>
              <a:ext cx="14173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산</a:t>
              </a:r>
              <a:endParaRPr lang="en-US" sz="1020" dirty="0"/>
            </a:p>
          </p:txBody>
        </p:sp>
        <p:sp>
          <p:nvSpPr>
            <p:cNvPr id="109" name="Text 14">
              <a:extLst>
                <a:ext uri="{FF2B5EF4-FFF2-40B4-BE49-F238E27FC236}">
                  <a16:creationId xmlns:a16="http://schemas.microsoft.com/office/drawing/2014/main" id="{9833F4AE-DBDB-446F-AEF1-B3F48B81B025}"/>
                </a:ext>
              </a:extLst>
            </p:cNvPr>
            <p:cNvSpPr/>
            <p:nvPr/>
          </p:nvSpPr>
          <p:spPr>
            <a:xfrm>
              <a:off x="14029503" y="3356886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F</a:t>
              </a:r>
              <a:endParaRPr lang="en-US" sz="1020" dirty="0"/>
            </a:p>
          </p:txBody>
        </p:sp>
        <p:sp>
          <p:nvSpPr>
            <p:cNvPr id="110" name="Text 21">
              <a:extLst>
                <a:ext uri="{FF2B5EF4-FFF2-40B4-BE49-F238E27FC236}">
                  <a16:creationId xmlns:a16="http://schemas.microsoft.com/office/drawing/2014/main" id="{EB252CBF-3CEE-4475-A10B-94D74F208261}"/>
                </a:ext>
              </a:extLst>
            </p:cNvPr>
            <p:cNvSpPr/>
            <p:nvPr/>
          </p:nvSpPr>
          <p:spPr>
            <a:xfrm>
              <a:off x="14028015" y="3819396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F</a:t>
              </a:r>
              <a:endParaRPr lang="en-US" sz="1020" dirty="0"/>
            </a:p>
          </p:txBody>
        </p:sp>
        <p:sp>
          <p:nvSpPr>
            <p:cNvPr id="114" name="Text 7">
              <a:extLst>
                <a:ext uri="{FF2B5EF4-FFF2-40B4-BE49-F238E27FC236}">
                  <a16:creationId xmlns:a16="http://schemas.microsoft.com/office/drawing/2014/main" id="{6DBA484F-02D3-40BD-B9E9-996D8FB08EF5}"/>
                </a:ext>
              </a:extLst>
            </p:cNvPr>
            <p:cNvSpPr/>
            <p:nvPr/>
          </p:nvSpPr>
          <p:spPr>
            <a:xfrm>
              <a:off x="15453324" y="2895879"/>
              <a:ext cx="1417320" cy="465232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설산</a:t>
              </a:r>
              <a:endParaRPr lang="en-US" sz="1020" dirty="0"/>
            </a:p>
          </p:txBody>
        </p:sp>
        <p:sp>
          <p:nvSpPr>
            <p:cNvPr id="115" name="Text 14">
              <a:extLst>
                <a:ext uri="{FF2B5EF4-FFF2-40B4-BE49-F238E27FC236}">
                  <a16:creationId xmlns:a16="http://schemas.microsoft.com/office/drawing/2014/main" id="{80EC0334-75F0-4E91-94E9-C544EC1F70E8}"/>
                </a:ext>
              </a:extLst>
            </p:cNvPr>
            <p:cNvSpPr/>
            <p:nvPr/>
          </p:nvSpPr>
          <p:spPr>
            <a:xfrm>
              <a:off x="15459826" y="3362795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C</a:t>
              </a:r>
              <a:endParaRPr lang="en-US" sz="1020" dirty="0"/>
            </a:p>
          </p:txBody>
        </p:sp>
        <p:sp>
          <p:nvSpPr>
            <p:cNvPr id="116" name="Text 21">
              <a:extLst>
                <a:ext uri="{FF2B5EF4-FFF2-40B4-BE49-F238E27FC236}">
                  <a16:creationId xmlns:a16="http://schemas.microsoft.com/office/drawing/2014/main" id="{E83C2E94-1FCF-415D-87F6-62E14910FFCF}"/>
                </a:ext>
              </a:extLst>
            </p:cNvPr>
            <p:cNvSpPr/>
            <p:nvPr/>
          </p:nvSpPr>
          <p:spPr>
            <a:xfrm>
              <a:off x="15459826" y="3812721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C</a:t>
              </a:r>
              <a:endParaRPr lang="en-US" sz="1020" dirty="0"/>
            </a:p>
          </p:txBody>
        </p:sp>
        <p:sp>
          <p:nvSpPr>
            <p:cNvPr id="117" name="Text 7">
              <a:extLst>
                <a:ext uri="{FF2B5EF4-FFF2-40B4-BE49-F238E27FC236}">
                  <a16:creationId xmlns:a16="http://schemas.microsoft.com/office/drawing/2014/main" id="{911F05D0-BCF8-4CE8-A2F4-4BA12647D6F2}"/>
                </a:ext>
              </a:extLst>
            </p:cNvPr>
            <p:cNvSpPr/>
            <p:nvPr/>
          </p:nvSpPr>
          <p:spPr>
            <a:xfrm>
              <a:off x="16877145" y="2895879"/>
              <a:ext cx="1417320" cy="4622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늪지대</a:t>
              </a:r>
              <a:endParaRPr lang="en-US" sz="1020" dirty="0"/>
            </a:p>
          </p:txBody>
        </p:sp>
        <p:sp>
          <p:nvSpPr>
            <p:cNvPr id="118" name="Text 14">
              <a:extLst>
                <a:ext uri="{FF2B5EF4-FFF2-40B4-BE49-F238E27FC236}">
                  <a16:creationId xmlns:a16="http://schemas.microsoft.com/office/drawing/2014/main" id="{8812999A-1525-47CD-AC8E-BBD75410C835}"/>
                </a:ext>
              </a:extLst>
            </p:cNvPr>
            <p:cNvSpPr/>
            <p:nvPr/>
          </p:nvSpPr>
          <p:spPr>
            <a:xfrm>
              <a:off x="16877145" y="3359135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F</a:t>
              </a:r>
              <a:endParaRPr lang="en-US" sz="1020" dirty="0"/>
            </a:p>
          </p:txBody>
        </p:sp>
        <p:sp>
          <p:nvSpPr>
            <p:cNvPr id="119" name="Text 21">
              <a:extLst>
                <a:ext uri="{FF2B5EF4-FFF2-40B4-BE49-F238E27FC236}">
                  <a16:creationId xmlns:a16="http://schemas.microsoft.com/office/drawing/2014/main" id="{FA2FEE65-6321-45DE-8E73-3B0F89039EB4}"/>
                </a:ext>
              </a:extLst>
            </p:cNvPr>
            <p:cNvSpPr/>
            <p:nvPr/>
          </p:nvSpPr>
          <p:spPr>
            <a:xfrm>
              <a:off x="16883629" y="3825075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F</a:t>
              </a:r>
              <a:endParaRPr lang="en-US" sz="1020" dirty="0"/>
            </a:p>
          </p:txBody>
        </p:sp>
        <p:sp>
          <p:nvSpPr>
            <p:cNvPr id="120" name="Text 28">
              <a:extLst>
                <a:ext uri="{FF2B5EF4-FFF2-40B4-BE49-F238E27FC236}">
                  <a16:creationId xmlns:a16="http://schemas.microsoft.com/office/drawing/2014/main" id="{95207806-6753-4389-8824-35C3326F05D0}"/>
                </a:ext>
              </a:extLst>
            </p:cNvPr>
            <p:cNvSpPr/>
            <p:nvPr/>
          </p:nvSpPr>
          <p:spPr>
            <a:xfrm>
              <a:off x="11190055" y="4285759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A</a:t>
              </a:r>
              <a:endParaRPr lang="en-US" sz="1020" dirty="0"/>
            </a:p>
          </p:txBody>
        </p:sp>
        <p:sp>
          <p:nvSpPr>
            <p:cNvPr id="121" name="Text 35">
              <a:extLst>
                <a:ext uri="{FF2B5EF4-FFF2-40B4-BE49-F238E27FC236}">
                  <a16:creationId xmlns:a16="http://schemas.microsoft.com/office/drawing/2014/main" id="{EFE92A91-5549-4FAC-8FB5-9B919750849F}"/>
                </a:ext>
              </a:extLst>
            </p:cNvPr>
            <p:cNvSpPr/>
            <p:nvPr/>
          </p:nvSpPr>
          <p:spPr>
            <a:xfrm>
              <a:off x="11176183" y="4753178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</a:rPr>
                <a:t>C</a:t>
              </a:r>
              <a:endParaRPr lang="en-US" sz="1020" dirty="0"/>
            </a:p>
          </p:txBody>
        </p:sp>
        <p:sp>
          <p:nvSpPr>
            <p:cNvPr id="122" name="Text 42">
              <a:extLst>
                <a:ext uri="{FF2B5EF4-FFF2-40B4-BE49-F238E27FC236}">
                  <a16:creationId xmlns:a16="http://schemas.microsoft.com/office/drawing/2014/main" id="{4AC860FF-7BA4-40D8-81B0-CA2F9DE6DC24}"/>
                </a:ext>
              </a:extLst>
            </p:cNvPr>
            <p:cNvSpPr/>
            <p:nvPr/>
          </p:nvSpPr>
          <p:spPr>
            <a:xfrm>
              <a:off x="11176183" y="5215454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B</a:t>
              </a:r>
              <a:endParaRPr lang="en-US" sz="1020" dirty="0"/>
            </a:p>
          </p:txBody>
        </p:sp>
        <p:sp>
          <p:nvSpPr>
            <p:cNvPr id="123" name="Text 28">
              <a:extLst>
                <a:ext uri="{FF2B5EF4-FFF2-40B4-BE49-F238E27FC236}">
                  <a16:creationId xmlns:a16="http://schemas.microsoft.com/office/drawing/2014/main" id="{C1F33F2B-B4EB-4ABA-ACF5-89FF4B7555DA}"/>
                </a:ext>
              </a:extLst>
            </p:cNvPr>
            <p:cNvSpPr/>
            <p:nvPr/>
          </p:nvSpPr>
          <p:spPr>
            <a:xfrm>
              <a:off x="12618702" y="4280589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A</a:t>
              </a:r>
              <a:endParaRPr lang="en-US" sz="1020" dirty="0"/>
            </a:p>
          </p:txBody>
        </p:sp>
        <p:sp>
          <p:nvSpPr>
            <p:cNvPr id="124" name="Text 35">
              <a:extLst>
                <a:ext uri="{FF2B5EF4-FFF2-40B4-BE49-F238E27FC236}">
                  <a16:creationId xmlns:a16="http://schemas.microsoft.com/office/drawing/2014/main" id="{EB3826F8-6F47-426A-8E0B-797D663D0EBC}"/>
                </a:ext>
              </a:extLst>
            </p:cNvPr>
            <p:cNvSpPr/>
            <p:nvPr/>
          </p:nvSpPr>
          <p:spPr>
            <a:xfrm>
              <a:off x="12609896" y="473304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</a:t>
              </a:r>
              <a:endParaRPr lang="en-US" sz="1020" dirty="0"/>
            </a:p>
          </p:txBody>
        </p:sp>
        <p:sp>
          <p:nvSpPr>
            <p:cNvPr id="125" name="Text 42">
              <a:extLst>
                <a:ext uri="{FF2B5EF4-FFF2-40B4-BE49-F238E27FC236}">
                  <a16:creationId xmlns:a16="http://schemas.microsoft.com/office/drawing/2014/main" id="{71D6092F-6AC0-45E9-B563-1865F8286E9F}"/>
                </a:ext>
              </a:extLst>
            </p:cNvPr>
            <p:cNvSpPr/>
            <p:nvPr/>
          </p:nvSpPr>
          <p:spPr>
            <a:xfrm>
              <a:off x="12596030" y="5229972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F</a:t>
              </a:r>
              <a:endParaRPr lang="en-US" sz="1020" dirty="0"/>
            </a:p>
          </p:txBody>
        </p:sp>
        <p:sp>
          <p:nvSpPr>
            <p:cNvPr id="126" name="Text 28">
              <a:extLst>
                <a:ext uri="{FF2B5EF4-FFF2-40B4-BE49-F238E27FC236}">
                  <a16:creationId xmlns:a16="http://schemas.microsoft.com/office/drawing/2014/main" id="{CB3AE557-DDD9-42A3-8DA5-31CED1374D7C}"/>
                </a:ext>
              </a:extLst>
            </p:cNvPr>
            <p:cNvSpPr/>
            <p:nvPr/>
          </p:nvSpPr>
          <p:spPr>
            <a:xfrm>
              <a:off x="14031179" y="4278280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A</a:t>
              </a:r>
              <a:endParaRPr lang="en-US" sz="1020" dirty="0"/>
            </a:p>
          </p:txBody>
        </p:sp>
        <p:sp>
          <p:nvSpPr>
            <p:cNvPr id="127" name="Text 35">
              <a:extLst>
                <a:ext uri="{FF2B5EF4-FFF2-40B4-BE49-F238E27FC236}">
                  <a16:creationId xmlns:a16="http://schemas.microsoft.com/office/drawing/2014/main" id="{E11A1CDA-1A24-48F5-B8C1-27035D00C5F0}"/>
                </a:ext>
              </a:extLst>
            </p:cNvPr>
            <p:cNvSpPr/>
            <p:nvPr/>
          </p:nvSpPr>
          <p:spPr>
            <a:xfrm>
              <a:off x="14015029" y="4735943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F</a:t>
              </a:r>
              <a:endParaRPr lang="en-US" sz="1020" dirty="0"/>
            </a:p>
          </p:txBody>
        </p:sp>
        <p:sp>
          <p:nvSpPr>
            <p:cNvPr id="128" name="Text 42">
              <a:extLst>
                <a:ext uri="{FF2B5EF4-FFF2-40B4-BE49-F238E27FC236}">
                  <a16:creationId xmlns:a16="http://schemas.microsoft.com/office/drawing/2014/main" id="{95F509F3-26CF-4CE8-8876-4D2A550A7EFC}"/>
                </a:ext>
              </a:extLst>
            </p:cNvPr>
            <p:cNvSpPr/>
            <p:nvPr/>
          </p:nvSpPr>
          <p:spPr>
            <a:xfrm>
              <a:off x="14016708" y="5225284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F</a:t>
              </a:r>
              <a:endParaRPr lang="en-US" sz="1020" dirty="0"/>
            </a:p>
          </p:txBody>
        </p:sp>
        <p:sp>
          <p:nvSpPr>
            <p:cNvPr id="129" name="Text 28">
              <a:extLst>
                <a:ext uri="{FF2B5EF4-FFF2-40B4-BE49-F238E27FC236}">
                  <a16:creationId xmlns:a16="http://schemas.microsoft.com/office/drawing/2014/main" id="{2964329D-96E0-4347-832E-3CAB1344D3F8}"/>
                </a:ext>
              </a:extLst>
            </p:cNvPr>
            <p:cNvSpPr/>
            <p:nvPr/>
          </p:nvSpPr>
          <p:spPr>
            <a:xfrm>
              <a:off x="15453324" y="4287616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A</a:t>
              </a:r>
              <a:endParaRPr lang="en-US" sz="1020" dirty="0"/>
            </a:p>
          </p:txBody>
        </p:sp>
        <p:sp>
          <p:nvSpPr>
            <p:cNvPr id="130" name="Text 35">
              <a:extLst>
                <a:ext uri="{FF2B5EF4-FFF2-40B4-BE49-F238E27FC236}">
                  <a16:creationId xmlns:a16="http://schemas.microsoft.com/office/drawing/2014/main" id="{E62AD81C-E605-42C7-BC1C-710E2F0E240D}"/>
                </a:ext>
              </a:extLst>
            </p:cNvPr>
            <p:cNvSpPr/>
            <p:nvPr/>
          </p:nvSpPr>
          <p:spPr>
            <a:xfrm>
              <a:off x="15446822" y="4734207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C</a:t>
              </a:r>
              <a:endParaRPr lang="en-US" sz="1020" dirty="0"/>
            </a:p>
          </p:txBody>
        </p:sp>
        <p:sp>
          <p:nvSpPr>
            <p:cNvPr id="131" name="Text 42">
              <a:extLst>
                <a:ext uri="{FF2B5EF4-FFF2-40B4-BE49-F238E27FC236}">
                  <a16:creationId xmlns:a16="http://schemas.microsoft.com/office/drawing/2014/main" id="{D3CDCF49-55BE-4778-A2A9-BA43EE16DCB9}"/>
                </a:ext>
              </a:extLst>
            </p:cNvPr>
            <p:cNvSpPr/>
            <p:nvPr/>
          </p:nvSpPr>
          <p:spPr>
            <a:xfrm>
              <a:off x="15407979" y="5222655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C</a:t>
              </a:r>
              <a:endParaRPr lang="en-US" sz="1020" dirty="0"/>
            </a:p>
          </p:txBody>
        </p:sp>
        <p:sp>
          <p:nvSpPr>
            <p:cNvPr id="132" name="Text 28">
              <a:extLst>
                <a:ext uri="{FF2B5EF4-FFF2-40B4-BE49-F238E27FC236}">
                  <a16:creationId xmlns:a16="http://schemas.microsoft.com/office/drawing/2014/main" id="{B7A3E4A2-5E9D-40CF-A97D-E0A585D34E9F}"/>
                </a:ext>
              </a:extLst>
            </p:cNvPr>
            <p:cNvSpPr/>
            <p:nvPr/>
          </p:nvSpPr>
          <p:spPr>
            <a:xfrm>
              <a:off x="16883629" y="4286671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A</a:t>
              </a:r>
              <a:endParaRPr lang="en-US" sz="1020" dirty="0"/>
            </a:p>
          </p:txBody>
        </p:sp>
        <p:sp>
          <p:nvSpPr>
            <p:cNvPr id="133" name="Text 35">
              <a:extLst>
                <a:ext uri="{FF2B5EF4-FFF2-40B4-BE49-F238E27FC236}">
                  <a16:creationId xmlns:a16="http://schemas.microsoft.com/office/drawing/2014/main" id="{BA4935EA-0257-4E2A-B9E7-44B1B398D110}"/>
                </a:ext>
              </a:extLst>
            </p:cNvPr>
            <p:cNvSpPr/>
            <p:nvPr/>
          </p:nvSpPr>
          <p:spPr>
            <a:xfrm>
              <a:off x="16883629" y="4742868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C</a:t>
              </a:r>
              <a:endParaRPr lang="en-US" sz="1020" dirty="0"/>
            </a:p>
          </p:txBody>
        </p:sp>
        <p:sp>
          <p:nvSpPr>
            <p:cNvPr id="134" name="Text 42">
              <a:extLst>
                <a:ext uri="{FF2B5EF4-FFF2-40B4-BE49-F238E27FC236}">
                  <a16:creationId xmlns:a16="http://schemas.microsoft.com/office/drawing/2014/main" id="{4949ECCB-70E9-4D7E-96D8-4CE2C7178290}"/>
                </a:ext>
              </a:extLst>
            </p:cNvPr>
            <p:cNvSpPr/>
            <p:nvPr/>
          </p:nvSpPr>
          <p:spPr>
            <a:xfrm>
              <a:off x="16807664" y="5236344"/>
              <a:ext cx="1417320" cy="4622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C</a:t>
              </a:r>
              <a:endParaRPr lang="en-US" sz="1020" dirty="0"/>
            </a:p>
          </p:txBody>
        </p:sp>
        <p:sp>
          <p:nvSpPr>
            <p:cNvPr id="135" name="Text 49">
              <a:extLst>
                <a:ext uri="{FF2B5EF4-FFF2-40B4-BE49-F238E27FC236}">
                  <a16:creationId xmlns:a16="http://schemas.microsoft.com/office/drawing/2014/main" id="{CB79D87D-C356-437B-8D89-2CB064B29F92}"/>
                </a:ext>
              </a:extLst>
            </p:cNvPr>
            <p:cNvSpPr/>
            <p:nvPr/>
          </p:nvSpPr>
          <p:spPr>
            <a:xfrm>
              <a:off x="11201382" y="5667911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B</a:t>
              </a:r>
              <a:endParaRPr lang="en-US" sz="1020" dirty="0"/>
            </a:p>
          </p:txBody>
        </p:sp>
        <p:sp>
          <p:nvSpPr>
            <p:cNvPr id="137" name="Text 49">
              <a:extLst>
                <a:ext uri="{FF2B5EF4-FFF2-40B4-BE49-F238E27FC236}">
                  <a16:creationId xmlns:a16="http://schemas.microsoft.com/office/drawing/2014/main" id="{64545FB7-AF34-4F1D-9855-0359B5E7BDEE}"/>
                </a:ext>
              </a:extLst>
            </p:cNvPr>
            <p:cNvSpPr/>
            <p:nvPr/>
          </p:nvSpPr>
          <p:spPr>
            <a:xfrm>
              <a:off x="12608205" y="5667910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C</a:t>
              </a:r>
              <a:endParaRPr lang="en-US" sz="1020" dirty="0"/>
            </a:p>
          </p:txBody>
        </p:sp>
        <p:sp>
          <p:nvSpPr>
            <p:cNvPr id="138" name="Text 49">
              <a:extLst>
                <a:ext uri="{FF2B5EF4-FFF2-40B4-BE49-F238E27FC236}">
                  <a16:creationId xmlns:a16="http://schemas.microsoft.com/office/drawing/2014/main" id="{FE0837A9-3316-43D6-BD0A-0E64833BCF45}"/>
                </a:ext>
              </a:extLst>
            </p:cNvPr>
            <p:cNvSpPr/>
            <p:nvPr/>
          </p:nvSpPr>
          <p:spPr>
            <a:xfrm>
              <a:off x="14015029" y="5667908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A</a:t>
              </a:r>
              <a:endParaRPr lang="en-US" sz="1020" dirty="0"/>
            </a:p>
          </p:txBody>
        </p:sp>
        <p:sp>
          <p:nvSpPr>
            <p:cNvPr id="139" name="Text 49">
              <a:extLst>
                <a:ext uri="{FF2B5EF4-FFF2-40B4-BE49-F238E27FC236}">
                  <a16:creationId xmlns:a16="http://schemas.microsoft.com/office/drawing/2014/main" id="{EED9BEAC-115C-4F52-9634-8A433906E040}"/>
                </a:ext>
              </a:extLst>
            </p:cNvPr>
            <p:cNvSpPr/>
            <p:nvPr/>
          </p:nvSpPr>
          <p:spPr>
            <a:xfrm>
              <a:off x="15421852" y="5667906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B</a:t>
              </a:r>
              <a:endParaRPr lang="en-US" sz="1020" dirty="0"/>
            </a:p>
          </p:txBody>
        </p:sp>
        <p:sp>
          <p:nvSpPr>
            <p:cNvPr id="140" name="Text 49">
              <a:extLst>
                <a:ext uri="{FF2B5EF4-FFF2-40B4-BE49-F238E27FC236}">
                  <a16:creationId xmlns:a16="http://schemas.microsoft.com/office/drawing/2014/main" id="{CDD8B440-24E3-4389-B7C4-6E55F3FDE499}"/>
                </a:ext>
              </a:extLst>
            </p:cNvPr>
            <p:cNvSpPr/>
            <p:nvPr/>
          </p:nvSpPr>
          <p:spPr>
            <a:xfrm>
              <a:off x="16828675" y="5667905"/>
              <a:ext cx="1417320" cy="4622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A</a:t>
              </a:r>
              <a:endParaRPr lang="en-US" sz="1020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282FA54-F09F-B38D-A2A2-068F9BE05B40}"/>
              </a:ext>
            </a:extLst>
          </p:cNvPr>
          <p:cNvSpPr txBox="1"/>
          <p:nvPr/>
        </p:nvSpPr>
        <p:spPr>
          <a:xfrm>
            <a:off x="466568" y="773826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이동력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소모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량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917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58CC4-976C-2A7D-B2BE-33A1BB12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7D7C9BF-94D1-447E-89F4-4D1A68B2564E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지형 상세 </a:t>
            </a:r>
            <a:r>
              <a:rPr lang="en-US" sz="25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– </a:t>
            </a:r>
            <a:r>
              <a:rPr lang="en-US" sz="25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적응력 보정</a:t>
            </a:r>
            <a:endParaRPr lang="en-US" sz="2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F5F98B-E891-294E-0BC8-CD1B5C6FCD82}"/>
              </a:ext>
            </a:extLst>
          </p:cNvPr>
          <p:cNvSpPr txBox="1"/>
          <p:nvPr/>
        </p:nvSpPr>
        <p:spPr>
          <a:xfrm>
            <a:off x="466568" y="773826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이동력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소모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량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84BDE22-276B-438B-5EE5-CA61DF9A0AB0}"/>
              </a:ext>
            </a:extLst>
          </p:cNvPr>
          <p:cNvGrpSpPr/>
          <p:nvPr/>
        </p:nvGrpSpPr>
        <p:grpSpPr>
          <a:xfrm>
            <a:off x="2064530" y="2390024"/>
            <a:ext cx="7201334" cy="3227196"/>
            <a:chOff x="2086868" y="1910133"/>
            <a:chExt cx="7201334" cy="3227196"/>
          </a:xfrm>
        </p:grpSpPr>
        <p:sp>
          <p:nvSpPr>
            <p:cNvPr id="3" name="Text 5">
              <a:extLst>
                <a:ext uri="{FF2B5EF4-FFF2-40B4-BE49-F238E27FC236}">
                  <a16:creationId xmlns:a16="http://schemas.microsoft.com/office/drawing/2014/main" id="{E1189096-3B88-2AA4-41B4-8245541035A9}"/>
                </a:ext>
              </a:extLst>
            </p:cNvPr>
            <p:cNvSpPr/>
            <p:nvPr/>
          </p:nvSpPr>
          <p:spPr>
            <a:xfrm>
              <a:off x="2086868" y="1912428"/>
              <a:ext cx="1620300" cy="6449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등급</a:t>
              </a:r>
              <a:endParaRPr lang="en-US" sz="1020" dirty="0"/>
            </a:p>
          </p:txBody>
        </p:sp>
        <p:sp>
          <p:nvSpPr>
            <p:cNvPr id="5" name="Text 6">
              <a:extLst>
                <a:ext uri="{FF2B5EF4-FFF2-40B4-BE49-F238E27FC236}">
                  <a16:creationId xmlns:a16="http://schemas.microsoft.com/office/drawing/2014/main" id="{477190C3-0D8C-6271-D5B3-12427D1F4B9A}"/>
                </a:ext>
              </a:extLst>
            </p:cNvPr>
            <p:cNvSpPr/>
            <p:nvPr/>
          </p:nvSpPr>
          <p:spPr>
            <a:xfrm>
              <a:off x="3707168" y="1912428"/>
              <a:ext cx="1395258" cy="6449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명중률</a:t>
              </a:r>
              <a:endParaRPr lang="en-US" sz="1020" dirty="0"/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D96DB61E-CF2D-4D46-13DE-C86E02A33680}"/>
                </a:ext>
              </a:extLst>
            </p:cNvPr>
            <p:cNvSpPr/>
            <p:nvPr/>
          </p:nvSpPr>
          <p:spPr>
            <a:xfrm>
              <a:off x="5102426" y="1910133"/>
              <a:ext cx="1395258" cy="6449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 err="1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회피율</a:t>
              </a:r>
              <a:endParaRPr lang="en-US" sz="1020" dirty="0"/>
            </a:p>
          </p:txBody>
        </p:sp>
        <p:sp>
          <p:nvSpPr>
            <p:cNvPr id="8" name="Text 12">
              <a:extLst>
                <a:ext uri="{FF2B5EF4-FFF2-40B4-BE49-F238E27FC236}">
                  <a16:creationId xmlns:a16="http://schemas.microsoft.com/office/drawing/2014/main" id="{9CFCBC14-684F-8455-4055-95B226763E49}"/>
                </a:ext>
              </a:extLst>
            </p:cNvPr>
            <p:cNvSpPr/>
            <p:nvPr/>
          </p:nvSpPr>
          <p:spPr>
            <a:xfrm>
              <a:off x="2086868" y="2557408"/>
              <a:ext cx="1620300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/>
                <a:t>A</a:t>
              </a:r>
            </a:p>
          </p:txBody>
        </p:sp>
        <p:sp>
          <p:nvSpPr>
            <p:cNvPr id="9" name="Text 13">
              <a:extLst>
                <a:ext uri="{FF2B5EF4-FFF2-40B4-BE49-F238E27FC236}">
                  <a16:creationId xmlns:a16="http://schemas.microsoft.com/office/drawing/2014/main" id="{F314F329-6E98-24A0-04E4-0249F6BAB5B9}"/>
                </a:ext>
              </a:extLst>
            </p:cNvPr>
            <p:cNvSpPr/>
            <p:nvPr/>
          </p:nvSpPr>
          <p:spPr>
            <a:xfrm>
              <a:off x="3707168" y="2557408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0%</a:t>
              </a:r>
              <a:endParaRPr lang="en-US" sz="1020" dirty="0"/>
            </a:p>
          </p:txBody>
        </p:sp>
        <p:sp>
          <p:nvSpPr>
            <p:cNvPr id="10" name="Text 14">
              <a:extLst>
                <a:ext uri="{FF2B5EF4-FFF2-40B4-BE49-F238E27FC236}">
                  <a16:creationId xmlns:a16="http://schemas.microsoft.com/office/drawing/2014/main" id="{39E19450-44A6-80F4-3DB8-3FA9816ACA98}"/>
                </a:ext>
              </a:extLst>
            </p:cNvPr>
            <p:cNvSpPr/>
            <p:nvPr/>
          </p:nvSpPr>
          <p:spPr>
            <a:xfrm>
              <a:off x="5102426" y="2555113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altLang="ko-KR" sz="1020" dirty="0"/>
                <a:t>0%</a:t>
              </a:r>
              <a:endParaRPr lang="en-US" sz="1020" dirty="0"/>
            </a:p>
          </p:txBody>
        </p:sp>
        <p:sp>
          <p:nvSpPr>
            <p:cNvPr id="11" name="Text 19">
              <a:extLst>
                <a:ext uri="{FF2B5EF4-FFF2-40B4-BE49-F238E27FC236}">
                  <a16:creationId xmlns:a16="http://schemas.microsoft.com/office/drawing/2014/main" id="{B7445E51-CE42-D66B-0A85-111CDE52CD7D}"/>
                </a:ext>
              </a:extLst>
            </p:cNvPr>
            <p:cNvSpPr/>
            <p:nvPr/>
          </p:nvSpPr>
          <p:spPr>
            <a:xfrm>
              <a:off x="2086868" y="3202389"/>
              <a:ext cx="1620300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B</a:t>
              </a:r>
              <a:endParaRPr lang="en-US" sz="1020" dirty="0"/>
            </a:p>
          </p:txBody>
        </p:sp>
        <p:sp>
          <p:nvSpPr>
            <p:cNvPr id="12" name="Text 20">
              <a:extLst>
                <a:ext uri="{FF2B5EF4-FFF2-40B4-BE49-F238E27FC236}">
                  <a16:creationId xmlns:a16="http://schemas.microsoft.com/office/drawing/2014/main" id="{8D49616D-A208-2A74-C7A0-8E85AF10CACD}"/>
                </a:ext>
              </a:extLst>
            </p:cNvPr>
            <p:cNvSpPr/>
            <p:nvPr/>
          </p:nvSpPr>
          <p:spPr>
            <a:xfrm>
              <a:off x="3707168" y="3200094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-10%</a:t>
              </a:r>
              <a:endParaRPr lang="en-US" sz="1020" dirty="0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D027003D-4467-5714-D2F8-92FB5B55C0F8}"/>
                </a:ext>
              </a:extLst>
            </p:cNvPr>
            <p:cNvSpPr/>
            <p:nvPr/>
          </p:nvSpPr>
          <p:spPr>
            <a:xfrm>
              <a:off x="5102426" y="3200094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altLang="ko-KR" sz="1020" dirty="0"/>
                <a:t>-10%</a:t>
              </a:r>
              <a:endParaRPr lang="en-US" sz="1020" dirty="0"/>
            </a:p>
          </p:txBody>
        </p:sp>
        <p:sp>
          <p:nvSpPr>
            <p:cNvPr id="14" name="Text 26">
              <a:extLst>
                <a:ext uri="{FF2B5EF4-FFF2-40B4-BE49-F238E27FC236}">
                  <a16:creationId xmlns:a16="http://schemas.microsoft.com/office/drawing/2014/main" id="{D0CE93B3-A350-884A-5F3D-FF5D55F3BAA7}"/>
                </a:ext>
              </a:extLst>
            </p:cNvPr>
            <p:cNvSpPr/>
            <p:nvPr/>
          </p:nvSpPr>
          <p:spPr>
            <a:xfrm>
              <a:off x="2086868" y="3847369"/>
              <a:ext cx="1620300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C</a:t>
              </a:r>
              <a:endParaRPr lang="en-US" sz="1020" dirty="0"/>
            </a:p>
          </p:txBody>
        </p:sp>
        <p:sp>
          <p:nvSpPr>
            <p:cNvPr id="15" name="Text 27">
              <a:extLst>
                <a:ext uri="{FF2B5EF4-FFF2-40B4-BE49-F238E27FC236}">
                  <a16:creationId xmlns:a16="http://schemas.microsoft.com/office/drawing/2014/main" id="{ACBCB69F-C11A-792F-F0F8-8DD8A894E092}"/>
                </a:ext>
              </a:extLst>
            </p:cNvPr>
            <p:cNvSpPr/>
            <p:nvPr/>
          </p:nvSpPr>
          <p:spPr>
            <a:xfrm>
              <a:off x="3707168" y="3845074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altLang="ko-KR" sz="1020" dirty="0"/>
                <a:t>-30%</a:t>
              </a:r>
            </a:p>
          </p:txBody>
        </p:sp>
        <p:sp>
          <p:nvSpPr>
            <p:cNvPr id="16" name="Text 28">
              <a:extLst>
                <a:ext uri="{FF2B5EF4-FFF2-40B4-BE49-F238E27FC236}">
                  <a16:creationId xmlns:a16="http://schemas.microsoft.com/office/drawing/2014/main" id="{90361CA2-4A01-2BD7-8CC5-E6D9F68AB860}"/>
                </a:ext>
              </a:extLst>
            </p:cNvPr>
            <p:cNvSpPr/>
            <p:nvPr/>
          </p:nvSpPr>
          <p:spPr>
            <a:xfrm>
              <a:off x="5102426" y="3845074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altLang="ko-KR" sz="1020" dirty="0"/>
                <a:t>-30%</a:t>
              </a:r>
            </a:p>
          </p:txBody>
        </p:sp>
        <p:sp>
          <p:nvSpPr>
            <p:cNvPr id="17" name="Text 33">
              <a:extLst>
                <a:ext uri="{FF2B5EF4-FFF2-40B4-BE49-F238E27FC236}">
                  <a16:creationId xmlns:a16="http://schemas.microsoft.com/office/drawing/2014/main" id="{1F418486-2A4A-22DB-CF87-3B2B4376CDA1}"/>
                </a:ext>
              </a:extLst>
            </p:cNvPr>
            <p:cNvSpPr/>
            <p:nvPr/>
          </p:nvSpPr>
          <p:spPr>
            <a:xfrm>
              <a:off x="2086868" y="4492349"/>
              <a:ext cx="1620300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/>
                <a:t>F</a:t>
              </a:r>
              <a:endParaRPr lang="en-US" sz="1020" dirty="0"/>
            </a:p>
          </p:txBody>
        </p:sp>
        <p:sp>
          <p:nvSpPr>
            <p:cNvPr id="18" name="Text 34">
              <a:extLst>
                <a:ext uri="{FF2B5EF4-FFF2-40B4-BE49-F238E27FC236}">
                  <a16:creationId xmlns:a16="http://schemas.microsoft.com/office/drawing/2014/main" id="{11099F10-1106-B2C8-200F-FCA2BA244D43}"/>
                </a:ext>
              </a:extLst>
            </p:cNvPr>
            <p:cNvSpPr/>
            <p:nvPr/>
          </p:nvSpPr>
          <p:spPr>
            <a:xfrm>
              <a:off x="3707168" y="4490054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진입 불가</a:t>
              </a:r>
              <a:endParaRPr lang="en-US" sz="1020" dirty="0"/>
            </a:p>
          </p:txBody>
        </p:sp>
        <p:sp>
          <p:nvSpPr>
            <p:cNvPr id="19" name="Text 35">
              <a:extLst>
                <a:ext uri="{FF2B5EF4-FFF2-40B4-BE49-F238E27FC236}">
                  <a16:creationId xmlns:a16="http://schemas.microsoft.com/office/drawing/2014/main" id="{DF0D851A-F6E0-7EC4-8B04-6AD37FC88CFC}"/>
                </a:ext>
              </a:extLst>
            </p:cNvPr>
            <p:cNvSpPr/>
            <p:nvPr/>
          </p:nvSpPr>
          <p:spPr>
            <a:xfrm>
              <a:off x="5102426" y="4490054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20" dirty="0"/>
                <a:t>진입 불가</a:t>
              </a:r>
              <a:endParaRPr lang="en-US" altLang="ko-KR" sz="1020" dirty="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04EB9612-D41C-8711-147F-DBE01DC806BA}"/>
                </a:ext>
              </a:extLst>
            </p:cNvPr>
            <p:cNvSpPr/>
            <p:nvPr/>
          </p:nvSpPr>
          <p:spPr>
            <a:xfrm>
              <a:off x="6497679" y="1910133"/>
              <a:ext cx="1395258" cy="6449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공격력</a:t>
              </a:r>
              <a:endParaRPr lang="en-US" sz="1020" dirty="0"/>
            </a:p>
          </p:txBody>
        </p:sp>
        <p:sp>
          <p:nvSpPr>
            <p:cNvPr id="21" name="Text 14">
              <a:extLst>
                <a:ext uri="{FF2B5EF4-FFF2-40B4-BE49-F238E27FC236}">
                  <a16:creationId xmlns:a16="http://schemas.microsoft.com/office/drawing/2014/main" id="{E7A84581-E443-06D4-1FF0-EE948CA5D628}"/>
                </a:ext>
              </a:extLst>
            </p:cNvPr>
            <p:cNvSpPr/>
            <p:nvPr/>
          </p:nvSpPr>
          <p:spPr>
            <a:xfrm>
              <a:off x="6508846" y="2576958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altLang="ko-KR" sz="1020" dirty="0"/>
                <a:t>0%</a:t>
              </a:r>
              <a:endParaRPr lang="en-US" sz="102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15A8E796-C042-C9F2-8392-075E438CAB27}"/>
                </a:ext>
              </a:extLst>
            </p:cNvPr>
            <p:cNvSpPr/>
            <p:nvPr/>
          </p:nvSpPr>
          <p:spPr>
            <a:xfrm>
              <a:off x="6497686" y="3200095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altLang="ko-KR" sz="1020" dirty="0"/>
                <a:t>-25%</a:t>
              </a:r>
              <a:endParaRPr lang="en-US" sz="1020" dirty="0"/>
            </a:p>
          </p:txBody>
        </p:sp>
        <p:sp>
          <p:nvSpPr>
            <p:cNvPr id="23" name="Text 7">
              <a:extLst>
                <a:ext uri="{FF2B5EF4-FFF2-40B4-BE49-F238E27FC236}">
                  <a16:creationId xmlns:a16="http://schemas.microsoft.com/office/drawing/2014/main" id="{55D92062-C871-9912-8814-F51952C6B9EE}"/>
                </a:ext>
              </a:extLst>
            </p:cNvPr>
            <p:cNvSpPr/>
            <p:nvPr/>
          </p:nvSpPr>
          <p:spPr>
            <a:xfrm>
              <a:off x="7892944" y="1912428"/>
              <a:ext cx="1395258" cy="6449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방어력</a:t>
              </a:r>
              <a:endParaRPr lang="en-US" sz="1020" dirty="0"/>
            </a:p>
          </p:txBody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F2194E4F-0E44-EB2F-6F97-AD49158C036B}"/>
                </a:ext>
              </a:extLst>
            </p:cNvPr>
            <p:cNvSpPr/>
            <p:nvPr/>
          </p:nvSpPr>
          <p:spPr>
            <a:xfrm>
              <a:off x="7892925" y="2576958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altLang="ko-KR" sz="1020" dirty="0"/>
                <a:t>0%</a:t>
              </a:r>
              <a:endParaRPr lang="en-US" sz="1020" dirty="0"/>
            </a:p>
          </p:txBody>
        </p:sp>
        <p:sp>
          <p:nvSpPr>
            <p:cNvPr id="25" name="Text 21">
              <a:extLst>
                <a:ext uri="{FF2B5EF4-FFF2-40B4-BE49-F238E27FC236}">
                  <a16:creationId xmlns:a16="http://schemas.microsoft.com/office/drawing/2014/main" id="{561EA246-C89F-5322-053A-B02E44385796}"/>
                </a:ext>
              </a:extLst>
            </p:cNvPr>
            <p:cNvSpPr/>
            <p:nvPr/>
          </p:nvSpPr>
          <p:spPr>
            <a:xfrm>
              <a:off x="7881755" y="3200094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altLang="ko-KR" sz="1020" dirty="0"/>
                <a:t>-25%</a:t>
              </a:r>
              <a:endParaRPr lang="en-US" sz="1020" dirty="0"/>
            </a:p>
          </p:txBody>
        </p:sp>
        <p:sp>
          <p:nvSpPr>
            <p:cNvPr id="26" name="Text 28">
              <a:extLst>
                <a:ext uri="{FF2B5EF4-FFF2-40B4-BE49-F238E27FC236}">
                  <a16:creationId xmlns:a16="http://schemas.microsoft.com/office/drawing/2014/main" id="{B464AF6D-72B8-15BC-1F97-F5C6DB31474E}"/>
                </a:ext>
              </a:extLst>
            </p:cNvPr>
            <p:cNvSpPr/>
            <p:nvPr/>
          </p:nvSpPr>
          <p:spPr>
            <a:xfrm>
              <a:off x="6486516" y="3845075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altLang="ko-KR" sz="1020" dirty="0"/>
                <a:t>-50%</a:t>
              </a:r>
            </a:p>
          </p:txBody>
        </p:sp>
        <p:sp>
          <p:nvSpPr>
            <p:cNvPr id="27" name="Text 35">
              <a:extLst>
                <a:ext uri="{FF2B5EF4-FFF2-40B4-BE49-F238E27FC236}">
                  <a16:creationId xmlns:a16="http://schemas.microsoft.com/office/drawing/2014/main" id="{1A3B6AA2-8CC5-879B-B80E-6C87948D9BA9}"/>
                </a:ext>
              </a:extLst>
            </p:cNvPr>
            <p:cNvSpPr/>
            <p:nvPr/>
          </p:nvSpPr>
          <p:spPr>
            <a:xfrm>
              <a:off x="6486516" y="4490053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20" dirty="0"/>
                <a:t>진입 불가</a:t>
              </a:r>
              <a:endParaRPr lang="en-US" altLang="ko-KR" sz="1020" dirty="0"/>
            </a:p>
          </p:txBody>
        </p:sp>
        <p:sp>
          <p:nvSpPr>
            <p:cNvPr id="28" name="Text 28">
              <a:extLst>
                <a:ext uri="{FF2B5EF4-FFF2-40B4-BE49-F238E27FC236}">
                  <a16:creationId xmlns:a16="http://schemas.microsoft.com/office/drawing/2014/main" id="{BE89F112-03F0-5AA2-A414-AA0DB83E0F1C}"/>
                </a:ext>
              </a:extLst>
            </p:cNvPr>
            <p:cNvSpPr/>
            <p:nvPr/>
          </p:nvSpPr>
          <p:spPr>
            <a:xfrm>
              <a:off x="7870606" y="3845075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altLang="ko-KR" sz="1020" dirty="0"/>
                <a:t>-50%</a:t>
              </a:r>
              <a:endParaRPr lang="en-US" sz="1020" dirty="0"/>
            </a:p>
          </p:txBody>
        </p:sp>
        <p:sp>
          <p:nvSpPr>
            <p:cNvPr id="29" name="Text 35">
              <a:extLst>
                <a:ext uri="{FF2B5EF4-FFF2-40B4-BE49-F238E27FC236}">
                  <a16:creationId xmlns:a16="http://schemas.microsoft.com/office/drawing/2014/main" id="{5C882AE5-F6DA-B590-4CD2-8B25E87F8A9F}"/>
                </a:ext>
              </a:extLst>
            </p:cNvPr>
            <p:cNvSpPr/>
            <p:nvPr/>
          </p:nvSpPr>
          <p:spPr>
            <a:xfrm>
              <a:off x="7870606" y="4490053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20" dirty="0"/>
                <a:t>진입 불가</a:t>
              </a:r>
              <a:endParaRPr lang="en-US" altLang="ko-KR" sz="1020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2EEDBA4-89E1-42EB-D744-CFC76512EAA4}"/>
              </a:ext>
            </a:extLst>
          </p:cNvPr>
          <p:cNvSpPr txBox="1"/>
          <p:nvPr/>
        </p:nvSpPr>
        <p:spPr>
          <a:xfrm>
            <a:off x="468190" y="1219254"/>
            <a:ext cx="62244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en-US" sz="1500" dirty="0"/>
              <a:t>유닛이 어떤 지형 위에 있느냐에 따라 전투 수치가 달라진다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 A</a:t>
            </a:r>
            <a:r>
              <a:rPr lang="ko-KR" altLang="en-US" sz="1500" dirty="0"/>
              <a:t>등급은 기본 능력 그대로 전투한다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3. B</a:t>
            </a:r>
            <a:r>
              <a:rPr lang="ko-KR" altLang="en-US" sz="1500" dirty="0"/>
              <a:t>등급부터는 명중률</a:t>
            </a:r>
            <a:r>
              <a:rPr lang="en-US" altLang="ko-KR" sz="1500" dirty="0"/>
              <a:t>, </a:t>
            </a:r>
            <a:r>
              <a:rPr lang="ko-KR" altLang="en-US" sz="1500" dirty="0" err="1"/>
              <a:t>회피율</a:t>
            </a:r>
            <a:r>
              <a:rPr lang="en-US" altLang="ko-KR" sz="1500" dirty="0"/>
              <a:t>, </a:t>
            </a:r>
            <a:r>
              <a:rPr lang="ko-KR" altLang="en-US" sz="1500" dirty="0"/>
              <a:t>공격력</a:t>
            </a:r>
            <a:r>
              <a:rPr lang="en-US" altLang="ko-KR" sz="1500" dirty="0"/>
              <a:t>, </a:t>
            </a:r>
            <a:r>
              <a:rPr lang="ko-KR" altLang="en-US" sz="1500" dirty="0"/>
              <a:t>방어력이 감소한다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4. F</a:t>
            </a:r>
            <a:r>
              <a:rPr lang="ko-KR" altLang="en-US" sz="1500" dirty="0"/>
              <a:t>등급은 해당 지형으로 이동할 수 없다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74C96E-ED1F-7C30-71E4-DA735D6AFDE7}"/>
              </a:ext>
            </a:extLst>
          </p:cNvPr>
          <p:cNvSpPr txBox="1"/>
          <p:nvPr/>
        </p:nvSpPr>
        <p:spPr>
          <a:xfrm>
            <a:off x="3048811" y="5873269"/>
            <a:ext cx="609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/>
              <a:t>※</a:t>
            </a:r>
            <a:r>
              <a:rPr lang="ko-KR" altLang="ko-KR" sz="1400" b="1" dirty="0"/>
              <a:t>숲 지형이 </a:t>
            </a:r>
            <a:r>
              <a:rPr lang="ko-KR" altLang="ko-KR" sz="1400" b="1" dirty="0" err="1"/>
              <a:t>B등급인</a:t>
            </a:r>
            <a:r>
              <a:rPr lang="ko-KR" altLang="ko-KR" sz="1400" b="1" dirty="0"/>
              <a:t> 유닛은 숲 위에서 전투할 때 </a:t>
            </a:r>
            <a:r>
              <a:rPr lang="ko-KR" altLang="ko-KR" sz="1400" b="1" dirty="0" err="1"/>
              <a:t>B등급</a:t>
            </a:r>
            <a:r>
              <a:rPr lang="ko-KR" altLang="ko-KR" sz="1400" b="1" dirty="0"/>
              <a:t> 보정을 적용한다.</a:t>
            </a:r>
            <a:endParaRPr lang="ko-KR" altLang="en-US" sz="1300" b="1" dirty="0"/>
          </a:p>
        </p:txBody>
      </p:sp>
    </p:spTree>
    <p:extLst>
      <p:ext uri="{BB962C8B-B14F-4D97-AF65-F5344CB8AC3E}">
        <p14:creationId xmlns:p14="http://schemas.microsoft.com/office/powerpoint/2010/main" val="3356227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468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캐릭터 행동 규칙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sz="1400" dirty="0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sz="1400" dirty="0" err="1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공격</a:t>
            </a:r>
            <a:r>
              <a:rPr lang="en-US" sz="1400" dirty="0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sz="1400" dirty="0" err="1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r>
              <a:rPr lang="en-US" sz="1400" dirty="0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sz="1400" dirty="0" err="1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  <a:r>
              <a:rPr lang="en-US" sz="1400" dirty="0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sz="1400" dirty="0" err="1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대기</a:t>
            </a:r>
            <a:r>
              <a:rPr lang="en-US" sz="1400" dirty="0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sz="1400" dirty="0" err="1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취소</a:t>
            </a:r>
            <a:r>
              <a:rPr lang="en-US" sz="1400" dirty="0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ko-KR" altLang="en-US" sz="1400" dirty="0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altLang="ko-KR" sz="1400" dirty="0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400" dirty="0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sz="1400" dirty="0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D6E8FF"/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sz="1400" dirty="0" err="1">
              <a:latin typeface="Malgun Gothic"/>
              <a:ea typeface="Malgun Gothic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E653C79-47A7-1DEC-056C-838D3C9EAB15}"/>
              </a:ext>
            </a:extLst>
          </p:cNvPr>
          <p:cNvSpPr/>
          <p:nvPr/>
        </p:nvSpPr>
        <p:spPr>
          <a:xfrm>
            <a:off x="749808" y="3125805"/>
            <a:ext cx="438912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캐릭터 행동 규칙 - 기본 규칙과 이동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5394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기본</a:t>
            </a:r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행동</a:t>
            </a:r>
            <a:r>
              <a:rPr lang="en-US" altLang="ko-KR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ko-KR" alt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규칙</a:t>
            </a:r>
            <a:endParaRPr lang="ko-KR" altLang="en-US" sz="1700" b="1" dirty="0">
              <a:solidFill>
                <a:srgbClr val="1F3A5F"/>
              </a:solidFill>
              <a:latin typeface="Malgun Gothic"/>
              <a:ea typeface="Malgun Gothic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6072" y="3958390"/>
            <a:ext cx="53949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ko-KR" alt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범위</a:t>
            </a:r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ko-KR" alt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규칙</a:t>
            </a:r>
            <a:endParaRPr lang="ko-KR" altLang="en-US" sz="1700" b="1" dirty="0">
              <a:solidFill>
                <a:srgbClr val="1F3A5F"/>
              </a:solidFill>
              <a:latin typeface="Malgun Gothic"/>
              <a:ea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95DD7-EC51-507E-F75A-8FB66370AEAA}"/>
              </a:ext>
            </a:extLst>
          </p:cNvPr>
          <p:cNvSpPr txBox="1"/>
          <p:nvPr/>
        </p:nvSpPr>
        <p:spPr>
          <a:xfrm>
            <a:off x="591552" y="1714499"/>
            <a:ext cx="871286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1. 유닛은 한 턴에 한 번 행동 할 수 있다.</a:t>
            </a:r>
          </a:p>
          <a:p>
            <a:r>
              <a:rPr lang="ko-KR" altLang="en-US">
                <a:ea typeface="맑은 고딕"/>
              </a:rPr>
              <a:t>2. 행동 가능한 유닛은 이동, 공격, 특수능력, 대기중 하나를 선택 할 수 있다.</a:t>
            </a:r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3. 이동 후 공격 또는 특수 능력을 사용 할 수 있다.</a:t>
            </a:r>
          </a:p>
          <a:p>
            <a:r>
              <a:rPr lang="ko-KR" altLang="en-US">
                <a:ea typeface="맑은 고딕"/>
              </a:rPr>
              <a:t>4. 공격, 특수능력, 대기를 확정하면 해당 유닛의 행동은 종료된다.</a:t>
            </a:r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5. 행동이 끝난 유닛은 다음 턴 까지 다시 행동 할 수 없다.</a:t>
            </a:r>
            <a:endParaRPr lang="ko-KR" altLang="en-US" dirty="0"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EC3E5B-E29C-2E56-3E11-BBE3CC081489}"/>
              </a:ext>
            </a:extLst>
          </p:cNvPr>
          <p:cNvSpPr txBox="1"/>
          <p:nvPr/>
        </p:nvSpPr>
        <p:spPr>
          <a:xfrm>
            <a:off x="531394" y="4531895"/>
            <a:ext cx="8712869" cy="13747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025"/>
              </a:lnSpc>
            </a:pPr>
            <a:r>
              <a:rPr lang="ko-KR" dirty="0">
                <a:solidFill>
                  <a:srgbClr val="000000"/>
                </a:solidFill>
                <a:latin typeface="Malgun Gothic"/>
                <a:ea typeface="Malgun Gothic"/>
                <a:cs typeface="맑은 고딕"/>
              </a:rPr>
              <a:t>1. </a:t>
            </a:r>
            <a:r>
              <a:rPr lang="ko-KR" altLang="en-US" dirty="0">
                <a:solidFill>
                  <a:srgbClr val="000000"/>
                </a:solidFill>
                <a:latin typeface="Malgun Gothic"/>
                <a:ea typeface="맑은 고딕"/>
                <a:cs typeface="맑은 고딕"/>
              </a:rPr>
              <a:t>유닛을 선택하면 이동 가능한 범위를 타일로 표시한다.</a:t>
            </a:r>
            <a:endParaRPr lang="ko-KR" dirty="0">
              <a:ea typeface="맑은 고딕"/>
            </a:endParaRPr>
          </a:p>
          <a:p>
            <a:pPr>
              <a:lnSpc>
                <a:spcPts val="2025"/>
              </a:lnSpc>
            </a:pPr>
            <a:r>
              <a:rPr lang="en-US" dirty="0">
                <a:latin typeface="Malgun Gothic"/>
                <a:ea typeface="맑은 고딕"/>
              </a:rPr>
              <a:t>2. </a:t>
            </a:r>
            <a:r>
              <a:rPr lang="ko-KR" altLang="en-US" dirty="0">
                <a:latin typeface="Malgun Gothic"/>
                <a:ea typeface="맑은 고딕"/>
              </a:rPr>
              <a:t>이동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en-US" dirty="0" err="1">
                <a:latin typeface="Malgun Gothic"/>
                <a:ea typeface="맑은 고딕"/>
              </a:rPr>
              <a:t>범위는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ko-KR" altLang="en-US" dirty="0">
                <a:latin typeface="Malgun Gothic"/>
                <a:ea typeface="맑은 고딕"/>
              </a:rPr>
              <a:t>유닛의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ko-KR" altLang="en-US" dirty="0">
                <a:latin typeface="Malgun Gothic"/>
                <a:ea typeface="맑은 고딕"/>
              </a:rPr>
              <a:t>이동력과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ko-KR" altLang="en-US" dirty="0">
                <a:latin typeface="Malgun Gothic"/>
                <a:ea typeface="맑은 고딕"/>
              </a:rPr>
              <a:t>지형별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ko-KR" altLang="en-US" dirty="0">
                <a:latin typeface="Malgun Gothic"/>
                <a:ea typeface="맑은 고딕"/>
              </a:rPr>
              <a:t>이동력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ko-KR" altLang="en-US" dirty="0">
                <a:latin typeface="Malgun Gothic"/>
                <a:ea typeface="맑은 고딕"/>
              </a:rPr>
              <a:t>소모량을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ko-KR" altLang="en-US" dirty="0">
                <a:latin typeface="Malgun Gothic"/>
                <a:ea typeface="맑은 고딕"/>
              </a:rPr>
              <a:t>기준으로</a:t>
            </a:r>
            <a:r>
              <a:rPr lang="en-US" altLang="ko-KR" dirty="0">
                <a:latin typeface="Malgun Gothic"/>
                <a:ea typeface="맑은 고딕"/>
              </a:rPr>
              <a:t> </a:t>
            </a:r>
            <a:r>
              <a:rPr lang="ko-KR" altLang="en-US" dirty="0">
                <a:latin typeface="Malgun Gothic"/>
                <a:ea typeface="맑은 고딕"/>
              </a:rPr>
              <a:t>계산한다</a:t>
            </a:r>
            <a:r>
              <a:rPr lang="en-US" altLang="ko-KR" dirty="0">
                <a:latin typeface="Malgun Gothic"/>
                <a:ea typeface="맑은 고딕"/>
              </a:rPr>
              <a:t>.</a:t>
            </a:r>
            <a:endParaRPr lang="ko-KR" altLang="en-US" dirty="0">
              <a:latin typeface="Malgun Gothic"/>
              <a:ea typeface="맑은 고딕"/>
            </a:endParaRPr>
          </a:p>
          <a:p>
            <a:pPr>
              <a:lnSpc>
                <a:spcPts val="2025"/>
              </a:lnSpc>
            </a:pPr>
            <a:r>
              <a:rPr lang="en-US" dirty="0">
                <a:latin typeface="Malgun Gothic"/>
                <a:ea typeface="맑은 고딕"/>
              </a:rPr>
              <a:t>3. </a:t>
            </a:r>
            <a:r>
              <a:rPr lang="ko-KR" altLang="en-US" dirty="0">
                <a:latin typeface="Malgun Gothic"/>
                <a:ea typeface="맑은 고딕"/>
              </a:rPr>
              <a:t>플레이어는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en-US" dirty="0" err="1">
                <a:latin typeface="Malgun Gothic"/>
                <a:ea typeface="맑은 고딕"/>
              </a:rPr>
              <a:t>이동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en-US" dirty="0" err="1">
                <a:latin typeface="Malgun Gothic"/>
                <a:ea typeface="맑은 고딕"/>
              </a:rPr>
              <a:t>가능한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en-US" dirty="0" err="1">
                <a:latin typeface="Malgun Gothic"/>
                <a:ea typeface="맑은 고딕"/>
              </a:rPr>
              <a:t>타일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ko-KR" altLang="en-US" dirty="0">
                <a:latin typeface="Malgun Gothic"/>
                <a:ea typeface="맑은 고딕"/>
              </a:rPr>
              <a:t>중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ko-KR" altLang="en-US" dirty="0">
                <a:latin typeface="Malgun Gothic"/>
                <a:ea typeface="맑은 고딕"/>
              </a:rPr>
              <a:t>목적지를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ko-KR" altLang="en-US" dirty="0">
                <a:latin typeface="Malgun Gothic"/>
                <a:ea typeface="맑은 고딕"/>
              </a:rPr>
              <a:t>선택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ko-KR" altLang="en-US" dirty="0">
                <a:latin typeface="Malgun Gothic"/>
                <a:ea typeface="맑은 고딕"/>
              </a:rPr>
              <a:t>할수</a:t>
            </a:r>
            <a:r>
              <a:rPr lang="en-US" dirty="0">
                <a:latin typeface="Malgun Gothic"/>
                <a:ea typeface="맑은 고딕"/>
              </a:rPr>
              <a:t> </a:t>
            </a:r>
            <a:r>
              <a:rPr lang="ko-KR" altLang="en-US" dirty="0">
                <a:latin typeface="Malgun Gothic"/>
                <a:ea typeface="맑은 고딕"/>
              </a:rPr>
              <a:t>있다</a:t>
            </a:r>
            <a:r>
              <a:rPr lang="en-US" altLang="ko-KR" dirty="0">
                <a:latin typeface="Malgun Gothic"/>
                <a:ea typeface="맑은 고딕"/>
              </a:rPr>
              <a:t>.</a:t>
            </a:r>
            <a:endParaRPr lang="ko-KR" altLang="en-US" dirty="0">
              <a:latin typeface="Malgun Gothic"/>
              <a:ea typeface="맑은 고딕"/>
            </a:endParaRPr>
          </a:p>
          <a:p>
            <a:pPr>
              <a:lnSpc>
                <a:spcPts val="2025"/>
              </a:lnSpc>
            </a:pPr>
            <a:r>
              <a:rPr lang="en-US" altLang="ko-KR" dirty="0">
                <a:latin typeface="Malgun Gothic"/>
                <a:ea typeface="맑은 고딕"/>
              </a:rPr>
              <a:t>4. </a:t>
            </a:r>
            <a:r>
              <a:rPr lang="en-US" altLang="ko-KR" dirty="0" err="1">
                <a:latin typeface="Malgun Gothic"/>
                <a:ea typeface="맑은 고딕"/>
              </a:rPr>
              <a:t>목적지를</a:t>
            </a:r>
            <a:r>
              <a:rPr lang="en-US" altLang="ko-KR" dirty="0">
                <a:latin typeface="Malgun Gothic"/>
                <a:ea typeface="맑은 고딕"/>
              </a:rPr>
              <a:t> </a:t>
            </a:r>
            <a:r>
              <a:rPr lang="en-US" altLang="ko-KR" dirty="0" err="1">
                <a:latin typeface="Malgun Gothic"/>
                <a:ea typeface="맑은 고딕"/>
              </a:rPr>
              <a:t>확정하면</a:t>
            </a:r>
            <a:r>
              <a:rPr lang="en-US" altLang="ko-KR" dirty="0">
                <a:latin typeface="Malgun Gothic"/>
                <a:ea typeface="맑은 고딕"/>
              </a:rPr>
              <a:t> </a:t>
            </a:r>
            <a:r>
              <a:rPr lang="en-US" altLang="ko-KR" dirty="0" err="1">
                <a:latin typeface="Malgun Gothic"/>
                <a:ea typeface="맑은 고딕"/>
              </a:rPr>
              <a:t>유닛은</a:t>
            </a:r>
            <a:r>
              <a:rPr lang="en-US" altLang="ko-KR" dirty="0">
                <a:latin typeface="Malgun Gothic"/>
                <a:ea typeface="맑은 고딕"/>
              </a:rPr>
              <a:t> </a:t>
            </a:r>
            <a:r>
              <a:rPr lang="en-US" altLang="ko-KR" dirty="0" err="1">
                <a:latin typeface="Malgun Gothic"/>
                <a:ea typeface="맑은 고딕"/>
              </a:rPr>
              <a:t>해당</a:t>
            </a:r>
            <a:r>
              <a:rPr lang="en-US" altLang="ko-KR" dirty="0">
                <a:latin typeface="Malgun Gothic"/>
                <a:ea typeface="맑은 고딕"/>
              </a:rPr>
              <a:t> </a:t>
            </a:r>
            <a:r>
              <a:rPr lang="en-US" altLang="ko-KR" dirty="0" err="1">
                <a:latin typeface="Malgun Gothic"/>
                <a:ea typeface="맑은 고딕"/>
              </a:rPr>
              <a:t>위치로</a:t>
            </a:r>
            <a:r>
              <a:rPr lang="en-US" altLang="ko-KR" dirty="0">
                <a:latin typeface="Malgun Gothic"/>
                <a:ea typeface="맑은 고딕"/>
              </a:rPr>
              <a:t> </a:t>
            </a:r>
            <a:r>
              <a:rPr lang="en-US" altLang="ko-KR" dirty="0" err="1">
                <a:latin typeface="Malgun Gothic"/>
                <a:ea typeface="맑은 고딕"/>
              </a:rPr>
              <a:t>이동한다</a:t>
            </a:r>
            <a:r>
              <a:rPr lang="en-US" altLang="ko-KR" dirty="0">
                <a:latin typeface="Malgun Gothic"/>
                <a:ea typeface="맑은 고딕"/>
              </a:rPr>
              <a:t>.</a:t>
            </a:r>
          </a:p>
          <a:p>
            <a:pPr>
              <a:lnSpc>
                <a:spcPts val="2025"/>
              </a:lnSpc>
            </a:pPr>
            <a:r>
              <a:rPr lang="en-US" altLang="ko-KR" dirty="0">
                <a:latin typeface="Malgun Gothic"/>
                <a:ea typeface="맑은 고딕"/>
              </a:rPr>
              <a:t>5. </a:t>
            </a:r>
            <a:r>
              <a:rPr lang="en-US" altLang="ko-KR" dirty="0" err="1">
                <a:latin typeface="Malgun Gothic"/>
                <a:ea typeface="맑은 고딕"/>
              </a:rPr>
              <a:t>이동</a:t>
            </a:r>
            <a:r>
              <a:rPr lang="en-US" altLang="ko-KR" dirty="0">
                <a:latin typeface="Malgun Gothic"/>
                <a:ea typeface="맑은 고딕"/>
              </a:rPr>
              <a:t> </a:t>
            </a:r>
            <a:r>
              <a:rPr lang="en-US" altLang="ko-KR" dirty="0" err="1">
                <a:latin typeface="Malgun Gothic"/>
                <a:ea typeface="맑은 고딕"/>
              </a:rPr>
              <a:t>불가</a:t>
            </a:r>
            <a:r>
              <a:rPr lang="en-US" altLang="ko-KR" dirty="0">
                <a:latin typeface="Malgun Gothic"/>
                <a:ea typeface="맑은 고딕"/>
              </a:rPr>
              <a:t> </a:t>
            </a:r>
            <a:r>
              <a:rPr lang="en-US" altLang="ko-KR" dirty="0" err="1">
                <a:latin typeface="Malgun Gothic"/>
                <a:ea typeface="맑은 고딕"/>
              </a:rPr>
              <a:t>지형이나</a:t>
            </a:r>
            <a:r>
              <a:rPr lang="en-US" altLang="ko-KR" dirty="0">
                <a:latin typeface="Malgun Gothic"/>
                <a:ea typeface="맑은 고딕"/>
              </a:rPr>
              <a:t> </a:t>
            </a:r>
            <a:r>
              <a:rPr lang="en-US" altLang="ko-KR" dirty="0" err="1">
                <a:latin typeface="Malgun Gothic"/>
                <a:ea typeface="맑은 고딕"/>
              </a:rPr>
              <a:t>이동력이</a:t>
            </a:r>
            <a:r>
              <a:rPr lang="en-US" altLang="ko-KR" dirty="0">
                <a:latin typeface="Malgun Gothic"/>
                <a:ea typeface="맑은 고딕"/>
              </a:rPr>
              <a:t> </a:t>
            </a:r>
            <a:r>
              <a:rPr lang="en-US" altLang="ko-KR" dirty="0" err="1">
                <a:latin typeface="Malgun Gothic"/>
                <a:ea typeface="맑은 고딕"/>
              </a:rPr>
              <a:t>부족한</a:t>
            </a:r>
            <a:r>
              <a:rPr lang="en-US" altLang="ko-KR" dirty="0">
                <a:latin typeface="Malgun Gothic"/>
                <a:ea typeface="맑은 고딕"/>
              </a:rPr>
              <a:t> </a:t>
            </a:r>
            <a:r>
              <a:rPr lang="en-US" altLang="ko-KR" dirty="0" err="1">
                <a:latin typeface="Malgun Gothic"/>
                <a:ea typeface="맑은 고딕"/>
              </a:rPr>
              <a:t>위치는</a:t>
            </a:r>
            <a:r>
              <a:rPr lang="en-US" altLang="ko-KR" dirty="0">
                <a:latin typeface="Malgun Gothic"/>
                <a:ea typeface="맑은 고딕"/>
              </a:rPr>
              <a:t> </a:t>
            </a:r>
            <a:r>
              <a:rPr lang="en-US" altLang="ko-KR" dirty="0" err="1">
                <a:latin typeface="Malgun Gothic"/>
                <a:ea typeface="맑은 고딕"/>
              </a:rPr>
              <a:t>선택</a:t>
            </a:r>
            <a:r>
              <a:rPr lang="en-US" altLang="ko-KR" dirty="0">
                <a:latin typeface="Malgun Gothic"/>
                <a:ea typeface="맑은 고딕"/>
              </a:rPr>
              <a:t> 할 수 </a:t>
            </a:r>
            <a:r>
              <a:rPr lang="en-US" altLang="ko-KR" dirty="0" err="1">
                <a:latin typeface="Malgun Gothic"/>
                <a:ea typeface="맑은 고딕"/>
              </a:rPr>
              <a:t>없다</a:t>
            </a:r>
            <a:r>
              <a:rPr lang="en-US" altLang="ko-KR" dirty="0">
                <a:latin typeface="Malgun Gothic"/>
                <a:ea typeface="맑은 고딕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BD0EF-3C63-667C-6F55-377CC9D237D5}"/>
              </a:ext>
            </a:extLst>
          </p:cNvPr>
          <p:cNvSpPr txBox="1"/>
          <p:nvPr/>
        </p:nvSpPr>
        <p:spPr>
          <a:xfrm>
            <a:off x="576072" y="74547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공격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대기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CA5576-354D-2D97-F5A4-0AF31DA38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928FA1E-D89B-8D85-24B1-4904317BA72A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캐릭터 행동 </a:t>
            </a:r>
            <a:r>
              <a:rPr lang="en-US" sz="25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– </a:t>
            </a:r>
            <a:r>
              <a:rPr lang="en-US" sz="25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플로우차트</a:t>
            </a:r>
            <a:endParaRPr lang="en-US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EB6C9B-AD0B-1C43-7075-0D615A037E1B}"/>
              </a:ext>
            </a:extLst>
          </p:cNvPr>
          <p:cNvSpPr txBox="1"/>
          <p:nvPr/>
        </p:nvSpPr>
        <p:spPr>
          <a:xfrm>
            <a:off x="576072" y="74547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공격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대기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Malgun Gothic"/>
              <a:ea typeface="Malgun Gothic"/>
            </a:endParaRPr>
          </a:p>
        </p:txBody>
      </p:sp>
      <p:sp>
        <p:nvSpPr>
          <p:cNvPr id="10" name="순서도: 수행의 시작/종료 9">
            <a:extLst>
              <a:ext uri="{FF2B5EF4-FFF2-40B4-BE49-F238E27FC236}">
                <a16:creationId xmlns:a16="http://schemas.microsoft.com/office/drawing/2014/main" id="{88E1625D-433F-DEBE-6421-54EB5994846F}"/>
              </a:ext>
            </a:extLst>
          </p:cNvPr>
          <p:cNvSpPr/>
          <p:nvPr/>
        </p:nvSpPr>
        <p:spPr>
          <a:xfrm>
            <a:off x="2945568" y="1223698"/>
            <a:ext cx="690664" cy="246221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시작</a:t>
            </a: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A4AFC690-DB29-0944-B111-3738665FD136}"/>
              </a:ext>
            </a:extLst>
          </p:cNvPr>
          <p:cNvSpPr/>
          <p:nvPr/>
        </p:nvSpPr>
        <p:spPr>
          <a:xfrm>
            <a:off x="2704807" y="1719104"/>
            <a:ext cx="1172182" cy="3501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아군 유닛 선택</a:t>
            </a:r>
          </a:p>
        </p:txBody>
      </p:sp>
      <p:sp>
        <p:nvSpPr>
          <p:cNvPr id="12" name="순서도: 판단 11">
            <a:extLst>
              <a:ext uri="{FF2B5EF4-FFF2-40B4-BE49-F238E27FC236}">
                <a16:creationId xmlns:a16="http://schemas.microsoft.com/office/drawing/2014/main" id="{30610198-3339-0101-F128-8D5F813751A1}"/>
              </a:ext>
            </a:extLst>
          </p:cNvPr>
          <p:cNvSpPr/>
          <p:nvPr/>
        </p:nvSpPr>
        <p:spPr>
          <a:xfrm>
            <a:off x="2609963" y="2348758"/>
            <a:ext cx="1361872" cy="64202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행동 가능한 유닛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3D45671F-EA38-C9AA-97FE-1A69337B218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3290898" y="1469919"/>
            <a:ext cx="2" cy="2491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1684470-9855-EE86-D1AF-B69685733E50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3290898" y="2069299"/>
            <a:ext cx="1" cy="2794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3E078C10-3D4B-B4D4-47BB-2F8FCB867AF2}"/>
              </a:ext>
            </a:extLst>
          </p:cNvPr>
          <p:cNvSpPr/>
          <p:nvPr/>
        </p:nvSpPr>
        <p:spPr>
          <a:xfrm>
            <a:off x="2704807" y="3334425"/>
            <a:ext cx="1172183" cy="3501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행동 선택 표시 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B42B5C3-73EA-F1C3-00DF-37EAB67F9499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3290899" y="2990783"/>
            <a:ext cx="0" cy="3436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13CAAAA-4680-FC81-2068-3836256C0A87}"/>
              </a:ext>
            </a:extLst>
          </p:cNvPr>
          <p:cNvCxnSpPr>
            <a:cxnSpLocks/>
            <a:stCxn id="13" idx="2"/>
            <a:endCxn id="37" idx="0"/>
          </p:cNvCxnSpPr>
          <p:nvPr/>
        </p:nvCxnSpPr>
        <p:spPr>
          <a:xfrm>
            <a:off x="3290899" y="3684620"/>
            <a:ext cx="1" cy="2918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순서도: 판단 36">
            <a:extLst>
              <a:ext uri="{FF2B5EF4-FFF2-40B4-BE49-F238E27FC236}">
                <a16:creationId xmlns:a16="http://schemas.microsoft.com/office/drawing/2014/main" id="{14C8DACA-793A-27C4-A300-9C8E1D243C8E}"/>
              </a:ext>
            </a:extLst>
          </p:cNvPr>
          <p:cNvSpPr/>
          <p:nvPr/>
        </p:nvSpPr>
        <p:spPr>
          <a:xfrm>
            <a:off x="2609964" y="3976450"/>
            <a:ext cx="1361872" cy="64202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이동 먼저 선택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38" name="순서도: 판단 37">
            <a:extLst>
              <a:ext uri="{FF2B5EF4-FFF2-40B4-BE49-F238E27FC236}">
                <a16:creationId xmlns:a16="http://schemas.microsoft.com/office/drawing/2014/main" id="{F5A15CFF-639F-0B5A-B52C-FC9F533AE114}"/>
              </a:ext>
            </a:extLst>
          </p:cNvPr>
          <p:cNvSpPr/>
          <p:nvPr/>
        </p:nvSpPr>
        <p:spPr>
          <a:xfrm>
            <a:off x="4347972" y="3976450"/>
            <a:ext cx="1361872" cy="64202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공격 선택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39" name="순서도: 판단 38">
            <a:extLst>
              <a:ext uri="{FF2B5EF4-FFF2-40B4-BE49-F238E27FC236}">
                <a16:creationId xmlns:a16="http://schemas.microsoft.com/office/drawing/2014/main" id="{88B73E86-2E39-11A0-E8D7-2ACE5B20A6F3}"/>
              </a:ext>
            </a:extLst>
          </p:cNvPr>
          <p:cNvSpPr/>
          <p:nvPr/>
        </p:nvSpPr>
        <p:spPr>
          <a:xfrm>
            <a:off x="6085980" y="3976450"/>
            <a:ext cx="1361872" cy="64202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특수 능력 선택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D0A9BD77-562A-767B-B519-BBFEE8AEB18A}"/>
              </a:ext>
            </a:extLst>
          </p:cNvPr>
          <p:cNvSpPr/>
          <p:nvPr/>
        </p:nvSpPr>
        <p:spPr>
          <a:xfrm>
            <a:off x="7818023" y="3976449"/>
            <a:ext cx="1361872" cy="64202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대기 선택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41" name="순서도: 처리 40">
            <a:extLst>
              <a:ext uri="{FF2B5EF4-FFF2-40B4-BE49-F238E27FC236}">
                <a16:creationId xmlns:a16="http://schemas.microsoft.com/office/drawing/2014/main" id="{8D113760-1501-E666-CE0B-C41825169011}"/>
              </a:ext>
            </a:extLst>
          </p:cNvPr>
          <p:cNvSpPr/>
          <p:nvPr/>
        </p:nvSpPr>
        <p:spPr>
          <a:xfrm>
            <a:off x="1192156" y="4917962"/>
            <a:ext cx="1172183" cy="3501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이동 범위 표시</a:t>
            </a:r>
          </a:p>
        </p:txBody>
      </p:sp>
      <p:sp>
        <p:nvSpPr>
          <p:cNvPr id="42" name="순서도: 처리 41">
            <a:extLst>
              <a:ext uri="{FF2B5EF4-FFF2-40B4-BE49-F238E27FC236}">
                <a16:creationId xmlns:a16="http://schemas.microsoft.com/office/drawing/2014/main" id="{8DC4F091-8D53-C6B9-E45C-2A88F39DCA45}"/>
              </a:ext>
            </a:extLst>
          </p:cNvPr>
          <p:cNvSpPr/>
          <p:nvPr/>
        </p:nvSpPr>
        <p:spPr>
          <a:xfrm>
            <a:off x="4448781" y="4926800"/>
            <a:ext cx="1172183" cy="3501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공격 대상 선택</a:t>
            </a: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549849AD-7CA3-CBF2-31DA-86A8D4CCAA2F}"/>
              </a:ext>
            </a:extLst>
          </p:cNvPr>
          <p:cNvSpPr/>
          <p:nvPr/>
        </p:nvSpPr>
        <p:spPr>
          <a:xfrm>
            <a:off x="6180823" y="4933287"/>
            <a:ext cx="1172183" cy="3501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조건 확인</a:t>
            </a:r>
          </a:p>
        </p:txBody>
      </p:sp>
      <p:sp>
        <p:nvSpPr>
          <p:cNvPr id="44" name="순서도: 처리 43">
            <a:extLst>
              <a:ext uri="{FF2B5EF4-FFF2-40B4-BE49-F238E27FC236}">
                <a16:creationId xmlns:a16="http://schemas.microsoft.com/office/drawing/2014/main" id="{7CB8F954-8B30-AC68-1508-73195E19D25C}"/>
              </a:ext>
            </a:extLst>
          </p:cNvPr>
          <p:cNvSpPr/>
          <p:nvPr/>
        </p:nvSpPr>
        <p:spPr>
          <a:xfrm>
            <a:off x="7912866" y="4936846"/>
            <a:ext cx="1172183" cy="3501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대기</a:t>
            </a:r>
          </a:p>
        </p:txBody>
      </p:sp>
      <p:sp>
        <p:nvSpPr>
          <p:cNvPr id="45" name="순서도: 처리 44">
            <a:extLst>
              <a:ext uri="{FF2B5EF4-FFF2-40B4-BE49-F238E27FC236}">
                <a16:creationId xmlns:a16="http://schemas.microsoft.com/office/drawing/2014/main" id="{156035B3-5BB9-16FE-A3D4-CF2988CB8136}"/>
              </a:ext>
            </a:extLst>
          </p:cNvPr>
          <p:cNvSpPr/>
          <p:nvPr/>
        </p:nvSpPr>
        <p:spPr>
          <a:xfrm>
            <a:off x="1194000" y="5556324"/>
            <a:ext cx="1172183" cy="3501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목적지 선택</a:t>
            </a:r>
          </a:p>
        </p:txBody>
      </p:sp>
      <p:sp>
        <p:nvSpPr>
          <p:cNvPr id="46" name="순서도: 처리 45">
            <a:extLst>
              <a:ext uri="{FF2B5EF4-FFF2-40B4-BE49-F238E27FC236}">
                <a16:creationId xmlns:a16="http://schemas.microsoft.com/office/drawing/2014/main" id="{3DDAFAA2-14B0-3510-FC9C-F2A95E39D15B}"/>
              </a:ext>
            </a:extLst>
          </p:cNvPr>
          <p:cNvSpPr/>
          <p:nvPr/>
        </p:nvSpPr>
        <p:spPr>
          <a:xfrm>
            <a:off x="4448781" y="5584827"/>
            <a:ext cx="1172183" cy="3501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공격 실행</a:t>
            </a:r>
          </a:p>
        </p:txBody>
      </p:sp>
      <p:sp>
        <p:nvSpPr>
          <p:cNvPr id="47" name="순서도: 처리 46">
            <a:extLst>
              <a:ext uri="{FF2B5EF4-FFF2-40B4-BE49-F238E27FC236}">
                <a16:creationId xmlns:a16="http://schemas.microsoft.com/office/drawing/2014/main" id="{DE97073D-8E2C-3E65-7C1E-472AA217E6B4}"/>
              </a:ext>
            </a:extLst>
          </p:cNvPr>
          <p:cNvSpPr/>
          <p:nvPr/>
        </p:nvSpPr>
        <p:spPr>
          <a:xfrm>
            <a:off x="6180821" y="6195968"/>
            <a:ext cx="1172183" cy="3501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행동 종료</a:t>
            </a:r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D16312D4-382D-530C-8D97-76305F370FF3}"/>
              </a:ext>
            </a:extLst>
          </p:cNvPr>
          <p:cNvSpPr/>
          <p:nvPr/>
        </p:nvSpPr>
        <p:spPr>
          <a:xfrm>
            <a:off x="1194000" y="6184726"/>
            <a:ext cx="1172183" cy="3501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이동 확정</a:t>
            </a:r>
          </a:p>
        </p:txBody>
      </p:sp>
      <p:sp>
        <p:nvSpPr>
          <p:cNvPr id="50" name="순서도: 수행의 시작/종료 49">
            <a:extLst>
              <a:ext uri="{FF2B5EF4-FFF2-40B4-BE49-F238E27FC236}">
                <a16:creationId xmlns:a16="http://schemas.microsoft.com/office/drawing/2014/main" id="{68B76734-B7E8-AF8C-693B-7CE0EB896505}"/>
              </a:ext>
            </a:extLst>
          </p:cNvPr>
          <p:cNvSpPr/>
          <p:nvPr/>
        </p:nvSpPr>
        <p:spPr>
          <a:xfrm>
            <a:off x="8165555" y="6247954"/>
            <a:ext cx="690664" cy="246221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끝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4F0C30F8-0D09-35B2-04F5-D2DB9963E956}"/>
              </a:ext>
            </a:extLst>
          </p:cNvPr>
          <p:cNvCxnSpPr>
            <a:stCxn id="37" idx="3"/>
            <a:endCxn id="38" idx="1"/>
          </p:cNvCxnSpPr>
          <p:nvPr/>
        </p:nvCxnSpPr>
        <p:spPr>
          <a:xfrm>
            <a:off x="3971836" y="4297463"/>
            <a:ext cx="37613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E8BDD6F7-7655-90D8-EAD3-5D38745B3EF6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5709844" y="4297463"/>
            <a:ext cx="37613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03FF943-1AA0-CB0C-3D72-E66D801FC525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 flipV="1">
            <a:off x="7447852" y="4297462"/>
            <a:ext cx="370171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DCF78ADE-2A5D-9745-6680-5F88110DB510}"/>
              </a:ext>
            </a:extLst>
          </p:cNvPr>
          <p:cNvCxnSpPr>
            <a:cxnSpLocks/>
            <a:stCxn id="37" idx="1"/>
            <a:endCxn id="41" idx="0"/>
          </p:cNvCxnSpPr>
          <p:nvPr/>
        </p:nvCxnSpPr>
        <p:spPr>
          <a:xfrm rot="10800000" flipV="1">
            <a:off x="1778248" y="4297462"/>
            <a:ext cx="831716" cy="62049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7D43065E-EC2F-6666-B4D3-0B413417DDEC}"/>
              </a:ext>
            </a:extLst>
          </p:cNvPr>
          <p:cNvCxnSpPr>
            <a:cxnSpLocks/>
            <a:stCxn id="41" idx="2"/>
            <a:endCxn id="45" idx="0"/>
          </p:cNvCxnSpPr>
          <p:nvPr/>
        </p:nvCxnSpPr>
        <p:spPr>
          <a:xfrm>
            <a:off x="1778248" y="5268157"/>
            <a:ext cx="1844" cy="288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FD031BC4-3EBC-3989-93B4-FD4A5F02CA9D}"/>
              </a:ext>
            </a:extLst>
          </p:cNvPr>
          <p:cNvCxnSpPr>
            <a:cxnSpLocks/>
            <a:stCxn id="45" idx="2"/>
            <a:endCxn id="49" idx="0"/>
          </p:cNvCxnSpPr>
          <p:nvPr/>
        </p:nvCxnSpPr>
        <p:spPr>
          <a:xfrm>
            <a:off x="1780092" y="5906519"/>
            <a:ext cx="0" cy="2782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D518A22B-5F71-1FAC-C196-FA697C88B703}"/>
              </a:ext>
            </a:extLst>
          </p:cNvPr>
          <p:cNvCxnSpPr>
            <a:cxnSpLocks/>
            <a:stCxn id="183" idx="3"/>
            <a:endCxn id="47" idx="1"/>
          </p:cNvCxnSpPr>
          <p:nvPr/>
        </p:nvCxnSpPr>
        <p:spPr>
          <a:xfrm>
            <a:off x="5614999" y="6365650"/>
            <a:ext cx="565822" cy="54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905A45C5-EBF8-53E1-6016-DE0E8C043E8B}"/>
              </a:ext>
            </a:extLst>
          </p:cNvPr>
          <p:cNvCxnSpPr>
            <a:cxnSpLocks/>
            <a:stCxn id="38" idx="2"/>
            <a:endCxn id="42" idx="0"/>
          </p:cNvCxnSpPr>
          <p:nvPr/>
        </p:nvCxnSpPr>
        <p:spPr>
          <a:xfrm>
            <a:off x="5028908" y="4618475"/>
            <a:ext cx="5965" cy="3083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E66B3A94-5D4D-F4C1-E1E0-D7FE3A715C29}"/>
              </a:ext>
            </a:extLst>
          </p:cNvPr>
          <p:cNvCxnSpPr>
            <a:cxnSpLocks/>
            <a:stCxn id="42" idx="2"/>
            <a:endCxn id="46" idx="0"/>
          </p:cNvCxnSpPr>
          <p:nvPr/>
        </p:nvCxnSpPr>
        <p:spPr>
          <a:xfrm>
            <a:off x="5034873" y="5276995"/>
            <a:ext cx="0" cy="3078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55F99437-3489-E568-9637-20BED531D744}"/>
              </a:ext>
            </a:extLst>
          </p:cNvPr>
          <p:cNvCxnSpPr>
            <a:cxnSpLocks/>
            <a:stCxn id="39" idx="2"/>
            <a:endCxn id="43" idx="0"/>
          </p:cNvCxnSpPr>
          <p:nvPr/>
        </p:nvCxnSpPr>
        <p:spPr>
          <a:xfrm flipH="1">
            <a:off x="6766915" y="4618475"/>
            <a:ext cx="1" cy="3148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FFC32696-41DC-5470-EF18-416DB0E69E3B}"/>
              </a:ext>
            </a:extLst>
          </p:cNvPr>
          <p:cNvCxnSpPr>
            <a:cxnSpLocks/>
            <a:stCxn id="40" idx="2"/>
            <a:endCxn id="44" idx="0"/>
          </p:cNvCxnSpPr>
          <p:nvPr/>
        </p:nvCxnSpPr>
        <p:spPr>
          <a:xfrm flipH="1">
            <a:off x="8498958" y="4618474"/>
            <a:ext cx="1" cy="3183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8A4564AD-6560-A59D-7B6F-A25A491E9163}"/>
              </a:ext>
            </a:extLst>
          </p:cNvPr>
          <p:cNvCxnSpPr>
            <a:stCxn id="40" idx="3"/>
          </p:cNvCxnSpPr>
          <p:nvPr/>
        </p:nvCxnSpPr>
        <p:spPr>
          <a:xfrm flipH="1" flipV="1">
            <a:off x="3290896" y="3142355"/>
            <a:ext cx="5888999" cy="1155107"/>
          </a:xfrm>
          <a:prstGeom prst="bentConnector3">
            <a:avLst>
              <a:gd name="adj1" fmla="val -388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5267DFA4-D6D9-C65C-652A-E7A03EB0B345}"/>
              </a:ext>
            </a:extLst>
          </p:cNvPr>
          <p:cNvCxnSpPr>
            <a:cxnSpLocks/>
            <a:stCxn id="43" idx="2"/>
            <a:endCxn id="166" idx="0"/>
          </p:cNvCxnSpPr>
          <p:nvPr/>
        </p:nvCxnSpPr>
        <p:spPr>
          <a:xfrm flipH="1">
            <a:off x="6766914" y="5283482"/>
            <a:ext cx="1" cy="2728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48499D71-2A1E-2952-8C07-22857B918382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5620964" y="5759925"/>
            <a:ext cx="276948" cy="59453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4639DF09-03CB-F4F9-8F51-34770B539EDE}"/>
              </a:ext>
            </a:extLst>
          </p:cNvPr>
          <p:cNvCxnSpPr>
            <a:cxnSpLocks/>
            <a:stCxn id="44" idx="2"/>
          </p:cNvCxnSpPr>
          <p:nvPr/>
        </p:nvCxnSpPr>
        <p:spPr>
          <a:xfrm rot="5400000">
            <a:off x="7260728" y="4793229"/>
            <a:ext cx="744418" cy="173204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A8567193-4B8F-6801-0D59-F8880B480285}"/>
              </a:ext>
            </a:extLst>
          </p:cNvPr>
          <p:cNvCxnSpPr>
            <a:cxnSpLocks/>
            <a:stCxn id="47" idx="3"/>
            <a:endCxn id="50" idx="1"/>
          </p:cNvCxnSpPr>
          <p:nvPr/>
        </p:nvCxnSpPr>
        <p:spPr>
          <a:xfrm flipV="1">
            <a:off x="7353004" y="6371065"/>
            <a:ext cx="81255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6411FDAB-C19F-B06B-98E7-9442C93BBB3C}"/>
              </a:ext>
            </a:extLst>
          </p:cNvPr>
          <p:cNvCxnSpPr>
            <a:cxnSpLocks/>
            <a:stCxn id="12" idx="1"/>
            <a:endCxn id="118" idx="0"/>
          </p:cNvCxnSpPr>
          <p:nvPr/>
        </p:nvCxnSpPr>
        <p:spPr>
          <a:xfrm rot="10800000" flipV="1">
            <a:off x="1778247" y="2669771"/>
            <a:ext cx="831716" cy="23130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8" name="순서도: 처리 117">
            <a:extLst>
              <a:ext uri="{FF2B5EF4-FFF2-40B4-BE49-F238E27FC236}">
                <a16:creationId xmlns:a16="http://schemas.microsoft.com/office/drawing/2014/main" id="{EAD95F87-E999-3ECC-90A6-68F36FAFAB1B}"/>
              </a:ext>
            </a:extLst>
          </p:cNvPr>
          <p:cNvSpPr/>
          <p:nvPr/>
        </p:nvSpPr>
        <p:spPr>
          <a:xfrm>
            <a:off x="1192156" y="2901073"/>
            <a:ext cx="1172182" cy="3501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000" b="1" dirty="0"/>
              <a:t>다른 유닛 선택</a:t>
            </a:r>
            <a:endParaRPr lang="ko-KR" altLang="en-US" sz="1000" b="1" dirty="0"/>
          </a:p>
        </p:txBody>
      </p:sp>
      <p:cxnSp>
        <p:nvCxnSpPr>
          <p:cNvPr id="121" name="직선 화살표 연결선 102">
            <a:extLst>
              <a:ext uri="{FF2B5EF4-FFF2-40B4-BE49-F238E27FC236}">
                <a16:creationId xmlns:a16="http://schemas.microsoft.com/office/drawing/2014/main" id="{4EA778F0-E1A8-3836-4A3A-6C0FA1092888}"/>
              </a:ext>
            </a:extLst>
          </p:cNvPr>
          <p:cNvCxnSpPr>
            <a:cxnSpLocks/>
            <a:stCxn id="118" idx="3"/>
          </p:cNvCxnSpPr>
          <p:nvPr/>
        </p:nvCxnSpPr>
        <p:spPr>
          <a:xfrm>
            <a:off x="2364338" y="3076171"/>
            <a:ext cx="926562" cy="721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2" name="순서도: 처리 141">
            <a:extLst>
              <a:ext uri="{FF2B5EF4-FFF2-40B4-BE49-F238E27FC236}">
                <a16:creationId xmlns:a16="http://schemas.microsoft.com/office/drawing/2014/main" id="{7B2B1009-FEB1-6670-D4A2-7245253C285D}"/>
              </a:ext>
            </a:extLst>
          </p:cNvPr>
          <p:cNvSpPr/>
          <p:nvPr/>
        </p:nvSpPr>
        <p:spPr>
          <a:xfrm>
            <a:off x="2790440" y="6184726"/>
            <a:ext cx="1172183" cy="3501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000" b="1" dirty="0"/>
              <a:t>이동 후 추가 행동 선택</a:t>
            </a:r>
            <a:endParaRPr lang="ko-KR" altLang="en-US" sz="1000" b="1" dirty="0"/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2A9FDE4C-EBD0-6FC1-C3B1-28695E87342F}"/>
              </a:ext>
            </a:extLst>
          </p:cNvPr>
          <p:cNvCxnSpPr>
            <a:cxnSpLocks/>
            <a:stCxn id="49" idx="3"/>
            <a:endCxn id="142" idx="1"/>
          </p:cNvCxnSpPr>
          <p:nvPr/>
        </p:nvCxnSpPr>
        <p:spPr>
          <a:xfrm>
            <a:off x="2366183" y="6359824"/>
            <a:ext cx="42425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6" name="순서도: 처리 165">
            <a:extLst>
              <a:ext uri="{FF2B5EF4-FFF2-40B4-BE49-F238E27FC236}">
                <a16:creationId xmlns:a16="http://schemas.microsoft.com/office/drawing/2014/main" id="{E0F09EE2-73A4-D70F-616B-BD0BD49BC300}"/>
              </a:ext>
            </a:extLst>
          </p:cNvPr>
          <p:cNvSpPr/>
          <p:nvPr/>
        </p:nvSpPr>
        <p:spPr>
          <a:xfrm>
            <a:off x="6180822" y="5556325"/>
            <a:ext cx="1172183" cy="3501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000" b="1" dirty="0"/>
              <a:t>특수능력 사용</a:t>
            </a:r>
            <a:endParaRPr lang="ko-KR" altLang="en-US" sz="1000" b="1" dirty="0"/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9F9ACA90-C46C-020B-A226-F200F0AF2FEF}"/>
              </a:ext>
            </a:extLst>
          </p:cNvPr>
          <p:cNvCxnSpPr>
            <a:cxnSpLocks/>
            <a:stCxn id="166" idx="2"/>
            <a:endCxn id="47" idx="0"/>
          </p:cNvCxnSpPr>
          <p:nvPr/>
        </p:nvCxnSpPr>
        <p:spPr>
          <a:xfrm flipH="1">
            <a:off x="6766913" y="5906520"/>
            <a:ext cx="1" cy="2894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3" name="순서도: 처리 182">
            <a:extLst>
              <a:ext uri="{FF2B5EF4-FFF2-40B4-BE49-F238E27FC236}">
                <a16:creationId xmlns:a16="http://schemas.microsoft.com/office/drawing/2014/main" id="{9500DB92-AAF8-05E5-DE46-993344D7EA91}"/>
              </a:ext>
            </a:extLst>
          </p:cNvPr>
          <p:cNvSpPr/>
          <p:nvPr/>
        </p:nvSpPr>
        <p:spPr>
          <a:xfrm>
            <a:off x="4442816" y="6190552"/>
            <a:ext cx="1172183" cy="3501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후속 행동 실행</a:t>
            </a:r>
          </a:p>
        </p:txBody>
      </p: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09019DBD-CCC0-FE2C-A295-F8C8EFF82FE9}"/>
              </a:ext>
            </a:extLst>
          </p:cNvPr>
          <p:cNvCxnSpPr>
            <a:cxnSpLocks/>
            <a:stCxn id="142" idx="3"/>
            <a:endCxn id="183" idx="1"/>
          </p:cNvCxnSpPr>
          <p:nvPr/>
        </p:nvCxnSpPr>
        <p:spPr>
          <a:xfrm>
            <a:off x="3962623" y="6359824"/>
            <a:ext cx="480193" cy="58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840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778C37D-CD85-C1F1-900B-214A83E5A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146" y="3193473"/>
            <a:ext cx="4809029" cy="3606772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캐릭터 행동 규칙 - Zone of Control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53492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 ZOC </a:t>
            </a:r>
            <a:r>
              <a:rPr lang="ko-KR" alt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규칙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58815B-D169-2C03-3FE3-ABDB7D6C6D03}"/>
              </a:ext>
            </a:extLst>
          </p:cNvPr>
          <p:cNvSpPr txBox="1"/>
          <p:nvPr/>
        </p:nvSpPr>
        <p:spPr>
          <a:xfrm>
            <a:off x="571500" y="1834815"/>
            <a:ext cx="6286500" cy="1574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C3CAF9-8420-B431-077A-D03D4B4E94C6}"/>
              </a:ext>
            </a:extLst>
          </p:cNvPr>
          <p:cNvSpPr txBox="1"/>
          <p:nvPr/>
        </p:nvSpPr>
        <p:spPr>
          <a:xfrm>
            <a:off x="642851" y="1812452"/>
            <a:ext cx="9905999" cy="21698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500" dirty="0">
                <a:ea typeface="맑은 고딕"/>
              </a:rPr>
              <a:t>1. ZOC</a:t>
            </a:r>
            <a:r>
              <a:rPr lang="ko-KR" altLang="en-US" sz="1500" dirty="0">
                <a:ea typeface="맑은 고딕"/>
              </a:rPr>
              <a:t>는 적 유닛 주변에 생기는 이동 제한 범위이다</a:t>
            </a:r>
            <a:r>
              <a:rPr lang="en-US" altLang="ko-KR" sz="1500" dirty="0">
                <a:ea typeface="맑은 고딕"/>
              </a:rPr>
              <a:t>.</a:t>
            </a:r>
          </a:p>
          <a:p>
            <a:r>
              <a:rPr lang="en-US" altLang="ko-KR" sz="1500" dirty="0">
                <a:ea typeface="맑은 고딕"/>
              </a:rPr>
              <a:t>2. </a:t>
            </a:r>
            <a:r>
              <a:rPr lang="ko-KR" altLang="en-US" sz="1500" dirty="0">
                <a:ea typeface="맑은 고딕"/>
              </a:rPr>
              <a:t>기본 </a:t>
            </a:r>
            <a:r>
              <a:rPr lang="en-US" altLang="ko-KR" sz="1500" dirty="0">
                <a:ea typeface="맑은 고딕"/>
              </a:rPr>
              <a:t>ZOC </a:t>
            </a:r>
            <a:r>
              <a:rPr lang="ko-KR" altLang="en-US" sz="1500" dirty="0">
                <a:ea typeface="맑은 고딕"/>
              </a:rPr>
              <a:t>범위는 적 유닛 기준 가로</a:t>
            </a:r>
            <a:r>
              <a:rPr lang="en-US" altLang="ko-KR" sz="1500" dirty="0">
                <a:ea typeface="맑은 고딕"/>
              </a:rPr>
              <a:t>, </a:t>
            </a:r>
            <a:r>
              <a:rPr lang="ko-KR" altLang="en-US" sz="1500" dirty="0">
                <a:ea typeface="맑은 고딕"/>
              </a:rPr>
              <a:t>세로</a:t>
            </a:r>
            <a:r>
              <a:rPr lang="en-US" altLang="ko-KR" sz="1500" dirty="0">
                <a:ea typeface="맑은 고딕"/>
              </a:rPr>
              <a:t>, </a:t>
            </a:r>
            <a:r>
              <a:rPr lang="ko-KR" altLang="en-US" sz="1500" dirty="0">
                <a:ea typeface="맑은 고딕"/>
              </a:rPr>
              <a:t>대각선 </a:t>
            </a:r>
            <a:r>
              <a:rPr lang="en-US" altLang="ko-KR" sz="1500" dirty="0">
                <a:ea typeface="맑은 고딕"/>
              </a:rPr>
              <a:t>1</a:t>
            </a:r>
            <a:r>
              <a:rPr lang="ko-KR" altLang="en-US" sz="1500" dirty="0">
                <a:ea typeface="맑은 고딕"/>
              </a:rPr>
              <a:t>칸이다</a:t>
            </a:r>
            <a:r>
              <a:rPr lang="en-US" altLang="ko-KR" sz="1500" dirty="0">
                <a:ea typeface="맑은 고딕"/>
              </a:rPr>
              <a:t>.</a:t>
            </a:r>
          </a:p>
          <a:p>
            <a:r>
              <a:rPr lang="en-US" altLang="ko-KR" sz="1500" dirty="0">
                <a:ea typeface="맑은 고딕"/>
              </a:rPr>
              <a:t>3. </a:t>
            </a:r>
            <a:r>
              <a:rPr lang="ko-KR" altLang="en-US" sz="1500" dirty="0">
                <a:ea typeface="맑은 고딕"/>
              </a:rPr>
              <a:t>유닛이 적 </a:t>
            </a:r>
            <a:r>
              <a:rPr lang="en-US" altLang="ko-KR" sz="1500" dirty="0">
                <a:ea typeface="맑은 고딕"/>
              </a:rPr>
              <a:t>ZOC</a:t>
            </a:r>
            <a:r>
              <a:rPr lang="ko-KR" altLang="en-US" sz="1500" dirty="0">
                <a:ea typeface="맑은 고딕"/>
              </a:rPr>
              <a:t>에 처음 들어가면 그 칸에서 이동이 멈춘다</a:t>
            </a:r>
            <a:r>
              <a:rPr lang="en-US" altLang="ko-KR" sz="1500" dirty="0">
                <a:ea typeface="맑은 고딕"/>
              </a:rPr>
              <a:t>.</a:t>
            </a:r>
          </a:p>
          <a:p>
            <a:r>
              <a:rPr lang="en-US" altLang="ko-KR" sz="1500" dirty="0">
                <a:ea typeface="맑은 고딕"/>
              </a:rPr>
              <a:t>4. </a:t>
            </a:r>
            <a:r>
              <a:rPr lang="ko-KR" altLang="en-US" sz="1500" dirty="0">
                <a:ea typeface="맑은 고딕"/>
              </a:rPr>
              <a:t>남은 </a:t>
            </a:r>
            <a:r>
              <a:rPr lang="ko-KR" altLang="en-US" sz="1500" dirty="0" err="1">
                <a:ea typeface="맑은 고딕"/>
              </a:rPr>
              <a:t>이동력이</a:t>
            </a:r>
            <a:r>
              <a:rPr lang="ko-KR" altLang="en-US" sz="1500" dirty="0">
                <a:ea typeface="맑은 고딕"/>
              </a:rPr>
              <a:t> 있어도 이번 이동에서는 더 이동할 수 없다</a:t>
            </a:r>
            <a:r>
              <a:rPr lang="en-US" altLang="ko-KR" sz="1500" dirty="0">
                <a:ea typeface="맑은 고딕"/>
              </a:rPr>
              <a:t>.</a:t>
            </a:r>
          </a:p>
          <a:p>
            <a:r>
              <a:rPr lang="en-US" altLang="ko-KR" sz="1500" dirty="0">
                <a:ea typeface="맑은 고딕"/>
              </a:rPr>
              <a:t>5. ZOC</a:t>
            </a:r>
            <a:r>
              <a:rPr lang="ko-KR" altLang="en-US" sz="1500" dirty="0">
                <a:ea typeface="맑은 고딕"/>
              </a:rPr>
              <a:t>에 들어갔다고 바로 공격을 받지는 않는다</a:t>
            </a:r>
            <a:r>
              <a:rPr lang="en-US" altLang="ko-KR" sz="1500" dirty="0">
                <a:ea typeface="맑은 고딕"/>
              </a:rPr>
              <a:t>.</a:t>
            </a:r>
          </a:p>
          <a:p>
            <a:r>
              <a:rPr lang="en-US" altLang="ko-KR" sz="1500" dirty="0">
                <a:ea typeface="맑은 고딕"/>
              </a:rPr>
              <a:t>6. ZOC </a:t>
            </a:r>
            <a:r>
              <a:rPr lang="ko-KR" altLang="en-US" sz="1500" dirty="0">
                <a:ea typeface="맑은 고딕"/>
              </a:rPr>
              <a:t>안에서 멈춘 유닛은 공격 </a:t>
            </a:r>
            <a:r>
              <a:rPr lang="en-US" altLang="ko-KR" sz="1500" dirty="0">
                <a:ea typeface="맑은 고딕"/>
              </a:rPr>
              <a:t>/ </a:t>
            </a:r>
            <a:r>
              <a:rPr lang="ko-KR" altLang="en-US" sz="1500" dirty="0">
                <a:ea typeface="맑은 고딕"/>
              </a:rPr>
              <a:t>특수능력 </a:t>
            </a:r>
            <a:r>
              <a:rPr lang="en-US" altLang="ko-KR" sz="1500" dirty="0">
                <a:ea typeface="맑은 고딕"/>
              </a:rPr>
              <a:t>/ </a:t>
            </a:r>
            <a:r>
              <a:rPr lang="ko-KR" altLang="en-US" sz="1500" dirty="0">
                <a:ea typeface="맑은 고딕"/>
              </a:rPr>
              <a:t>대기 중 하나를 선택할 수 있다</a:t>
            </a:r>
            <a:r>
              <a:rPr lang="en-US" altLang="ko-KR" sz="1500" dirty="0">
                <a:ea typeface="맑은 고딕"/>
              </a:rPr>
              <a:t>.</a:t>
            </a:r>
          </a:p>
          <a:p>
            <a:r>
              <a:rPr lang="en-US" altLang="ko-KR" sz="1500" dirty="0">
                <a:ea typeface="맑은 고딕"/>
              </a:rPr>
              <a:t>7. </a:t>
            </a:r>
            <a:r>
              <a:rPr lang="ko-KR" altLang="en-US" sz="1500" dirty="0">
                <a:ea typeface="맑은 고딕"/>
              </a:rPr>
              <a:t>공중이동 유닛은 지상 유닛의 </a:t>
            </a:r>
            <a:r>
              <a:rPr lang="en-US" altLang="ko-KR" sz="1500" dirty="0">
                <a:ea typeface="맑은 고딕"/>
              </a:rPr>
              <a:t>ZOC</a:t>
            </a:r>
            <a:r>
              <a:rPr lang="ko-KR" altLang="en-US" sz="1500" dirty="0">
                <a:ea typeface="맑은 고딕"/>
              </a:rPr>
              <a:t>를 받지 않는다</a:t>
            </a:r>
            <a:r>
              <a:rPr lang="en-US" altLang="ko-KR" sz="1500" dirty="0">
                <a:ea typeface="맑은 고딕"/>
              </a:rPr>
              <a:t>.</a:t>
            </a:r>
          </a:p>
          <a:p>
            <a:r>
              <a:rPr lang="en-US" altLang="ko-KR" sz="1500" dirty="0">
                <a:ea typeface="맑은 고딕"/>
              </a:rPr>
              <a:t>8. </a:t>
            </a:r>
            <a:r>
              <a:rPr lang="ko-KR" altLang="en-US" sz="1500" dirty="0">
                <a:ea typeface="맑은 고딕"/>
              </a:rPr>
              <a:t>돌파 버프가 적용된 유닛은 </a:t>
            </a:r>
            <a:r>
              <a:rPr lang="en-US" altLang="ko-KR" sz="1500" dirty="0">
                <a:ea typeface="맑은 고딕"/>
              </a:rPr>
              <a:t>ZOC</a:t>
            </a:r>
            <a:r>
              <a:rPr lang="ko-KR" altLang="en-US" sz="1500" dirty="0">
                <a:ea typeface="맑은 고딕"/>
              </a:rPr>
              <a:t>를 무시한다</a:t>
            </a:r>
            <a:r>
              <a:rPr lang="en-US" altLang="ko-KR" sz="1500" dirty="0">
                <a:ea typeface="맑은 고딕"/>
              </a:rPr>
              <a:t>.</a:t>
            </a:r>
          </a:p>
          <a:p>
            <a:r>
              <a:rPr lang="en-US" altLang="ko-KR" sz="1500" dirty="0">
                <a:ea typeface="맑은 고딕"/>
              </a:rPr>
              <a:t>9. </a:t>
            </a:r>
            <a:r>
              <a:rPr lang="ko-KR" altLang="en-US" sz="1500" dirty="0">
                <a:ea typeface="맑은 고딕"/>
              </a:rPr>
              <a:t>제압 상태가 된 유닛은 </a:t>
            </a:r>
            <a:r>
              <a:rPr lang="en-US" altLang="ko-KR" sz="1500" dirty="0">
                <a:ea typeface="맑은 고딕"/>
              </a:rPr>
              <a:t>ZOC</a:t>
            </a:r>
            <a:r>
              <a:rPr lang="ko-KR" altLang="en-US" sz="1500" dirty="0">
                <a:ea typeface="맑은 고딕"/>
              </a:rPr>
              <a:t>를 발생시키지 않는다</a:t>
            </a:r>
            <a:r>
              <a:rPr lang="en-US" altLang="ko-KR" sz="1500" dirty="0">
                <a:ea typeface="맑은 고딕"/>
              </a:rPr>
              <a:t>.</a:t>
            </a:r>
            <a:endParaRPr lang="ko-KR" altLang="en-US" sz="1500" dirty="0"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52C55-0ADB-2DE8-1F2A-7D79FF647B02}"/>
              </a:ext>
            </a:extLst>
          </p:cNvPr>
          <p:cNvSpPr txBox="1"/>
          <p:nvPr/>
        </p:nvSpPr>
        <p:spPr>
          <a:xfrm>
            <a:off x="534202" y="794255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공격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대기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C5D43D-4422-D3DA-0471-F09D5299F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8F2F2F6-56E7-2CCF-E525-7E6EA9DDB056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캐릭터 행동 규칙 - Zone of Control</a:t>
            </a:r>
            <a:endParaRPr lang="en-US" sz="2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F0E3CC9-31E6-D9C4-536C-64A59B670CFF}"/>
              </a:ext>
            </a:extLst>
          </p:cNvPr>
          <p:cNvSpPr/>
          <p:nvPr/>
        </p:nvSpPr>
        <p:spPr>
          <a:xfrm>
            <a:off x="594360" y="1235840"/>
            <a:ext cx="534924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en-US" sz="1700" b="1" dirty="0" err="1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적용</a:t>
            </a:r>
            <a:r>
              <a:rPr lang="en-US" sz="1700" b="1" dirty="0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방식</a:t>
            </a:r>
            <a:r>
              <a:rPr lang="en-US" sz="1700" b="1" dirty="0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예시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96BBC9-4B75-FB80-8531-173317C3E4A8}"/>
              </a:ext>
            </a:extLst>
          </p:cNvPr>
          <p:cNvSpPr txBox="1"/>
          <p:nvPr/>
        </p:nvSpPr>
        <p:spPr>
          <a:xfrm>
            <a:off x="571500" y="1834815"/>
            <a:ext cx="6286500" cy="1574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5BACF-638C-80F7-FE67-3A5F3BF2C12F}"/>
              </a:ext>
            </a:extLst>
          </p:cNvPr>
          <p:cNvSpPr txBox="1"/>
          <p:nvPr/>
        </p:nvSpPr>
        <p:spPr>
          <a:xfrm>
            <a:off x="571500" y="1815252"/>
            <a:ext cx="9886604" cy="36471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500" dirty="0"/>
              <a:t>예시 </a:t>
            </a:r>
            <a:r>
              <a:rPr lang="en-US" altLang="ko-KR" sz="1500" dirty="0"/>
              <a:t>1. </a:t>
            </a:r>
            <a:r>
              <a:rPr lang="ko-KR" altLang="en-US" sz="1500" dirty="0"/>
              <a:t>일반 이동</a:t>
            </a:r>
          </a:p>
          <a:p>
            <a:r>
              <a:rPr lang="en-US" altLang="ko-KR" sz="1500" dirty="0"/>
              <a:t>- </a:t>
            </a:r>
            <a:r>
              <a:rPr lang="ko-KR" altLang="en-US" sz="1500" dirty="0" err="1"/>
              <a:t>이동력</a:t>
            </a:r>
            <a:r>
              <a:rPr lang="ko-KR" altLang="en-US" sz="1500" dirty="0"/>
              <a:t> </a:t>
            </a:r>
            <a:r>
              <a:rPr lang="en-US" altLang="ko-KR" sz="1500" dirty="0"/>
              <a:t>3</a:t>
            </a:r>
            <a:r>
              <a:rPr lang="ko-KR" altLang="en-US" sz="1500" dirty="0"/>
              <a:t>인 보병이 적 </a:t>
            </a:r>
            <a:r>
              <a:rPr lang="en-US" altLang="ko-KR" sz="1500" dirty="0"/>
              <a:t>ZOC</a:t>
            </a:r>
            <a:r>
              <a:rPr lang="ko-KR" altLang="en-US" sz="1500" dirty="0"/>
              <a:t>를 지나가려 하면 첫 번째 </a:t>
            </a:r>
            <a:r>
              <a:rPr lang="en-US" altLang="ko-KR" sz="1500" dirty="0"/>
              <a:t>ZOC </a:t>
            </a:r>
            <a:r>
              <a:rPr lang="ko-KR" altLang="en-US" sz="1500" dirty="0"/>
              <a:t>타일에서 이동이 멈춘다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- </a:t>
            </a:r>
            <a:r>
              <a:rPr lang="ko-KR" altLang="en-US" sz="1500" dirty="0"/>
              <a:t>남은 </a:t>
            </a:r>
            <a:r>
              <a:rPr lang="ko-KR" altLang="en-US" sz="1500" dirty="0" err="1"/>
              <a:t>이동력이</a:t>
            </a:r>
            <a:r>
              <a:rPr lang="ko-KR" altLang="en-US" sz="1500" dirty="0"/>
              <a:t> 있어도 이번 이동에서는 더 이동할 수 없다</a:t>
            </a:r>
            <a:r>
              <a:rPr lang="en-US" altLang="ko-KR" sz="1500" dirty="0"/>
              <a:t>.</a:t>
            </a:r>
            <a:br>
              <a:rPr lang="en-US" altLang="ko-KR" sz="1500" dirty="0"/>
            </a:br>
            <a:endParaRPr lang="en-US" altLang="ko-KR" sz="1500" dirty="0"/>
          </a:p>
          <a:p>
            <a:r>
              <a:rPr lang="ko-KR" altLang="en-US" sz="1500" dirty="0"/>
              <a:t>예시 </a:t>
            </a:r>
            <a:r>
              <a:rPr lang="en-US" altLang="ko-KR" sz="1500" dirty="0"/>
              <a:t>2. </a:t>
            </a:r>
            <a:r>
              <a:rPr lang="ko-KR" altLang="en-US" sz="1500" dirty="0"/>
              <a:t>공중이동</a:t>
            </a:r>
          </a:p>
          <a:p>
            <a:r>
              <a:rPr lang="en-US" altLang="ko-KR" sz="1500" dirty="0"/>
              <a:t>- </a:t>
            </a:r>
            <a:r>
              <a:rPr lang="ko-KR" altLang="en-US" sz="1500" dirty="0" err="1"/>
              <a:t>비병은</a:t>
            </a:r>
            <a:r>
              <a:rPr lang="ko-KR" altLang="en-US" sz="1500" dirty="0"/>
              <a:t> 지상 유닛의 </a:t>
            </a:r>
            <a:r>
              <a:rPr lang="en-US" altLang="ko-KR" sz="1500" dirty="0"/>
              <a:t>ZOC</a:t>
            </a:r>
            <a:r>
              <a:rPr lang="ko-KR" altLang="en-US" sz="1500" dirty="0"/>
              <a:t>를 받지 않는다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- </a:t>
            </a:r>
            <a:r>
              <a:rPr lang="ko-KR" altLang="en-US" sz="1500" dirty="0"/>
              <a:t>적 </a:t>
            </a:r>
            <a:r>
              <a:rPr lang="en-US" altLang="ko-KR" sz="1500" dirty="0"/>
              <a:t>ZOC </a:t>
            </a:r>
            <a:r>
              <a:rPr lang="ko-KR" altLang="en-US" sz="1500" dirty="0"/>
              <a:t>타일을 지나가도 이동이 멈추지 않는다</a:t>
            </a:r>
            <a:r>
              <a:rPr lang="en-US" altLang="ko-KR" sz="1500" dirty="0"/>
              <a:t>.</a:t>
            </a:r>
            <a:br>
              <a:rPr lang="en-US" altLang="ko-KR" sz="1500" dirty="0"/>
            </a:br>
            <a:endParaRPr lang="en-US" altLang="ko-KR" sz="1500" dirty="0"/>
          </a:p>
          <a:p>
            <a:r>
              <a:rPr lang="ko-KR" altLang="en-US" sz="1500" dirty="0"/>
              <a:t>예시 </a:t>
            </a:r>
            <a:r>
              <a:rPr lang="en-US" altLang="ko-KR" sz="1500" dirty="0"/>
              <a:t>3. </a:t>
            </a:r>
            <a:r>
              <a:rPr lang="ko-KR" altLang="en-US" sz="1500" dirty="0"/>
              <a:t>돌파 버프</a:t>
            </a:r>
          </a:p>
          <a:p>
            <a:r>
              <a:rPr lang="en-US" altLang="ko-KR" sz="1500" dirty="0"/>
              <a:t>- </a:t>
            </a:r>
            <a:r>
              <a:rPr lang="ko-KR" altLang="en-US" sz="1500" dirty="0"/>
              <a:t>돌파 버프가 적용된 유닛은 </a:t>
            </a:r>
            <a:r>
              <a:rPr lang="en-US" altLang="ko-KR" sz="1500" dirty="0"/>
              <a:t>1</a:t>
            </a:r>
            <a:r>
              <a:rPr lang="ko-KR" altLang="en-US" sz="1500" dirty="0"/>
              <a:t>턴 동안 적 </a:t>
            </a:r>
            <a:r>
              <a:rPr lang="en-US" altLang="ko-KR" sz="1500" dirty="0"/>
              <a:t>ZOC</a:t>
            </a:r>
            <a:r>
              <a:rPr lang="ko-KR" altLang="en-US" sz="1500" dirty="0"/>
              <a:t>를 무시한다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- ZOC </a:t>
            </a:r>
            <a:r>
              <a:rPr lang="ko-KR" altLang="en-US" sz="1500" dirty="0"/>
              <a:t>타일에 들어가도 이동이 멈추지 않는다</a:t>
            </a:r>
            <a:r>
              <a:rPr lang="en-US" altLang="ko-KR" sz="1500" dirty="0"/>
              <a:t>.</a:t>
            </a:r>
            <a:br>
              <a:rPr lang="en-US" altLang="ko-KR" sz="1500" dirty="0"/>
            </a:br>
            <a:endParaRPr lang="en-US" altLang="ko-KR" sz="1500" dirty="0"/>
          </a:p>
          <a:p>
            <a:r>
              <a:rPr lang="ko-KR" altLang="en-US" sz="1500" dirty="0"/>
              <a:t>예시 </a:t>
            </a:r>
            <a:r>
              <a:rPr lang="en-US" altLang="ko-KR" sz="1500" dirty="0"/>
              <a:t>4. </a:t>
            </a:r>
            <a:r>
              <a:rPr lang="ko-KR" altLang="en-US" sz="1500" dirty="0"/>
              <a:t>제압 상태</a:t>
            </a:r>
          </a:p>
          <a:p>
            <a:r>
              <a:rPr lang="ko-KR" altLang="ko-KR" sz="1500" dirty="0"/>
              <a:t>- 제압 상태가 된 적 유닛은 1턴 동안 </a:t>
            </a:r>
            <a:r>
              <a:rPr lang="ko-KR" altLang="ko-KR" sz="1500" dirty="0" err="1"/>
              <a:t>ZOC를</a:t>
            </a:r>
            <a:r>
              <a:rPr lang="ko-KR" altLang="ko-KR" sz="1500" dirty="0"/>
              <a:t> 발생시키지 않는다.</a:t>
            </a:r>
            <a:br>
              <a:rPr lang="ko-KR" altLang="ko-KR" sz="1500" dirty="0"/>
            </a:br>
            <a:r>
              <a:rPr lang="ko-KR" altLang="ko-KR" sz="1500" dirty="0"/>
              <a:t>- 해당 적 주변 타일에 들어가도 이동이 멈추지 않는다.</a:t>
            </a:r>
            <a:endParaRPr lang="en-US" altLang="ko-KR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32AE93-CBDB-5B86-D759-CD2AD1B3CB60}"/>
              </a:ext>
            </a:extLst>
          </p:cNvPr>
          <p:cNvSpPr txBox="1"/>
          <p:nvPr/>
        </p:nvSpPr>
        <p:spPr>
          <a:xfrm>
            <a:off x="534202" y="794255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공격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대기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520418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캐릭터 행동 규칙 - 공격과 반격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3566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 공</a:t>
            </a:r>
            <a:r>
              <a:rPr lang="ko-KR" alt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격 기본 규칙</a:t>
            </a:r>
            <a:endParaRPr lang="en-US" sz="1700" dirty="0">
              <a:latin typeface="Malgun Gothic"/>
              <a:ea typeface="Malgun Gothic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294489C-271A-4C4D-807E-3E2304E5CEBE}"/>
              </a:ext>
            </a:extLst>
          </p:cNvPr>
          <p:cNvSpPr/>
          <p:nvPr/>
        </p:nvSpPr>
        <p:spPr>
          <a:xfrm>
            <a:off x="594360" y="2887244"/>
            <a:ext cx="3566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ko-KR" altLang="en-US" sz="1600" b="1" dirty="0">
                <a:solidFill>
                  <a:srgbClr val="1F3A5F"/>
                </a:solidFill>
                <a:ea typeface="Malgun Gothic"/>
                <a:cs typeface="Malgun Gothic" pitchFamily="34" charset="-120"/>
              </a:rPr>
              <a:t> 명중률</a:t>
            </a:r>
            <a:endParaRPr lang="ko-KR" alt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540804-F8B6-40C2-B94A-5889834231F2}"/>
              </a:ext>
            </a:extLst>
          </p:cNvPr>
          <p:cNvSpPr txBox="1"/>
          <p:nvPr/>
        </p:nvSpPr>
        <p:spPr>
          <a:xfrm>
            <a:off x="594359" y="1728132"/>
            <a:ext cx="89942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사정 거리 안에 있는 적 유닛에게 사용한다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공격 대상이 사정거리 밖에 있으면 사용이 불가능하다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공격 대상을 확정하고 공격을 하면 공격 도중 행동에 대한 철회가 불가능하다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805081-1815-42E5-8774-9D1EC866D566}"/>
              </a:ext>
            </a:extLst>
          </p:cNvPr>
          <p:cNvSpPr txBox="1"/>
          <p:nvPr/>
        </p:nvSpPr>
        <p:spPr>
          <a:xfrm>
            <a:off x="594359" y="3429000"/>
            <a:ext cx="112508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명중률 </a:t>
            </a:r>
            <a:r>
              <a:rPr lang="en-US" altLang="ko-KR" dirty="0"/>
              <a:t>– </a:t>
            </a:r>
            <a:r>
              <a:rPr lang="ko-KR" altLang="en-US" dirty="0"/>
              <a:t>공격 및 스킬에 적용이 되고</a:t>
            </a:r>
            <a:r>
              <a:rPr lang="en-US" altLang="ko-KR" dirty="0"/>
              <a:t>, </a:t>
            </a:r>
            <a:r>
              <a:rPr lang="ko-KR" altLang="en-US" dirty="0"/>
              <a:t>다중 공격에는 각 공격에 개별적으로 적용이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명중률 공식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명중률 </a:t>
            </a:r>
            <a:r>
              <a:rPr lang="en-US" altLang="ko-KR" dirty="0"/>
              <a:t>= </a:t>
            </a:r>
            <a:r>
              <a:rPr lang="ko-KR" altLang="en-US" dirty="0"/>
              <a:t>기본 명중률 </a:t>
            </a:r>
            <a:r>
              <a:rPr lang="en-US" altLang="ko-KR" dirty="0"/>
              <a:t>+ (</a:t>
            </a:r>
            <a:r>
              <a:rPr lang="ko-KR" altLang="en-US" dirty="0"/>
              <a:t>공격자 </a:t>
            </a:r>
            <a:r>
              <a:rPr lang="ko-KR" altLang="en-US" dirty="0" err="1"/>
              <a:t>명중스탯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방어자 </a:t>
            </a:r>
            <a:r>
              <a:rPr lang="ko-KR" altLang="en-US" dirty="0" err="1"/>
              <a:t>회피스탯</a:t>
            </a:r>
            <a:r>
              <a:rPr lang="en-US" altLang="ko-KR" dirty="0"/>
              <a:t>) + </a:t>
            </a:r>
            <a:r>
              <a:rPr lang="ko-KR" altLang="en-US" dirty="0"/>
              <a:t>지형 보정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1600" b="1" dirty="0"/>
              <a:t>※</a:t>
            </a:r>
            <a:r>
              <a:rPr lang="en-US" altLang="ko-KR" sz="1600" b="1" dirty="0">
                <a:solidFill>
                  <a:schemeClr val="tx1">
                    <a:lumMod val="49000"/>
                    <a:lumOff val="51000"/>
                  </a:schemeClr>
                </a:solidFill>
              </a:rPr>
              <a:t> </a:t>
            </a:r>
            <a:r>
              <a:rPr lang="ko-KR" altLang="en-US" sz="1500" dirty="0"/>
              <a:t>명중 </a:t>
            </a:r>
            <a:r>
              <a:rPr lang="ko-KR" altLang="en-US" sz="1500" dirty="0" err="1"/>
              <a:t>스탯과</a:t>
            </a:r>
            <a:r>
              <a:rPr lang="ko-KR" altLang="en-US" sz="1500" dirty="0"/>
              <a:t> 회피 </a:t>
            </a:r>
            <a:r>
              <a:rPr lang="ko-KR" altLang="en-US" sz="1500" dirty="0" err="1"/>
              <a:t>스탯은</a:t>
            </a:r>
            <a:r>
              <a:rPr lang="ko-KR" altLang="en-US" sz="1500" dirty="0"/>
              <a:t> 유닛의 기본 능력치 및 아이템으로 인한 보정이 존재하고 해당 수치를 포함하여 계산한다</a:t>
            </a:r>
            <a:r>
              <a:rPr lang="en-US" altLang="ko-KR" sz="15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AF762-C2F6-B49C-ABE5-6B8A755D5CE6}"/>
              </a:ext>
            </a:extLst>
          </p:cNvPr>
          <p:cNvSpPr txBox="1"/>
          <p:nvPr/>
        </p:nvSpPr>
        <p:spPr>
          <a:xfrm>
            <a:off x="502920" y="766117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공격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대기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캐릭터 행동 규칙 - 공격과 반격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3566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ko-KR" altLang="en-US" b="1" dirty="0">
                <a:solidFill>
                  <a:srgbClr val="1F3A5F"/>
                </a:solidFill>
                <a:ea typeface="Malgun Gothic"/>
                <a:cs typeface="Malgun Gothic" pitchFamily="34" charset="-120"/>
              </a:rPr>
              <a:t> 데미지</a:t>
            </a:r>
            <a:endParaRPr lang="en-US" sz="1700" dirty="0">
              <a:latin typeface="Malgun Gothic"/>
              <a:ea typeface="Malgun Gothic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E7D2F8-007A-42A9-810A-2E0023F367E6}"/>
              </a:ext>
            </a:extLst>
          </p:cNvPr>
          <p:cNvSpPr txBox="1"/>
          <p:nvPr/>
        </p:nvSpPr>
        <p:spPr>
          <a:xfrm>
            <a:off x="502920" y="1742692"/>
            <a:ext cx="95634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데미지 </a:t>
            </a:r>
            <a:r>
              <a:rPr lang="en-US" altLang="ko-KR" dirty="0"/>
              <a:t>– </a:t>
            </a:r>
            <a:r>
              <a:rPr lang="ko-KR" altLang="en-US" dirty="0"/>
              <a:t>기본적으로 공격자의 공격력과 방어자의 방어력으로 계산한다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데미지 기본 공식</a:t>
            </a:r>
            <a:r>
              <a:rPr lang="en-US" altLang="ko-KR" dirty="0"/>
              <a:t> :</a:t>
            </a:r>
            <a:br>
              <a:rPr lang="en-US" altLang="ko-KR" dirty="0"/>
            </a:br>
            <a:r>
              <a:rPr lang="ko-KR" altLang="en-US" dirty="0"/>
              <a:t>데미지 </a:t>
            </a:r>
            <a:r>
              <a:rPr lang="en-US" altLang="ko-KR" dirty="0"/>
              <a:t>= </a:t>
            </a:r>
            <a:r>
              <a:rPr lang="ko-KR" altLang="en-US" dirty="0"/>
              <a:t>공격자 공격력 </a:t>
            </a:r>
            <a:r>
              <a:rPr lang="en-US" altLang="ko-KR" dirty="0"/>
              <a:t>– </a:t>
            </a:r>
            <a:r>
              <a:rPr lang="ko-KR" altLang="en-US" dirty="0"/>
              <a:t>방어자 방어력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ko-KR" altLang="en-US" dirty="0"/>
              <a:t>적의 남은 체력보다 큰 데미지를 입혔을 경우 남은 체력 수치만큼 데미지를 표기한다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1CAD2-B7BF-EB1D-E104-637F1501E704}"/>
              </a:ext>
            </a:extLst>
          </p:cNvPr>
          <p:cNvSpPr txBox="1"/>
          <p:nvPr/>
        </p:nvSpPr>
        <p:spPr>
          <a:xfrm>
            <a:off x="502920" y="788957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공격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대기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287072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캐릭터 행동 규칙 - 공격과 반격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3566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ko-KR" altLang="en-US" sz="1600" b="1" dirty="0">
                <a:solidFill>
                  <a:srgbClr val="1F3A5F"/>
                </a:solidFill>
                <a:ea typeface="Malgun Gothic"/>
                <a:cs typeface="Malgun Gothic" pitchFamily="34" charset="-120"/>
              </a:rPr>
              <a:t> 크리티컬 </a:t>
            </a:r>
            <a:r>
              <a:rPr lang="ko-KR" altLang="en-US" sz="1600" b="1" dirty="0" err="1">
                <a:solidFill>
                  <a:srgbClr val="1F3A5F"/>
                </a:solidFill>
                <a:ea typeface="Malgun Gothic"/>
                <a:cs typeface="Malgun Gothic" pitchFamily="34" charset="-120"/>
              </a:rPr>
              <a:t>발동률</a:t>
            </a:r>
            <a:endParaRPr lang="en-US" altLang="ko-KR" sz="1600" dirty="0">
              <a:ea typeface="Malgun Gothic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E7D2F8-007A-42A9-810A-2E0023F367E6}"/>
              </a:ext>
            </a:extLst>
          </p:cNvPr>
          <p:cNvSpPr txBox="1"/>
          <p:nvPr/>
        </p:nvSpPr>
        <p:spPr>
          <a:xfrm>
            <a:off x="502920" y="1742692"/>
            <a:ext cx="10276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크리티컬 </a:t>
            </a:r>
            <a:r>
              <a:rPr lang="ko-KR" altLang="en-US" dirty="0" err="1"/>
              <a:t>발동률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각 유닛마다 크리티컬 확률이 존재하고 확률에 의하여 발동이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크리티컬 확률의 경우 아이템</a:t>
            </a:r>
            <a:r>
              <a:rPr lang="en-US" altLang="ko-KR" dirty="0"/>
              <a:t>, </a:t>
            </a:r>
            <a:r>
              <a:rPr lang="ko-KR" altLang="en-US" dirty="0"/>
              <a:t>유닛의 특수효과</a:t>
            </a:r>
            <a:r>
              <a:rPr lang="en-US" altLang="ko-KR" dirty="0"/>
              <a:t>, </a:t>
            </a:r>
            <a:r>
              <a:rPr lang="ko-KR" altLang="en-US" dirty="0"/>
              <a:t>지형효과로 인하여 크리티컬 확률이 오른다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조사병단은 늪지대에서 크리티컬 확률이 오른다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3505E-F59A-4213-B8AC-B43A894B8280}"/>
              </a:ext>
            </a:extLst>
          </p:cNvPr>
          <p:cNvSpPr txBox="1"/>
          <p:nvPr/>
        </p:nvSpPr>
        <p:spPr>
          <a:xfrm>
            <a:off x="594360" y="3753064"/>
            <a:ext cx="104203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크리티컬 데미지는 방어력을 적용한 뒤 계산된 데미지에 </a:t>
            </a:r>
            <a:r>
              <a:rPr lang="en-US" altLang="ko-KR" dirty="0"/>
              <a:t>150%</a:t>
            </a:r>
            <a:r>
              <a:rPr lang="ko-KR" altLang="en-US" dirty="0"/>
              <a:t>를 적용한다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크리티컬 데미지는 방어력을 무시하고 적용된다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예시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공격자 공격력 </a:t>
            </a:r>
            <a:r>
              <a:rPr lang="en-US" altLang="ko-KR" dirty="0"/>
              <a:t>= 100</a:t>
            </a:r>
          </a:p>
          <a:p>
            <a:r>
              <a:rPr lang="ko-KR" altLang="en-US" dirty="0"/>
              <a:t>방어자 방어력 </a:t>
            </a:r>
            <a:r>
              <a:rPr lang="en-US" altLang="ko-KR" dirty="0"/>
              <a:t>= 50</a:t>
            </a:r>
          </a:p>
          <a:p>
            <a:endParaRPr lang="en-US" altLang="ko-KR" dirty="0"/>
          </a:p>
          <a:p>
            <a:r>
              <a:rPr lang="ko-KR" altLang="en-US" dirty="0"/>
              <a:t>기본 데미지 </a:t>
            </a:r>
            <a:r>
              <a:rPr lang="en-US" altLang="ko-KR" dirty="0"/>
              <a:t>= 100 - 50 = 50</a:t>
            </a:r>
          </a:p>
          <a:p>
            <a:r>
              <a:rPr lang="ko-KR" altLang="en-US" dirty="0"/>
              <a:t>크리티컬 데미지 </a:t>
            </a:r>
            <a:r>
              <a:rPr lang="en-US" altLang="ko-KR" dirty="0"/>
              <a:t>= 50 × 1.5 = 75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4CA554F-3E36-4013-9042-93255DD4DD7C}"/>
              </a:ext>
            </a:extLst>
          </p:cNvPr>
          <p:cNvSpPr/>
          <p:nvPr/>
        </p:nvSpPr>
        <p:spPr>
          <a:xfrm>
            <a:off x="594360" y="3277576"/>
            <a:ext cx="3566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ko-KR" altLang="en-US" sz="1600" b="1" dirty="0">
                <a:solidFill>
                  <a:srgbClr val="1F3A5F"/>
                </a:solidFill>
                <a:ea typeface="Malgun Gothic"/>
                <a:cs typeface="Malgun Gothic" pitchFamily="34" charset="-120"/>
              </a:rPr>
              <a:t> 크리티컬 효과</a:t>
            </a:r>
            <a:endParaRPr lang="en-US" altLang="ko-KR" sz="1600" dirty="0">
              <a:ea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E8557-EAD7-57A1-3207-38A75BA5FFD3}"/>
              </a:ext>
            </a:extLst>
          </p:cNvPr>
          <p:cNvSpPr txBox="1"/>
          <p:nvPr/>
        </p:nvSpPr>
        <p:spPr>
          <a:xfrm>
            <a:off x="502920" y="76358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공격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대기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9576467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캐릭터 행동 규칙 - 공격과 반격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94360" y="1313209"/>
            <a:ext cx="35661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A399EF-05F0-4E45-B219-CBC1A7B47F77}"/>
              </a:ext>
            </a:extLst>
          </p:cNvPr>
          <p:cNvSpPr txBox="1"/>
          <p:nvPr/>
        </p:nvSpPr>
        <p:spPr>
          <a:xfrm>
            <a:off x="594360" y="1995482"/>
            <a:ext cx="99575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반격은 공격을 받은 방어 유닛이 생존했을 때 발생할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공격자가 방어 유닛의 기본 공격 사정거리 안에 있으면 반격 판정을 진행한다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기본 반격 확률은 </a:t>
            </a:r>
            <a:r>
              <a:rPr lang="en-US" altLang="ko-KR" dirty="0"/>
              <a:t>25%</a:t>
            </a:r>
            <a:r>
              <a:rPr lang="ko-KR" altLang="en-US" dirty="0"/>
              <a:t>로 설정한다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특수능력</a:t>
            </a:r>
            <a:r>
              <a:rPr lang="en-US" altLang="ko-KR" dirty="0"/>
              <a:t>, </a:t>
            </a:r>
            <a:r>
              <a:rPr lang="ko-KR" altLang="en-US" dirty="0"/>
              <a:t>병종 효과</a:t>
            </a:r>
            <a:r>
              <a:rPr lang="en-US" altLang="ko-KR" dirty="0"/>
              <a:t>, </a:t>
            </a:r>
            <a:r>
              <a:rPr lang="ko-KR" altLang="en-US" dirty="0"/>
              <a:t>지형효과에 따라 반격 확률이 증가할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5. </a:t>
            </a:r>
            <a:r>
              <a:rPr lang="ko-KR" altLang="en-US" dirty="0"/>
              <a:t>공격자가 방어 유닛의 기본 공격 사정거리 밖에 있으면 반격할 수 없다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6. </a:t>
            </a:r>
            <a:r>
              <a:rPr lang="ko-KR" altLang="en-US" dirty="0"/>
              <a:t>반격은 방어 유닛의 기본 공격으로만 처리한다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7. </a:t>
            </a:r>
            <a:r>
              <a:rPr lang="ko-KR" altLang="en-US" dirty="0"/>
              <a:t>반격은 한 번의 전투에서 </a:t>
            </a:r>
            <a:r>
              <a:rPr lang="en-US" altLang="ko-KR" dirty="0"/>
              <a:t>1</a:t>
            </a:r>
            <a:r>
              <a:rPr lang="ko-KR" altLang="en-US" dirty="0"/>
              <a:t>회만 발생한다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8. </a:t>
            </a:r>
            <a:r>
              <a:rPr lang="ko-KR" altLang="en-US" dirty="0"/>
              <a:t>범위 공격으로 피해를 받은 다른 유닛은 반격할 수 없다</a:t>
            </a:r>
            <a:r>
              <a:rPr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EDE9A-0044-58E8-2858-E30CA6CC0CF6}"/>
              </a:ext>
            </a:extLst>
          </p:cNvPr>
          <p:cNvSpPr txBox="1"/>
          <p:nvPr/>
        </p:nvSpPr>
        <p:spPr>
          <a:xfrm>
            <a:off x="502920" y="76358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공격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대기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018053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캐릭터 행동 규칙 - 전투 결과와 기타 행동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3566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상태 이상</a:t>
            </a:r>
            <a:endParaRPr lang="en-US" sz="1700" dirty="0">
              <a:latin typeface="Malgun Gothic"/>
              <a:ea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3931F4-32B6-431E-E842-9E9FF145E9C5}"/>
              </a:ext>
            </a:extLst>
          </p:cNvPr>
          <p:cNvSpPr txBox="1"/>
          <p:nvPr/>
        </p:nvSpPr>
        <p:spPr>
          <a:xfrm>
            <a:off x="530352" y="1654898"/>
            <a:ext cx="85496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ko-KR" sz="1500" dirty="0"/>
              <a:t>혼란은 공격 자체를 막지 않으며, 공격 대상을 직접 선택하지 못하게 한다. </a:t>
            </a:r>
            <a:br>
              <a:rPr lang="en-US" altLang="ko-KR" sz="1500" dirty="0"/>
            </a:br>
            <a:r>
              <a:rPr lang="en-US" altLang="ko-KR" sz="1500" dirty="0"/>
              <a:t>2. </a:t>
            </a:r>
            <a:r>
              <a:rPr lang="ko-KR" altLang="ko-KR" sz="1500" dirty="0"/>
              <a:t>혼란 상태에서는 공격 가능한 대상 중 가장 가까운 대상을 자동 선택한다.</a:t>
            </a:r>
            <a:br>
              <a:rPr lang="en-US" altLang="ko-KR" sz="1500" dirty="0"/>
            </a:br>
            <a:r>
              <a:rPr lang="en-US" altLang="ko-KR" sz="1500" dirty="0"/>
              <a:t>3. </a:t>
            </a:r>
            <a:r>
              <a:rPr lang="ko-KR" altLang="ko-KR" sz="1500" dirty="0"/>
              <a:t>타겟팅 특수능력은 가장 가까운 사용 가능 대상을 자동 선택한다.</a:t>
            </a:r>
            <a:br>
              <a:rPr lang="en-US" altLang="ko-KR" sz="1500" dirty="0"/>
            </a:br>
            <a:r>
              <a:rPr lang="en-US" altLang="ko-KR" sz="1500" dirty="0"/>
              <a:t>4. </a:t>
            </a:r>
            <a:r>
              <a:rPr lang="ko-KR" altLang="ko-KR" sz="1500" dirty="0" err="1"/>
              <a:t>논타겟팅</a:t>
            </a:r>
            <a:r>
              <a:rPr lang="ko-KR" altLang="ko-KR" sz="1500" dirty="0"/>
              <a:t> 특수능력은 대상 선택이 필요하지 않은 경우 정상 사용한다.</a:t>
            </a:r>
            <a:br>
              <a:rPr lang="en-US" altLang="ko-KR" sz="1500" dirty="0"/>
            </a:br>
            <a:r>
              <a:rPr lang="en-US" altLang="ko-KR" sz="1500" dirty="0"/>
              <a:t>5. </a:t>
            </a:r>
            <a:r>
              <a:rPr lang="ko-KR" altLang="ko-KR" sz="1500" dirty="0"/>
              <a:t>마비는 이동, 기본 공격, 특수능력, 반격을 모두 불가능하게 한다.</a:t>
            </a:r>
            <a:br>
              <a:rPr lang="en-US" altLang="ko-KR" sz="1500" dirty="0"/>
            </a:br>
            <a:r>
              <a:rPr lang="en-US" altLang="ko-KR" sz="1500" dirty="0"/>
              <a:t>6. </a:t>
            </a:r>
            <a:r>
              <a:rPr lang="ko-KR" altLang="ko-KR" sz="1500" dirty="0"/>
              <a:t>마비 상태가 된 유닛은 자신의 턴이 돌아오면 자동으로 대기 처리된다. </a:t>
            </a:r>
            <a:br>
              <a:rPr lang="en-US" altLang="ko-KR" sz="1500" dirty="0"/>
            </a:br>
            <a:r>
              <a:rPr lang="en-US" altLang="ko-KR" sz="1500" dirty="0"/>
              <a:t>7. </a:t>
            </a:r>
            <a:r>
              <a:rPr lang="ko-KR" altLang="ko-KR" sz="1500" dirty="0"/>
              <a:t>제압은 이동이나 공격을 막지 않으며, 해당 상태에서는 </a:t>
            </a:r>
            <a:r>
              <a:rPr lang="ko-KR" altLang="ko-KR" sz="1500" dirty="0" err="1"/>
              <a:t>ZOC만</a:t>
            </a:r>
            <a:r>
              <a:rPr lang="ko-KR" altLang="ko-KR" sz="1500" dirty="0"/>
              <a:t> 발생하지 않는다.</a:t>
            </a:r>
            <a:br>
              <a:rPr lang="en-US" altLang="ko-KR" sz="1500" dirty="0"/>
            </a:br>
            <a:r>
              <a:rPr lang="en-US" altLang="ko-KR" sz="1500" dirty="0"/>
              <a:t>8. </a:t>
            </a:r>
            <a:r>
              <a:rPr lang="ko-KR" altLang="ko-KR" sz="1500" dirty="0"/>
              <a:t>상태이상 지속 턴은 해당 유닛의 턴 종료 시 1씩 감소한다.</a:t>
            </a:r>
            <a:endParaRPr lang="en-US" altLang="ko-KR"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C8523B-3430-4983-83DC-E667C65AB01E}"/>
              </a:ext>
            </a:extLst>
          </p:cNvPr>
          <p:cNvSpPr txBox="1"/>
          <p:nvPr/>
        </p:nvSpPr>
        <p:spPr>
          <a:xfrm>
            <a:off x="502920" y="76358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공격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대기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Malgun Gothic"/>
              <a:ea typeface="Malgun Gothic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E25846A-DE40-0A21-6B52-6E3CA0EB9DFC}"/>
              </a:ext>
            </a:extLst>
          </p:cNvPr>
          <p:cNvGrpSpPr/>
          <p:nvPr/>
        </p:nvGrpSpPr>
        <p:grpSpPr>
          <a:xfrm>
            <a:off x="556371" y="3785930"/>
            <a:ext cx="10698479" cy="2834344"/>
            <a:chOff x="2086868" y="1324208"/>
            <a:chExt cx="9733219" cy="3226397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1E551EE7-AB3E-5421-2104-B16F40AE9492}"/>
                </a:ext>
              </a:extLst>
            </p:cNvPr>
            <p:cNvSpPr/>
            <p:nvPr/>
          </p:nvSpPr>
          <p:spPr>
            <a:xfrm>
              <a:off x="2086868" y="1327488"/>
              <a:ext cx="1395258" cy="6449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상태이상</a:t>
              </a:r>
              <a:endParaRPr lang="en-US" sz="102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0770DFF2-1BBC-BF08-8BAA-F160EC706C1D}"/>
                </a:ext>
              </a:extLst>
            </p:cNvPr>
            <p:cNvSpPr/>
            <p:nvPr/>
          </p:nvSpPr>
          <p:spPr>
            <a:xfrm>
              <a:off x="3482126" y="1325192"/>
              <a:ext cx="1395258" cy="6449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지속</a:t>
              </a:r>
              <a:endParaRPr lang="en-US" sz="1020" dirty="0"/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547AAEA0-496A-A284-9A3F-F5F31406AB3B}"/>
                </a:ext>
              </a:extLst>
            </p:cNvPr>
            <p:cNvSpPr/>
            <p:nvPr/>
          </p:nvSpPr>
          <p:spPr>
            <a:xfrm>
              <a:off x="2086868" y="1972466"/>
              <a:ext cx="1395258" cy="6449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독</a:t>
              </a:r>
              <a:endParaRPr lang="en-US" sz="1020" dirty="0"/>
            </a:p>
          </p:txBody>
        </p:sp>
        <p:sp>
          <p:nvSpPr>
            <p:cNvPr id="12" name="Text 14">
              <a:extLst>
                <a:ext uri="{FF2B5EF4-FFF2-40B4-BE49-F238E27FC236}">
                  <a16:creationId xmlns:a16="http://schemas.microsoft.com/office/drawing/2014/main" id="{351456C4-E025-885A-E948-AE2D0E56C4C9}"/>
                </a:ext>
              </a:extLst>
            </p:cNvPr>
            <p:cNvSpPr/>
            <p:nvPr/>
          </p:nvSpPr>
          <p:spPr>
            <a:xfrm>
              <a:off x="3482126" y="1970171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/>
                <a:t>3</a:t>
              </a:r>
              <a:r>
                <a:rPr lang="ko-KR" altLang="en-US" sz="1020" dirty="0"/>
                <a:t>턴</a:t>
              </a:r>
              <a:endParaRPr lang="en-US" sz="1020" dirty="0"/>
            </a:p>
          </p:txBody>
        </p:sp>
        <p:sp>
          <p:nvSpPr>
            <p:cNvPr id="14" name="Text 20">
              <a:extLst>
                <a:ext uri="{FF2B5EF4-FFF2-40B4-BE49-F238E27FC236}">
                  <a16:creationId xmlns:a16="http://schemas.microsoft.com/office/drawing/2014/main" id="{02C0BE3D-17C8-8A92-EA9E-7FEBB7EF8F38}"/>
                </a:ext>
              </a:extLst>
            </p:cNvPr>
            <p:cNvSpPr/>
            <p:nvPr/>
          </p:nvSpPr>
          <p:spPr>
            <a:xfrm>
              <a:off x="2086868" y="2615153"/>
              <a:ext cx="1395258" cy="6449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혼란</a:t>
              </a:r>
              <a:endParaRPr lang="en-US" sz="1020" dirty="0"/>
            </a:p>
          </p:txBody>
        </p:sp>
        <p:sp>
          <p:nvSpPr>
            <p:cNvPr id="16" name="Text 21">
              <a:extLst>
                <a:ext uri="{FF2B5EF4-FFF2-40B4-BE49-F238E27FC236}">
                  <a16:creationId xmlns:a16="http://schemas.microsoft.com/office/drawing/2014/main" id="{CFC2C906-F61A-9A4C-084C-AFF264F05A8C}"/>
                </a:ext>
              </a:extLst>
            </p:cNvPr>
            <p:cNvSpPr/>
            <p:nvPr/>
          </p:nvSpPr>
          <p:spPr>
            <a:xfrm>
              <a:off x="3482126" y="2615152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/>
                <a:t>1</a:t>
              </a:r>
              <a:r>
                <a:rPr lang="ko-KR" altLang="en-US" sz="1020" dirty="0"/>
                <a:t>턴</a:t>
              </a:r>
              <a:endParaRPr lang="en-US" sz="1020" dirty="0"/>
            </a:p>
          </p:txBody>
        </p:sp>
        <p:sp>
          <p:nvSpPr>
            <p:cNvPr id="17" name="Text 27">
              <a:extLst>
                <a:ext uri="{FF2B5EF4-FFF2-40B4-BE49-F238E27FC236}">
                  <a16:creationId xmlns:a16="http://schemas.microsoft.com/office/drawing/2014/main" id="{268DBF6B-98FC-AA5B-0127-E56EC1F794A7}"/>
                </a:ext>
              </a:extLst>
            </p:cNvPr>
            <p:cNvSpPr/>
            <p:nvPr/>
          </p:nvSpPr>
          <p:spPr>
            <a:xfrm>
              <a:off x="2086868" y="3260133"/>
              <a:ext cx="1395258" cy="6449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마비</a:t>
              </a:r>
              <a:endParaRPr lang="en-US" sz="1020" dirty="0"/>
            </a:p>
          </p:txBody>
        </p:sp>
        <p:sp>
          <p:nvSpPr>
            <p:cNvPr id="18" name="Text 28">
              <a:extLst>
                <a:ext uri="{FF2B5EF4-FFF2-40B4-BE49-F238E27FC236}">
                  <a16:creationId xmlns:a16="http://schemas.microsoft.com/office/drawing/2014/main" id="{8E4FEB34-4ED9-4EF7-55C1-8BB918726A8B}"/>
                </a:ext>
              </a:extLst>
            </p:cNvPr>
            <p:cNvSpPr/>
            <p:nvPr/>
          </p:nvSpPr>
          <p:spPr>
            <a:xfrm>
              <a:off x="3482126" y="3260132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/>
                <a:t>1</a:t>
              </a:r>
              <a:r>
                <a:rPr lang="ko-KR" altLang="en-US" sz="1020" dirty="0"/>
                <a:t>턴</a:t>
              </a:r>
              <a:endParaRPr lang="en-US" sz="1020" dirty="0"/>
            </a:p>
          </p:txBody>
        </p:sp>
        <p:sp>
          <p:nvSpPr>
            <p:cNvPr id="19" name="Text 34">
              <a:extLst>
                <a:ext uri="{FF2B5EF4-FFF2-40B4-BE49-F238E27FC236}">
                  <a16:creationId xmlns:a16="http://schemas.microsoft.com/office/drawing/2014/main" id="{A8858F8A-427A-2EF7-B625-5F2F6466A2F0}"/>
                </a:ext>
              </a:extLst>
            </p:cNvPr>
            <p:cNvSpPr/>
            <p:nvPr/>
          </p:nvSpPr>
          <p:spPr>
            <a:xfrm>
              <a:off x="2086868" y="3905114"/>
              <a:ext cx="1395258" cy="6449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제압</a:t>
              </a:r>
              <a:endParaRPr lang="en-US" sz="1020" dirty="0"/>
            </a:p>
          </p:txBody>
        </p:sp>
        <p:sp>
          <p:nvSpPr>
            <p:cNvPr id="20" name="Text 35">
              <a:extLst>
                <a:ext uri="{FF2B5EF4-FFF2-40B4-BE49-F238E27FC236}">
                  <a16:creationId xmlns:a16="http://schemas.microsoft.com/office/drawing/2014/main" id="{576FFB26-90ED-3752-0061-2B7093343CF7}"/>
                </a:ext>
              </a:extLst>
            </p:cNvPr>
            <p:cNvSpPr/>
            <p:nvPr/>
          </p:nvSpPr>
          <p:spPr>
            <a:xfrm>
              <a:off x="3482126" y="3905112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</a:rPr>
                <a:t>1</a:t>
              </a:r>
              <a:r>
                <a:rPr lang="ko-KR" alt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</a:rPr>
                <a:t>턴</a:t>
              </a:r>
              <a:endParaRPr lang="en-US" sz="1020" dirty="0"/>
            </a:p>
          </p:txBody>
        </p:sp>
        <p:sp>
          <p:nvSpPr>
            <p:cNvPr id="23" name="Text 7">
              <a:extLst>
                <a:ext uri="{FF2B5EF4-FFF2-40B4-BE49-F238E27FC236}">
                  <a16:creationId xmlns:a16="http://schemas.microsoft.com/office/drawing/2014/main" id="{9E411925-EAD1-119B-3AF8-961A023B3453}"/>
                </a:ext>
              </a:extLst>
            </p:cNvPr>
            <p:cNvSpPr/>
            <p:nvPr/>
          </p:nvSpPr>
          <p:spPr>
            <a:xfrm>
              <a:off x="4877379" y="1325192"/>
              <a:ext cx="1395258" cy="6449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이동</a:t>
              </a:r>
              <a:endParaRPr lang="en-US" sz="1020" dirty="0"/>
            </a:p>
          </p:txBody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F86A3187-BD16-B025-D66F-257590DCD011}"/>
                </a:ext>
              </a:extLst>
            </p:cNvPr>
            <p:cNvSpPr/>
            <p:nvPr/>
          </p:nvSpPr>
          <p:spPr>
            <a:xfrm>
              <a:off x="4888546" y="1992016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가능</a:t>
              </a:r>
              <a:endParaRPr lang="en-US" sz="1020" dirty="0"/>
            </a:p>
          </p:txBody>
        </p:sp>
        <p:sp>
          <p:nvSpPr>
            <p:cNvPr id="25" name="Text 21">
              <a:extLst>
                <a:ext uri="{FF2B5EF4-FFF2-40B4-BE49-F238E27FC236}">
                  <a16:creationId xmlns:a16="http://schemas.microsoft.com/office/drawing/2014/main" id="{C3D1ED27-051E-3723-8BCC-C04EAB46DE4B}"/>
                </a:ext>
              </a:extLst>
            </p:cNvPr>
            <p:cNvSpPr/>
            <p:nvPr/>
          </p:nvSpPr>
          <p:spPr>
            <a:xfrm>
              <a:off x="4877386" y="2615153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가능</a:t>
              </a:r>
              <a:endParaRPr lang="en-US" sz="1020" dirty="0"/>
            </a:p>
          </p:txBody>
        </p:sp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D5A4BAF2-EC9B-25CC-59AE-A1D570744526}"/>
                </a:ext>
              </a:extLst>
            </p:cNvPr>
            <p:cNvSpPr/>
            <p:nvPr/>
          </p:nvSpPr>
          <p:spPr>
            <a:xfrm>
              <a:off x="6272644" y="1327488"/>
              <a:ext cx="1395258" cy="6449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기본 공격</a:t>
              </a:r>
              <a:endParaRPr lang="en-US" sz="1020" dirty="0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71047624-DBCC-1B10-7603-5441AE3927B2}"/>
                </a:ext>
              </a:extLst>
            </p:cNvPr>
            <p:cNvSpPr/>
            <p:nvPr/>
          </p:nvSpPr>
          <p:spPr>
            <a:xfrm>
              <a:off x="6272625" y="1992016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가능</a:t>
              </a:r>
              <a:endParaRPr lang="en-US" sz="1020" dirty="0"/>
            </a:p>
          </p:txBody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8FA69838-044D-BB8C-CB28-DE2BD24A7114}"/>
                </a:ext>
              </a:extLst>
            </p:cNvPr>
            <p:cNvSpPr/>
            <p:nvPr/>
          </p:nvSpPr>
          <p:spPr>
            <a:xfrm>
              <a:off x="6261455" y="2615152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/>
                <a:t>타겟팅 자동 선택</a:t>
              </a:r>
              <a:endParaRPr lang="en-US" sz="1020" dirty="0"/>
            </a:p>
          </p:txBody>
        </p:sp>
        <p:sp>
          <p:nvSpPr>
            <p:cNvPr id="29" name="Text 7">
              <a:extLst>
                <a:ext uri="{FF2B5EF4-FFF2-40B4-BE49-F238E27FC236}">
                  <a16:creationId xmlns:a16="http://schemas.microsoft.com/office/drawing/2014/main" id="{3619AC88-C1BA-C9C6-28C0-52CE4431EF3A}"/>
                </a:ext>
              </a:extLst>
            </p:cNvPr>
            <p:cNvSpPr/>
            <p:nvPr/>
          </p:nvSpPr>
          <p:spPr>
            <a:xfrm>
              <a:off x="7645564" y="1327486"/>
              <a:ext cx="1395258" cy="6449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특수 능력</a:t>
              </a:r>
              <a:endParaRPr lang="en-US" sz="1020" dirty="0"/>
            </a:p>
          </p:txBody>
        </p:sp>
        <p:sp>
          <p:nvSpPr>
            <p:cNvPr id="30" name="Text 14">
              <a:extLst>
                <a:ext uri="{FF2B5EF4-FFF2-40B4-BE49-F238E27FC236}">
                  <a16:creationId xmlns:a16="http://schemas.microsoft.com/office/drawing/2014/main" id="{AEC9E00C-B29D-EDAD-A9C6-18BE853467BD}"/>
                </a:ext>
              </a:extLst>
            </p:cNvPr>
            <p:cNvSpPr/>
            <p:nvPr/>
          </p:nvSpPr>
          <p:spPr>
            <a:xfrm>
              <a:off x="7656733" y="1974713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1050" dirty="0"/>
                <a:t>가능</a:t>
              </a:r>
              <a:endParaRPr lang="en-US" sz="1020" dirty="0"/>
            </a:p>
          </p:txBody>
        </p:sp>
        <p:sp>
          <p:nvSpPr>
            <p:cNvPr id="31" name="Text 21">
              <a:extLst>
                <a:ext uri="{FF2B5EF4-FFF2-40B4-BE49-F238E27FC236}">
                  <a16:creationId xmlns:a16="http://schemas.microsoft.com/office/drawing/2014/main" id="{57E1510C-490D-3A2B-C700-E52185896709}"/>
                </a:ext>
              </a:extLst>
            </p:cNvPr>
            <p:cNvSpPr/>
            <p:nvPr/>
          </p:nvSpPr>
          <p:spPr>
            <a:xfrm>
              <a:off x="7623226" y="2614972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/>
                <a:t>타겟팅 자동 선택</a:t>
              </a:r>
              <a:endParaRPr lang="en-US" sz="1020" dirty="0"/>
            </a:p>
          </p:txBody>
        </p:sp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3D570FD5-6239-52C4-03F9-0D02340CE996}"/>
                </a:ext>
              </a:extLst>
            </p:cNvPr>
            <p:cNvSpPr/>
            <p:nvPr/>
          </p:nvSpPr>
          <p:spPr>
            <a:xfrm>
              <a:off x="9029653" y="1324208"/>
              <a:ext cx="1395258" cy="649099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반격</a:t>
              </a:r>
              <a:endParaRPr lang="en-US" sz="1020" dirty="0"/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A8CD1E3D-0453-C969-20CF-09647A7E3557}"/>
                </a:ext>
              </a:extLst>
            </p:cNvPr>
            <p:cNvSpPr/>
            <p:nvPr/>
          </p:nvSpPr>
          <p:spPr>
            <a:xfrm>
              <a:off x="9029572" y="1966221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가능</a:t>
              </a:r>
              <a:endParaRPr lang="en-US" sz="1020" dirty="0"/>
            </a:p>
          </p:txBody>
        </p:sp>
        <p:sp>
          <p:nvSpPr>
            <p:cNvPr id="34" name="Text 21">
              <a:extLst>
                <a:ext uri="{FF2B5EF4-FFF2-40B4-BE49-F238E27FC236}">
                  <a16:creationId xmlns:a16="http://schemas.microsoft.com/office/drawing/2014/main" id="{25093D7E-C9EE-5727-D6DE-9721F7AE7210}"/>
                </a:ext>
              </a:extLst>
            </p:cNvPr>
            <p:cNvSpPr/>
            <p:nvPr/>
          </p:nvSpPr>
          <p:spPr>
            <a:xfrm>
              <a:off x="9026558" y="2615808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가능</a:t>
              </a:r>
              <a:endParaRPr lang="en-US" sz="1020" dirty="0"/>
            </a:p>
          </p:txBody>
        </p:sp>
        <p:sp>
          <p:nvSpPr>
            <p:cNvPr id="35" name="Text 7">
              <a:extLst>
                <a:ext uri="{FF2B5EF4-FFF2-40B4-BE49-F238E27FC236}">
                  <a16:creationId xmlns:a16="http://schemas.microsoft.com/office/drawing/2014/main" id="{A1E26DE8-5E4F-42AA-4BAE-48B2E59AA861}"/>
                </a:ext>
              </a:extLst>
            </p:cNvPr>
            <p:cNvSpPr/>
            <p:nvPr/>
          </p:nvSpPr>
          <p:spPr>
            <a:xfrm>
              <a:off x="10421815" y="1325191"/>
              <a:ext cx="1395258" cy="6449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효과</a:t>
              </a:r>
              <a:endParaRPr lang="en-US" sz="1020" dirty="0"/>
            </a:p>
          </p:txBody>
        </p:sp>
        <p:sp>
          <p:nvSpPr>
            <p:cNvPr id="36" name="Text 14">
              <a:extLst>
                <a:ext uri="{FF2B5EF4-FFF2-40B4-BE49-F238E27FC236}">
                  <a16:creationId xmlns:a16="http://schemas.microsoft.com/office/drawing/2014/main" id="{B00653BB-8AD6-F2A7-A4EC-4BAA9AB4A510}"/>
                </a:ext>
              </a:extLst>
            </p:cNvPr>
            <p:cNvSpPr/>
            <p:nvPr/>
          </p:nvSpPr>
          <p:spPr>
            <a:xfrm>
              <a:off x="10424829" y="1992015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1050" dirty="0"/>
                <a:t>턴 시작 시 최대 체력 5% 피해</a:t>
              </a:r>
              <a:endParaRPr lang="en-US" sz="1020" dirty="0"/>
            </a:p>
          </p:txBody>
        </p:sp>
        <p:sp>
          <p:nvSpPr>
            <p:cNvPr id="37" name="Text 21">
              <a:extLst>
                <a:ext uri="{FF2B5EF4-FFF2-40B4-BE49-F238E27FC236}">
                  <a16:creationId xmlns:a16="http://schemas.microsoft.com/office/drawing/2014/main" id="{ADB03C3E-7E08-B1A6-B0A4-466315F9666B}"/>
                </a:ext>
              </a:extLst>
            </p:cNvPr>
            <p:cNvSpPr/>
            <p:nvPr/>
          </p:nvSpPr>
          <p:spPr>
            <a:xfrm>
              <a:off x="10420309" y="2615808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1050" dirty="0"/>
                <a:t>공격/특수능력 대상을 직접 선택할 수 없</a:t>
              </a:r>
              <a:r>
                <a:rPr lang="ko-KR" altLang="en-US" sz="1050" dirty="0"/>
                <a:t>음</a:t>
              </a:r>
              <a:endParaRPr lang="en-US" sz="1020" dirty="0"/>
            </a:p>
          </p:txBody>
        </p:sp>
        <p:sp>
          <p:nvSpPr>
            <p:cNvPr id="38" name="Text 28">
              <a:extLst>
                <a:ext uri="{FF2B5EF4-FFF2-40B4-BE49-F238E27FC236}">
                  <a16:creationId xmlns:a16="http://schemas.microsoft.com/office/drawing/2014/main" id="{AB61A83B-78F7-5BD8-A372-26FC8EAB20F9}"/>
                </a:ext>
              </a:extLst>
            </p:cNvPr>
            <p:cNvSpPr/>
            <p:nvPr/>
          </p:nvSpPr>
          <p:spPr>
            <a:xfrm>
              <a:off x="4866216" y="3260133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불가능</a:t>
              </a:r>
              <a:endParaRPr lang="en-US" sz="1020" dirty="0"/>
            </a:p>
          </p:txBody>
        </p:sp>
        <p:sp>
          <p:nvSpPr>
            <p:cNvPr id="39" name="Text 35">
              <a:extLst>
                <a:ext uri="{FF2B5EF4-FFF2-40B4-BE49-F238E27FC236}">
                  <a16:creationId xmlns:a16="http://schemas.microsoft.com/office/drawing/2014/main" id="{7811149A-3153-7780-7304-84E47A097D6E}"/>
                </a:ext>
              </a:extLst>
            </p:cNvPr>
            <p:cNvSpPr/>
            <p:nvPr/>
          </p:nvSpPr>
          <p:spPr>
            <a:xfrm>
              <a:off x="4866216" y="3905111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</a:rPr>
                <a:t>가능</a:t>
              </a:r>
              <a:endParaRPr lang="en-US" sz="1020" dirty="0"/>
            </a:p>
          </p:txBody>
        </p:sp>
        <p:sp>
          <p:nvSpPr>
            <p:cNvPr id="41" name="Text 28">
              <a:extLst>
                <a:ext uri="{FF2B5EF4-FFF2-40B4-BE49-F238E27FC236}">
                  <a16:creationId xmlns:a16="http://schemas.microsoft.com/office/drawing/2014/main" id="{515703CF-06D6-A874-B6A3-284B335CD31C}"/>
                </a:ext>
              </a:extLst>
            </p:cNvPr>
            <p:cNvSpPr/>
            <p:nvPr/>
          </p:nvSpPr>
          <p:spPr>
            <a:xfrm>
              <a:off x="6250306" y="3260133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불가능</a:t>
              </a:r>
              <a:endParaRPr lang="en-US" sz="1020" dirty="0"/>
            </a:p>
          </p:txBody>
        </p:sp>
        <p:sp>
          <p:nvSpPr>
            <p:cNvPr id="42" name="Text 35">
              <a:extLst>
                <a:ext uri="{FF2B5EF4-FFF2-40B4-BE49-F238E27FC236}">
                  <a16:creationId xmlns:a16="http://schemas.microsoft.com/office/drawing/2014/main" id="{9311C547-E5B2-3006-71A2-70A8B661641B}"/>
                </a:ext>
              </a:extLst>
            </p:cNvPr>
            <p:cNvSpPr/>
            <p:nvPr/>
          </p:nvSpPr>
          <p:spPr>
            <a:xfrm>
              <a:off x="6250306" y="3905111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</a:rPr>
                <a:t>가능</a:t>
              </a:r>
              <a:endParaRPr lang="en-US" sz="1020" dirty="0"/>
            </a:p>
          </p:txBody>
        </p:sp>
        <p:sp>
          <p:nvSpPr>
            <p:cNvPr id="44" name="Text 28">
              <a:extLst>
                <a:ext uri="{FF2B5EF4-FFF2-40B4-BE49-F238E27FC236}">
                  <a16:creationId xmlns:a16="http://schemas.microsoft.com/office/drawing/2014/main" id="{DC34F41F-3965-788A-0A10-4DD50727CF88}"/>
                </a:ext>
              </a:extLst>
            </p:cNvPr>
            <p:cNvSpPr/>
            <p:nvPr/>
          </p:nvSpPr>
          <p:spPr>
            <a:xfrm>
              <a:off x="7634396" y="3259809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불가능</a:t>
              </a:r>
              <a:endParaRPr lang="en-US" sz="1020" dirty="0"/>
            </a:p>
          </p:txBody>
        </p:sp>
        <p:sp>
          <p:nvSpPr>
            <p:cNvPr id="45" name="Text 35">
              <a:extLst>
                <a:ext uri="{FF2B5EF4-FFF2-40B4-BE49-F238E27FC236}">
                  <a16:creationId xmlns:a16="http://schemas.microsoft.com/office/drawing/2014/main" id="{3BE8480A-78B9-A8CE-C165-84D600D8E8D9}"/>
                </a:ext>
              </a:extLst>
            </p:cNvPr>
            <p:cNvSpPr/>
            <p:nvPr/>
          </p:nvSpPr>
          <p:spPr>
            <a:xfrm>
              <a:off x="7612058" y="3902415"/>
              <a:ext cx="1395258" cy="647347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가능</a:t>
              </a:r>
              <a:endParaRPr lang="en-US" sz="1020" dirty="0"/>
            </a:p>
          </p:txBody>
        </p:sp>
        <p:sp>
          <p:nvSpPr>
            <p:cNvPr id="47" name="Text 28">
              <a:extLst>
                <a:ext uri="{FF2B5EF4-FFF2-40B4-BE49-F238E27FC236}">
                  <a16:creationId xmlns:a16="http://schemas.microsoft.com/office/drawing/2014/main" id="{168D74FF-C0CE-1A33-38DC-698766C483C5}"/>
                </a:ext>
              </a:extLst>
            </p:cNvPr>
            <p:cNvSpPr/>
            <p:nvPr/>
          </p:nvSpPr>
          <p:spPr>
            <a:xfrm>
              <a:off x="9007316" y="3259805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불가능</a:t>
              </a:r>
              <a:endParaRPr lang="en-US" sz="1020" dirty="0"/>
            </a:p>
          </p:txBody>
        </p:sp>
        <p:sp>
          <p:nvSpPr>
            <p:cNvPr id="48" name="Text 35">
              <a:extLst>
                <a:ext uri="{FF2B5EF4-FFF2-40B4-BE49-F238E27FC236}">
                  <a16:creationId xmlns:a16="http://schemas.microsoft.com/office/drawing/2014/main" id="{3DE5A843-4A2D-03DF-C163-C2076752B73A}"/>
                </a:ext>
              </a:extLst>
            </p:cNvPr>
            <p:cNvSpPr/>
            <p:nvPr/>
          </p:nvSpPr>
          <p:spPr>
            <a:xfrm>
              <a:off x="9012292" y="3905625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</a:rPr>
                <a:t>가능</a:t>
              </a:r>
              <a:endParaRPr lang="en-US" sz="1020" dirty="0"/>
            </a:p>
          </p:txBody>
        </p:sp>
        <p:sp>
          <p:nvSpPr>
            <p:cNvPr id="50" name="Text 28">
              <a:extLst>
                <a:ext uri="{FF2B5EF4-FFF2-40B4-BE49-F238E27FC236}">
                  <a16:creationId xmlns:a16="http://schemas.microsoft.com/office/drawing/2014/main" id="{30B1C505-5FB8-2169-3B6E-27B4D689709E}"/>
                </a:ext>
              </a:extLst>
            </p:cNvPr>
            <p:cNvSpPr/>
            <p:nvPr/>
          </p:nvSpPr>
          <p:spPr>
            <a:xfrm>
              <a:off x="10419934" y="3268181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en-US" sz="1050" dirty="0"/>
                <a:t>턴이 돌아</a:t>
              </a:r>
              <a:r>
                <a:rPr lang="ko-KR" altLang="ko-KR" sz="1050" dirty="0"/>
                <a:t>오면 자동 대기 처리</a:t>
              </a:r>
              <a:endParaRPr lang="en-US" sz="1020" dirty="0"/>
            </a:p>
          </p:txBody>
        </p:sp>
        <p:sp>
          <p:nvSpPr>
            <p:cNvPr id="51" name="Text 35">
              <a:extLst>
                <a:ext uri="{FF2B5EF4-FFF2-40B4-BE49-F238E27FC236}">
                  <a16:creationId xmlns:a16="http://schemas.microsoft.com/office/drawing/2014/main" id="{D3C0ECFC-B767-CE65-5A92-84D8E4CF6B6A}"/>
                </a:ext>
              </a:extLst>
            </p:cNvPr>
            <p:cNvSpPr/>
            <p:nvPr/>
          </p:nvSpPr>
          <p:spPr>
            <a:xfrm>
              <a:off x="10407549" y="3902415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1050" dirty="0"/>
                <a:t>ZOC 발생 불가</a:t>
              </a:r>
              <a:endParaRPr lang="en-US" sz="1020" dirty="0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72746-765F-AD26-AB82-7BB82F9B6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50B6578-DFCB-A9D4-D521-283F29803E60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캐릭터 행동 규칙 - 전투 결과와 기타 행동</a:t>
            </a:r>
            <a:endParaRPr lang="en-US" sz="2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C3B6526-DD90-3D74-ECE0-343460BA577A}"/>
              </a:ext>
            </a:extLst>
          </p:cNvPr>
          <p:cNvSpPr/>
          <p:nvPr/>
        </p:nvSpPr>
        <p:spPr>
          <a:xfrm>
            <a:off x="594360" y="1110618"/>
            <a:ext cx="35661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ko-KR" alt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캐릭터 사망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ED559971-08AE-6AB8-D074-1999FCE5CDF0}"/>
              </a:ext>
            </a:extLst>
          </p:cNvPr>
          <p:cNvSpPr/>
          <p:nvPr/>
        </p:nvSpPr>
        <p:spPr>
          <a:xfrm>
            <a:off x="594360" y="3789244"/>
            <a:ext cx="35661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ko-KR" alt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전투 보상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8C878D-4875-8ADC-4A8A-76593280040F}"/>
              </a:ext>
            </a:extLst>
          </p:cNvPr>
          <p:cNvSpPr txBox="1"/>
          <p:nvPr/>
        </p:nvSpPr>
        <p:spPr>
          <a:xfrm>
            <a:off x="594360" y="1598046"/>
            <a:ext cx="83088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en-US" sz="1500" dirty="0"/>
              <a:t>유닛의 체력이 </a:t>
            </a:r>
            <a:r>
              <a:rPr lang="en-US" altLang="ko-KR" sz="1500" dirty="0"/>
              <a:t>0</a:t>
            </a:r>
            <a:r>
              <a:rPr lang="ko-KR" altLang="en-US" sz="1500" dirty="0"/>
              <a:t>이 되면 전투 불능 상태가 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 </a:t>
            </a:r>
            <a:r>
              <a:rPr lang="ko-KR" altLang="en-US" sz="1500" dirty="0"/>
              <a:t>전투 불능 상태가 된 유닛은 전투 </a:t>
            </a:r>
            <a:r>
              <a:rPr lang="ko-KR" altLang="en-US" sz="1500" dirty="0" err="1"/>
              <a:t>맵에서</a:t>
            </a:r>
            <a:r>
              <a:rPr lang="ko-KR" altLang="en-US" sz="1500" dirty="0"/>
              <a:t> 제거된다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3. </a:t>
            </a:r>
            <a:r>
              <a:rPr lang="ko-KR" altLang="en-US" sz="1500" dirty="0"/>
              <a:t>제거된 유닛은 해당 스테이지가 끝날 때까지 다시 행동할 수 없다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4. </a:t>
            </a:r>
            <a:r>
              <a:rPr lang="ko-KR" altLang="en-US" sz="1500" dirty="0"/>
              <a:t>전투 불능 유닛은 같은 스테이지 안에서 아이템이나 특수능력으로 부활할 수 없다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5. </a:t>
            </a:r>
            <a:r>
              <a:rPr lang="ko-KR" altLang="en-US" sz="1500" dirty="0"/>
              <a:t>스테이지가 종료되면 전투 불능 상태는 해제된다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6. </a:t>
            </a:r>
            <a:r>
              <a:rPr lang="ko-KR" altLang="ko-KR" sz="1600" dirty="0"/>
              <a:t>현재 규칙에서는 영구 사망을 적용하지 않는다.</a:t>
            </a:r>
            <a:br>
              <a:rPr lang="en-US" altLang="ko-KR" sz="1600" dirty="0"/>
            </a:br>
            <a:r>
              <a:rPr lang="en-US" altLang="ko-KR" sz="1500" dirty="0"/>
              <a:t>7. </a:t>
            </a:r>
            <a:r>
              <a:rPr lang="ko-KR" altLang="en-US" sz="1500" dirty="0"/>
              <a:t>주요 아군 유닛 또는 보호 대상 </a:t>
            </a:r>
            <a:r>
              <a:rPr lang="en-US" altLang="ko-KR" sz="1500" dirty="0"/>
              <a:t>NPC</a:t>
            </a:r>
            <a:r>
              <a:rPr lang="ko-KR" altLang="en-US" sz="1500" dirty="0"/>
              <a:t>가 전투 불능 상태가 되면 패배 조건으로 연결될 수 있다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81581F-FFA7-6A81-6FFF-52EF6AA59CFC}"/>
              </a:ext>
            </a:extLst>
          </p:cNvPr>
          <p:cNvSpPr txBox="1"/>
          <p:nvPr/>
        </p:nvSpPr>
        <p:spPr>
          <a:xfrm>
            <a:off x="594360" y="4367709"/>
            <a:ext cx="93271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en-US" sz="1500" dirty="0"/>
              <a:t>전투 보상은 적 유닛 처치 보상과 스테이지 클리어 보상으로 구분한다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 </a:t>
            </a:r>
            <a:r>
              <a:rPr lang="ko-KR" altLang="en-US" sz="1500" dirty="0"/>
              <a:t>적 유닛을 처치한 아군 유닛은 경험치를 획득한다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3. </a:t>
            </a:r>
            <a:r>
              <a:rPr lang="ko-KR" altLang="en-US" sz="1500" dirty="0"/>
              <a:t>골드와 아이템은 플레이어 보상으로 지급한다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4. </a:t>
            </a:r>
            <a:r>
              <a:rPr lang="ko-KR" altLang="en-US" sz="1500" dirty="0"/>
              <a:t>데미지를 입히거나 회피한 것만으로는 보상을 지급하지 않는다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5. </a:t>
            </a:r>
            <a:r>
              <a:rPr lang="ko-KR" altLang="en-US" sz="1500" dirty="0"/>
              <a:t>보물상자는 해당 타일에 도착한 아군 유닛이 획득한다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6. </a:t>
            </a:r>
            <a:r>
              <a:rPr lang="ko-KR" altLang="en-US" sz="1500" dirty="0"/>
              <a:t>스테이지 클리어 보상은 승리 조건을 달성했을 때 지급한다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7. AI</a:t>
            </a:r>
            <a:r>
              <a:rPr lang="ko-KR" altLang="en-US" sz="1500" dirty="0"/>
              <a:t>가 조작하는 적 유닛은 전투 중 경험치나 보상을 획득하지 않는다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8. PvP</a:t>
            </a:r>
            <a:r>
              <a:rPr lang="ko-KR" altLang="en-US" sz="1500" dirty="0"/>
              <a:t>에서는 전투 중 보상을 지급하지 않고</a:t>
            </a:r>
            <a:r>
              <a:rPr lang="en-US" altLang="ko-KR" sz="1500" dirty="0"/>
              <a:t>, </a:t>
            </a:r>
            <a:r>
              <a:rPr lang="ko-KR" altLang="en-US" sz="1500" dirty="0"/>
              <a:t>경기 종료 결과 보상만 지급한다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6FB489-7558-F4EB-D359-4D0849FD3D04}"/>
              </a:ext>
            </a:extLst>
          </p:cNvPr>
          <p:cNvSpPr txBox="1"/>
          <p:nvPr/>
        </p:nvSpPr>
        <p:spPr>
          <a:xfrm>
            <a:off x="502920" y="76358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공격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대기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26571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캐릭터 행동 규칙 - 전투 결과와 기타 행동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3566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ko-KR" alt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특수 능력</a:t>
            </a:r>
            <a:endParaRPr lang="en-US" sz="1700" dirty="0">
              <a:latin typeface="Malgun Gothic"/>
              <a:ea typeface="Malgun Gothic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1792" y="3958983"/>
            <a:ext cx="35661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ko-KR" alt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방향 지정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A1EE5-04A7-EA60-A4D4-F5837A7CE2E9}"/>
              </a:ext>
            </a:extLst>
          </p:cNvPr>
          <p:cNvSpPr txBox="1"/>
          <p:nvPr/>
        </p:nvSpPr>
        <p:spPr>
          <a:xfrm>
            <a:off x="550094" y="1679099"/>
            <a:ext cx="53509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en-US" sz="1500" dirty="0"/>
              <a:t>특수능력은 유닛마다 가진 고유 능력이다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 </a:t>
            </a:r>
            <a:r>
              <a:rPr lang="ko-KR" altLang="en-US" sz="1500" dirty="0"/>
              <a:t>특수능력은 패시브와 액티브로 구분한다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3. </a:t>
            </a:r>
            <a:r>
              <a:rPr lang="ko-KR" altLang="en-US" sz="1500" dirty="0"/>
              <a:t>패시브는 조건이 맞으면 자동으로 적용된다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4. </a:t>
            </a:r>
            <a:r>
              <a:rPr lang="ko-KR" altLang="en-US" sz="1500" dirty="0"/>
              <a:t>액티브는 특수능력 게이지가 </a:t>
            </a:r>
            <a:r>
              <a:rPr lang="en-US" altLang="ko-KR" sz="1500" dirty="0"/>
              <a:t>100</a:t>
            </a:r>
            <a:r>
              <a:rPr lang="ko-KR" altLang="en-US" sz="1500" dirty="0"/>
              <a:t>일 때 사용할 수 있다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5. </a:t>
            </a:r>
            <a:r>
              <a:rPr lang="ko-KR" altLang="en-US" sz="1500" dirty="0"/>
              <a:t>액티브를 사용하면 해당 유닛의 행동은 종료된다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6. </a:t>
            </a:r>
            <a:r>
              <a:rPr lang="ko-KR" altLang="en-US" sz="1500" dirty="0"/>
              <a:t>액티브를 사용하면 게이지는 </a:t>
            </a:r>
            <a:r>
              <a:rPr lang="en-US" altLang="ko-KR" sz="1500" dirty="0"/>
              <a:t>0</a:t>
            </a:r>
            <a:r>
              <a:rPr lang="ko-KR" altLang="en-US" sz="1500" dirty="0"/>
              <a:t>으로 초기화된다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673DC-5999-ADB5-855C-5D004E669FFE}"/>
              </a:ext>
            </a:extLst>
          </p:cNvPr>
          <p:cNvSpPr txBox="1"/>
          <p:nvPr/>
        </p:nvSpPr>
        <p:spPr>
          <a:xfrm>
            <a:off x="594360" y="4495082"/>
            <a:ext cx="91924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500" dirty="0"/>
              <a:t>1. 유닛은 이동한 방향 또는 공격한 대상을 기준으로 방향이 정해진다. </a:t>
            </a:r>
          </a:p>
          <a:p>
            <a:pPr>
              <a:buNone/>
            </a:pPr>
            <a:r>
              <a:rPr lang="ko-KR" altLang="ko-KR" sz="1500" dirty="0"/>
              <a:t>2. 행동이 종료되면 해당 방향으로 고정된다. </a:t>
            </a:r>
          </a:p>
          <a:p>
            <a:pPr>
              <a:buNone/>
            </a:pPr>
            <a:r>
              <a:rPr lang="ko-KR" altLang="ko-KR" sz="1500" dirty="0"/>
              <a:t>3. 행동 종료 후에는 같은 턴에서 방향을 다시 변경할 수 없다. </a:t>
            </a:r>
          </a:p>
          <a:p>
            <a:pPr>
              <a:buNone/>
            </a:pPr>
            <a:r>
              <a:rPr lang="ko-KR" altLang="ko-KR" sz="1500" dirty="0"/>
              <a:t>4. 적 턴에는 아군 유닛의 방향을 직접 변경할 수 없다. </a:t>
            </a:r>
          </a:p>
          <a:p>
            <a:pPr>
              <a:buNone/>
            </a:pPr>
            <a:r>
              <a:rPr lang="ko-KR" altLang="ko-KR" sz="1500" dirty="0"/>
              <a:t>5. 공격받을 때는 전투 연출상 공격한 상대를 바라본다. </a:t>
            </a:r>
          </a:p>
          <a:p>
            <a:pPr>
              <a:buNone/>
            </a:pPr>
            <a:r>
              <a:rPr lang="ko-KR" altLang="ko-KR" sz="1500" dirty="0"/>
              <a:t>6. 방향은 유닛의 바라보는 방향을 표현하기 위한 요소이며, 데미지나 명중률에는 영향을 주지 않는다.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0BB345-5219-696E-3605-484711CF2857}"/>
              </a:ext>
            </a:extLst>
          </p:cNvPr>
          <p:cNvSpPr txBox="1"/>
          <p:nvPr/>
        </p:nvSpPr>
        <p:spPr>
          <a:xfrm>
            <a:off x="502920" y="76358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공격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대기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Malgun Gothic"/>
              <a:ea typeface="Malgun Gothic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1979720-09B1-8DF4-2F5D-89C71008E1E3}"/>
              </a:ext>
            </a:extLst>
          </p:cNvPr>
          <p:cNvGrpSpPr/>
          <p:nvPr/>
        </p:nvGrpSpPr>
        <p:grpSpPr>
          <a:xfrm>
            <a:off x="6969878" y="1337418"/>
            <a:ext cx="3090949" cy="2373651"/>
            <a:chOff x="812681" y="1910029"/>
            <a:chExt cx="3067256" cy="3399638"/>
          </a:xfrm>
        </p:grpSpPr>
        <p:sp>
          <p:nvSpPr>
            <p:cNvPr id="5" name="Text 6">
              <a:extLst>
                <a:ext uri="{FF2B5EF4-FFF2-40B4-BE49-F238E27FC236}">
                  <a16:creationId xmlns:a16="http://schemas.microsoft.com/office/drawing/2014/main" id="{E8C19EC1-C4A9-4A51-6B3B-8F018BE047BE}"/>
                </a:ext>
              </a:extLst>
            </p:cNvPr>
            <p:cNvSpPr/>
            <p:nvPr/>
          </p:nvSpPr>
          <p:spPr>
            <a:xfrm>
              <a:off x="812681" y="1912046"/>
              <a:ext cx="1533628" cy="566606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조건</a:t>
              </a:r>
              <a:endParaRPr lang="en-US" sz="1020" dirty="0"/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E75E9B57-771B-4F64-0DCD-5B8ED9B9DB87}"/>
                </a:ext>
              </a:extLst>
            </p:cNvPr>
            <p:cNvSpPr/>
            <p:nvPr/>
          </p:nvSpPr>
          <p:spPr>
            <a:xfrm>
              <a:off x="2346309" y="1910029"/>
              <a:ext cx="1533628" cy="566606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게이지 증가</a:t>
              </a:r>
              <a:endParaRPr lang="en-US" sz="1020" dirty="0"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F539ECB2-C2C0-0E9E-F0EE-5957733C85C6}"/>
                </a:ext>
              </a:extLst>
            </p:cNvPr>
            <p:cNvSpPr/>
            <p:nvPr/>
          </p:nvSpPr>
          <p:spPr>
            <a:xfrm>
              <a:off x="812681" y="2478650"/>
              <a:ext cx="1533628" cy="56660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1050" dirty="0"/>
                <a:t>자신의 턴 시작</a:t>
              </a:r>
              <a:endParaRPr lang="en-US" sz="1020" dirty="0"/>
            </a:p>
          </p:txBody>
        </p:sp>
        <p:sp>
          <p:nvSpPr>
            <p:cNvPr id="11" name="Text 14">
              <a:extLst>
                <a:ext uri="{FF2B5EF4-FFF2-40B4-BE49-F238E27FC236}">
                  <a16:creationId xmlns:a16="http://schemas.microsoft.com/office/drawing/2014/main" id="{598DE574-D4A9-5978-125C-E1423BBDF2D6}"/>
                </a:ext>
              </a:extLst>
            </p:cNvPr>
            <p:cNvSpPr/>
            <p:nvPr/>
          </p:nvSpPr>
          <p:spPr>
            <a:xfrm>
              <a:off x="2346309" y="2476634"/>
              <a:ext cx="1533628" cy="566606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sz="1020" dirty="0"/>
                <a:t>+</a:t>
              </a:r>
              <a:r>
                <a:rPr lang="ko-KR" altLang="ko-KR" sz="1050" dirty="0"/>
                <a:t>10</a:t>
              </a:r>
              <a:endParaRPr lang="en-US" sz="1020" dirty="0"/>
            </a:p>
          </p:txBody>
        </p:sp>
        <p:sp>
          <p:nvSpPr>
            <p:cNvPr id="12" name="Text 20">
              <a:extLst>
                <a:ext uri="{FF2B5EF4-FFF2-40B4-BE49-F238E27FC236}">
                  <a16:creationId xmlns:a16="http://schemas.microsoft.com/office/drawing/2014/main" id="{35255BA6-504B-4B37-0939-E62CB8A42617}"/>
                </a:ext>
              </a:extLst>
            </p:cNvPr>
            <p:cNvSpPr/>
            <p:nvPr/>
          </p:nvSpPr>
          <p:spPr>
            <a:xfrm>
              <a:off x="812681" y="3043242"/>
              <a:ext cx="1533628" cy="56660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1050" dirty="0"/>
                <a:t>적에게 피해를 입힘</a:t>
              </a:r>
              <a:endParaRPr lang="en-US" sz="1020" dirty="0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693B117A-5C83-E5EF-5350-1D718E7ACE72}"/>
                </a:ext>
              </a:extLst>
            </p:cNvPr>
            <p:cNvSpPr/>
            <p:nvPr/>
          </p:nvSpPr>
          <p:spPr>
            <a:xfrm>
              <a:off x="2346309" y="3043241"/>
              <a:ext cx="1533628" cy="566606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altLang="ko-KR" sz="1000" dirty="0"/>
                <a:t>+</a:t>
              </a:r>
              <a:r>
                <a:rPr lang="ko-KR" altLang="ko-KR" sz="1000" dirty="0"/>
                <a:t>1</a:t>
              </a:r>
              <a:r>
                <a:rPr lang="en-US" altLang="ko-KR" sz="1000" dirty="0"/>
                <a:t>5</a:t>
              </a:r>
            </a:p>
          </p:txBody>
        </p:sp>
        <p:sp>
          <p:nvSpPr>
            <p:cNvPr id="14" name="Text 27">
              <a:extLst>
                <a:ext uri="{FF2B5EF4-FFF2-40B4-BE49-F238E27FC236}">
                  <a16:creationId xmlns:a16="http://schemas.microsoft.com/office/drawing/2014/main" id="{E6B9E5FA-1105-0B27-F474-DF9D262C0172}"/>
                </a:ext>
              </a:extLst>
            </p:cNvPr>
            <p:cNvSpPr/>
            <p:nvPr/>
          </p:nvSpPr>
          <p:spPr>
            <a:xfrm>
              <a:off x="812681" y="3609848"/>
              <a:ext cx="1533628" cy="56660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1050" dirty="0"/>
                <a:t>적에게 피해를 받음</a:t>
              </a:r>
              <a:endParaRPr lang="en-US" sz="1020" dirty="0"/>
            </a:p>
          </p:txBody>
        </p:sp>
        <p:sp>
          <p:nvSpPr>
            <p:cNvPr id="15" name="Text 28">
              <a:extLst>
                <a:ext uri="{FF2B5EF4-FFF2-40B4-BE49-F238E27FC236}">
                  <a16:creationId xmlns:a16="http://schemas.microsoft.com/office/drawing/2014/main" id="{917B486E-5CFB-0279-7A8E-8FFA5DA126DE}"/>
                </a:ext>
              </a:extLst>
            </p:cNvPr>
            <p:cNvSpPr/>
            <p:nvPr/>
          </p:nvSpPr>
          <p:spPr>
            <a:xfrm>
              <a:off x="2346309" y="3609847"/>
              <a:ext cx="1533628" cy="566606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altLang="ko-KR" sz="1000" dirty="0"/>
                <a:t>+</a:t>
              </a:r>
              <a:r>
                <a:rPr lang="ko-KR" altLang="ko-KR" sz="1000" dirty="0"/>
                <a:t>10</a:t>
              </a:r>
              <a:endParaRPr lang="en-US" altLang="ko-KR" sz="1000" dirty="0"/>
            </a:p>
          </p:txBody>
        </p:sp>
        <p:sp>
          <p:nvSpPr>
            <p:cNvPr id="16" name="Text 34">
              <a:extLst>
                <a:ext uri="{FF2B5EF4-FFF2-40B4-BE49-F238E27FC236}">
                  <a16:creationId xmlns:a16="http://schemas.microsoft.com/office/drawing/2014/main" id="{3C33FBEA-4D15-D03C-C154-1AA282F09A58}"/>
                </a:ext>
              </a:extLst>
            </p:cNvPr>
            <p:cNvSpPr/>
            <p:nvPr/>
          </p:nvSpPr>
          <p:spPr>
            <a:xfrm>
              <a:off x="812681" y="4176454"/>
              <a:ext cx="1533628" cy="56660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1050" dirty="0"/>
                <a:t>적 유닛 처치</a:t>
              </a:r>
              <a:endParaRPr lang="en-US" sz="1020" dirty="0"/>
            </a:p>
          </p:txBody>
        </p:sp>
        <p:sp>
          <p:nvSpPr>
            <p:cNvPr id="17" name="Text 35">
              <a:extLst>
                <a:ext uri="{FF2B5EF4-FFF2-40B4-BE49-F238E27FC236}">
                  <a16:creationId xmlns:a16="http://schemas.microsoft.com/office/drawing/2014/main" id="{01EDBABC-3959-FFB2-67F7-87126345190D}"/>
                </a:ext>
              </a:extLst>
            </p:cNvPr>
            <p:cNvSpPr/>
            <p:nvPr/>
          </p:nvSpPr>
          <p:spPr>
            <a:xfrm>
              <a:off x="2346309" y="4176453"/>
              <a:ext cx="1533628" cy="566606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altLang="ko-KR" sz="1000" dirty="0"/>
                <a:t>+25</a:t>
              </a:r>
            </a:p>
          </p:txBody>
        </p:sp>
        <p:sp>
          <p:nvSpPr>
            <p:cNvPr id="18" name="Text 34">
              <a:extLst>
                <a:ext uri="{FF2B5EF4-FFF2-40B4-BE49-F238E27FC236}">
                  <a16:creationId xmlns:a16="http://schemas.microsoft.com/office/drawing/2014/main" id="{71FCAC54-A3B7-6268-A3A5-043A90EB85BD}"/>
                </a:ext>
              </a:extLst>
            </p:cNvPr>
            <p:cNvSpPr/>
            <p:nvPr/>
          </p:nvSpPr>
          <p:spPr>
            <a:xfrm>
              <a:off x="812681" y="4743061"/>
              <a:ext cx="1533628" cy="56660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1050" dirty="0"/>
                <a:t>액티브 특수능력 사용</a:t>
              </a:r>
              <a:endParaRPr lang="en-US" sz="1020" dirty="0"/>
            </a:p>
          </p:txBody>
        </p:sp>
        <p:sp>
          <p:nvSpPr>
            <p:cNvPr id="19" name="Text 35">
              <a:extLst>
                <a:ext uri="{FF2B5EF4-FFF2-40B4-BE49-F238E27FC236}">
                  <a16:creationId xmlns:a16="http://schemas.microsoft.com/office/drawing/2014/main" id="{CBFB0F10-4821-101B-63C2-1F391C23C375}"/>
                </a:ext>
              </a:extLst>
            </p:cNvPr>
            <p:cNvSpPr/>
            <p:nvPr/>
          </p:nvSpPr>
          <p:spPr>
            <a:xfrm>
              <a:off x="2346309" y="4743060"/>
              <a:ext cx="1533628" cy="566606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</a:rPr>
                <a:t>0</a:t>
              </a:r>
              <a:r>
                <a:rPr lang="ko-KR" altLang="en-US" sz="102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</a:rPr>
                <a:t>으로 초기화</a:t>
              </a:r>
              <a:endParaRPr lang="en-US" sz="1020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83E11E9-1520-A9F7-7198-862D736855DD}"/>
              </a:ext>
            </a:extLst>
          </p:cNvPr>
          <p:cNvSpPr txBox="1"/>
          <p:nvPr/>
        </p:nvSpPr>
        <p:spPr>
          <a:xfrm>
            <a:off x="621792" y="3463180"/>
            <a:ext cx="609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/>
              <a:t>※ 범위공격으로 여러 대상에게 피해를 입혀도 게이지 증가는 1회만 적용한다.</a:t>
            </a:r>
          </a:p>
        </p:txBody>
      </p:sp>
    </p:spTree>
    <p:extLst>
      <p:ext uri="{BB962C8B-B14F-4D97-AF65-F5344CB8AC3E}">
        <p14:creationId xmlns:p14="http://schemas.microsoft.com/office/powerpoint/2010/main" val="15505977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6DAFC-EAC3-70E9-FE9E-C7868BAD1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3E9E89D-5F9C-ABF3-2117-A0CFDCAE2D95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캐릭터 행동 규칙 - 전투 결과와 기타 행동</a:t>
            </a:r>
            <a:endParaRPr lang="en-US" sz="2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DE58306-CAB6-5540-200B-1AD5C4BB65CE}"/>
              </a:ext>
            </a:extLst>
          </p:cNvPr>
          <p:cNvSpPr/>
          <p:nvPr/>
        </p:nvSpPr>
        <p:spPr>
          <a:xfrm>
            <a:off x="594360" y="1143000"/>
            <a:ext cx="3566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ko-KR" alt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대기</a:t>
            </a:r>
            <a:endParaRPr lang="en-US" sz="1700" dirty="0">
              <a:latin typeface="Malgun Gothic"/>
              <a:ea typeface="Malgun Gothic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AB9CEA5-32E9-5518-C64C-3E68FE4D8825}"/>
              </a:ext>
            </a:extLst>
          </p:cNvPr>
          <p:cNvSpPr/>
          <p:nvPr/>
        </p:nvSpPr>
        <p:spPr>
          <a:xfrm>
            <a:off x="594360" y="3696066"/>
            <a:ext cx="35661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ko-KR" alt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행동 취소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AC136-FFC7-955C-8D48-7E6043D44AC2}"/>
              </a:ext>
            </a:extLst>
          </p:cNvPr>
          <p:cNvSpPr txBox="1"/>
          <p:nvPr/>
        </p:nvSpPr>
        <p:spPr>
          <a:xfrm>
            <a:off x="542821" y="1667866"/>
            <a:ext cx="11166764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1. 대기는 현재 선택한 유닛의 행동을 끝내는 명령이다.</a:t>
            </a:r>
          </a:p>
          <a:p>
            <a:r>
              <a:rPr lang="ko-KR" altLang="en-US" sz="1500" dirty="0"/>
              <a:t>2. 유닛을 원하는 위치에 배치했지만 공격하지 않을 때 대기를 선택할 수 있다.</a:t>
            </a:r>
          </a:p>
          <a:p>
            <a:r>
              <a:rPr lang="ko-KR" altLang="en-US" sz="1500" dirty="0"/>
              <a:t>3. 대기한 유닛은 다음 자신의 턴까지 다시 행동할 수 없다.</a:t>
            </a:r>
          </a:p>
          <a:p>
            <a:r>
              <a:rPr lang="ko-KR" altLang="en-US" sz="1500" dirty="0"/>
              <a:t>4. 대기 자체에는 방어력 증가, 선제공격 같은 추가 효과를 부여하지 않는다.</a:t>
            </a:r>
          </a:p>
          <a:p>
            <a:r>
              <a:rPr lang="ko-KR" altLang="en-US" sz="1500" dirty="0"/>
              <a:t>5. </a:t>
            </a:r>
            <a:r>
              <a:rPr lang="ko-KR" altLang="en-US" sz="1500" dirty="0" err="1"/>
              <a:t>PvE</a:t>
            </a:r>
            <a:r>
              <a:rPr lang="ko-KR" altLang="en-US" sz="1500" dirty="0"/>
              <a:t> 스테이지에서는 제한 턴 안에 목표를 달성해야 하므로, 대기만 반복하면 실패로 이어질 수 있다.</a:t>
            </a:r>
            <a:endParaRPr lang="en-US" altLang="ko-KR" sz="1500" dirty="0"/>
          </a:p>
          <a:p>
            <a:r>
              <a:rPr lang="ko-KR" altLang="en-US" sz="1500" dirty="0"/>
              <a:t>   예시</a:t>
            </a:r>
            <a:r>
              <a:rPr lang="en-US" altLang="ko-KR" sz="1500" dirty="0"/>
              <a:t>) 8</a:t>
            </a:r>
            <a:r>
              <a:rPr lang="ko-KR" altLang="en-US" sz="1500" dirty="0"/>
              <a:t>턴 안에 적 지휘관 처치가 목표인 스테이지에서 대기를 반복하면</a:t>
            </a:r>
            <a:r>
              <a:rPr lang="en-US" altLang="ko-KR" sz="1500" dirty="0"/>
              <a:t>, </a:t>
            </a:r>
            <a:r>
              <a:rPr lang="ko-KR" altLang="en-US" sz="1500" dirty="0"/>
              <a:t>제한 턴 초과로 실패한다</a:t>
            </a:r>
            <a:r>
              <a:rPr lang="en-US" altLang="ko-KR" sz="1500" dirty="0"/>
              <a:t>.</a:t>
            </a:r>
            <a:endParaRPr lang="ko-KR" altLang="en-US" sz="1500" dirty="0"/>
          </a:p>
          <a:p>
            <a:r>
              <a:rPr lang="ko-KR" altLang="en-US" sz="1500" dirty="0"/>
              <a:t>6. </a:t>
            </a:r>
            <a:r>
              <a:rPr lang="ko-KR" altLang="en-US" sz="1500" dirty="0" err="1"/>
              <a:t>PvP</a:t>
            </a:r>
            <a:r>
              <a:rPr lang="ko-KR" altLang="en-US" sz="1500" dirty="0"/>
              <a:t> 에서는 최대 턴 수 종료 후 생존 유닛 수, 처치 수, 남은 체력 총합 등을 기준으로 별도 승패 판정을 적용한다.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D0C927-91A1-8A2C-59CD-F579831EC73B}"/>
              </a:ext>
            </a:extLst>
          </p:cNvPr>
          <p:cNvSpPr txBox="1"/>
          <p:nvPr/>
        </p:nvSpPr>
        <p:spPr>
          <a:xfrm>
            <a:off x="542821" y="4387540"/>
            <a:ext cx="8728363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1. 행동 취소는 이미 확정한 행동을 되돌리는 기능이 아니라, 확정 전 선택을 다시 고르는 기능이다.</a:t>
            </a:r>
          </a:p>
          <a:p>
            <a:r>
              <a:rPr lang="ko-KR" altLang="en-US" sz="1500" dirty="0"/>
              <a:t>2. 이동 위치, 공격 대상, 특수능력 대상은 확정 전까지 변경할 수 있다.</a:t>
            </a:r>
          </a:p>
          <a:p>
            <a:r>
              <a:rPr lang="ko-KR" altLang="en-US" sz="1500" dirty="0"/>
              <a:t>3. 이동, 공격, 특수능력, 대기를 확정하면 해당 행동은 취소할 수 없다.</a:t>
            </a:r>
          </a:p>
          <a:p>
            <a:r>
              <a:rPr lang="ko-KR" altLang="en-US" sz="1500" dirty="0"/>
              <a:t>4. 전투 결과가 발생한 뒤에는 행동을 되돌릴 수 없다.</a:t>
            </a:r>
          </a:p>
          <a:p>
            <a:r>
              <a:rPr lang="ko-KR" altLang="en-US" sz="1500" dirty="0"/>
              <a:t>5. 행동이 종료된 유닛은 같은 턴에서 다시 선택할 수 없다.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112BBB-A448-D32D-8A18-90BEF7BE395E}"/>
              </a:ext>
            </a:extLst>
          </p:cNvPr>
          <p:cNvSpPr txBox="1"/>
          <p:nvPr/>
        </p:nvSpPr>
        <p:spPr>
          <a:xfrm>
            <a:off x="502920" y="76358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공격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대기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9571559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6397B-EE18-C111-6B57-10FE7BB9C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491171C-753B-C34B-82F2-A8B99EAC9FFF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캐릭터 행동 규칙 - 전투 결과와 기타 행동</a:t>
            </a:r>
            <a:endParaRPr lang="en-US" sz="2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3132765-EA15-8C86-BB69-15BDEAEC01AC}"/>
              </a:ext>
            </a:extLst>
          </p:cNvPr>
          <p:cNvSpPr/>
          <p:nvPr/>
        </p:nvSpPr>
        <p:spPr>
          <a:xfrm>
            <a:off x="502920" y="1288124"/>
            <a:ext cx="356616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en-US" sz="1700" b="1" dirty="0" err="1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sz="1700" b="1" dirty="0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sz="1700" b="1" dirty="0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sz="1700" dirty="0" err="1">
              <a:latin typeface="Malgun Gothic"/>
              <a:ea typeface="Malgun Gothic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8DC48A2-7497-DB16-4115-BF4357487DDD}"/>
              </a:ext>
            </a:extLst>
          </p:cNvPr>
          <p:cNvGrpSpPr/>
          <p:nvPr/>
        </p:nvGrpSpPr>
        <p:grpSpPr>
          <a:xfrm>
            <a:off x="530352" y="1942843"/>
            <a:ext cx="4408516" cy="4126304"/>
            <a:chOff x="631938" y="1945312"/>
            <a:chExt cx="3015558" cy="3836685"/>
          </a:xfrm>
        </p:grpSpPr>
        <p:sp>
          <p:nvSpPr>
            <p:cNvPr id="2" name="Text 5">
              <a:extLst>
                <a:ext uri="{FF2B5EF4-FFF2-40B4-BE49-F238E27FC236}">
                  <a16:creationId xmlns:a16="http://schemas.microsoft.com/office/drawing/2014/main" id="{876777EB-1CA7-2B15-6CCF-2FF300C12845}"/>
                </a:ext>
              </a:extLst>
            </p:cNvPr>
            <p:cNvSpPr/>
            <p:nvPr/>
          </p:nvSpPr>
          <p:spPr>
            <a:xfrm>
              <a:off x="631938" y="1945312"/>
              <a:ext cx="1620300" cy="6449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대상</a:t>
              </a:r>
              <a:endParaRPr lang="en-US" sz="1020" dirty="0"/>
            </a:p>
          </p:txBody>
        </p:sp>
        <p:sp>
          <p:nvSpPr>
            <p:cNvPr id="3" name="Text 6">
              <a:extLst>
                <a:ext uri="{FF2B5EF4-FFF2-40B4-BE49-F238E27FC236}">
                  <a16:creationId xmlns:a16="http://schemas.microsoft.com/office/drawing/2014/main" id="{AF0C05A0-E559-3013-2719-712219259825}"/>
                </a:ext>
              </a:extLst>
            </p:cNvPr>
            <p:cNvSpPr/>
            <p:nvPr/>
          </p:nvSpPr>
          <p:spPr>
            <a:xfrm>
              <a:off x="2252238" y="1945312"/>
              <a:ext cx="1395258" cy="644980"/>
            </a:xfrm>
            <a:prstGeom prst="rect">
              <a:avLst/>
            </a:prstGeom>
            <a:solidFill>
              <a:srgbClr val="2F6FB4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공개 정보</a:t>
              </a:r>
              <a:endParaRPr lang="en-US" sz="1020" dirty="0"/>
            </a:p>
          </p:txBody>
        </p:sp>
        <p:sp>
          <p:nvSpPr>
            <p:cNvPr id="6" name="Text 12">
              <a:extLst>
                <a:ext uri="{FF2B5EF4-FFF2-40B4-BE49-F238E27FC236}">
                  <a16:creationId xmlns:a16="http://schemas.microsoft.com/office/drawing/2014/main" id="{C9E76CE5-C028-714D-32BF-6148EA96028B}"/>
                </a:ext>
              </a:extLst>
            </p:cNvPr>
            <p:cNvSpPr/>
            <p:nvPr/>
          </p:nvSpPr>
          <p:spPr>
            <a:xfrm>
              <a:off x="631938" y="2590292"/>
              <a:ext cx="1620300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1050" dirty="0"/>
                <a:t>자신의 유닛</a:t>
              </a:r>
              <a:endParaRPr lang="en-US" sz="1020" dirty="0"/>
            </a:p>
          </p:txBody>
        </p:sp>
        <p:sp>
          <p:nvSpPr>
            <p:cNvPr id="7" name="Text 13">
              <a:extLst>
                <a:ext uri="{FF2B5EF4-FFF2-40B4-BE49-F238E27FC236}">
                  <a16:creationId xmlns:a16="http://schemas.microsoft.com/office/drawing/2014/main" id="{5B5A0FA1-0390-2E63-2E36-358FCC5BECA5}"/>
                </a:ext>
              </a:extLst>
            </p:cNvPr>
            <p:cNvSpPr/>
            <p:nvPr/>
          </p:nvSpPr>
          <p:spPr>
            <a:xfrm>
              <a:off x="2252238" y="2590292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1050" dirty="0"/>
                <a:t>전체 상세정보 확인 가능</a:t>
              </a:r>
              <a:endParaRPr lang="en-US" sz="1020" dirty="0"/>
            </a:p>
          </p:txBody>
        </p:sp>
        <p:sp>
          <p:nvSpPr>
            <p:cNvPr id="8" name="Text 19">
              <a:extLst>
                <a:ext uri="{FF2B5EF4-FFF2-40B4-BE49-F238E27FC236}">
                  <a16:creationId xmlns:a16="http://schemas.microsoft.com/office/drawing/2014/main" id="{2E57F67F-DBDC-C524-893B-E4989E5E73A8}"/>
                </a:ext>
              </a:extLst>
            </p:cNvPr>
            <p:cNvSpPr/>
            <p:nvPr/>
          </p:nvSpPr>
          <p:spPr>
            <a:xfrm>
              <a:off x="631938" y="3235273"/>
              <a:ext cx="1620300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적군 </a:t>
              </a:r>
              <a:r>
                <a:rPr lang="en-US" altLang="ko-KR" sz="1020" dirty="0"/>
                <a:t>- </a:t>
              </a:r>
              <a:r>
                <a:rPr lang="ko-KR" altLang="en-US" sz="1020" dirty="0"/>
                <a:t>전투 전</a:t>
              </a:r>
              <a:endParaRPr lang="en-US" sz="1020" dirty="0"/>
            </a:p>
          </p:txBody>
        </p:sp>
        <p:sp>
          <p:nvSpPr>
            <p:cNvPr id="9" name="Text 20">
              <a:extLst>
                <a:ext uri="{FF2B5EF4-FFF2-40B4-BE49-F238E27FC236}">
                  <a16:creationId xmlns:a16="http://schemas.microsoft.com/office/drawing/2014/main" id="{1EE2CB37-B6E6-D367-097A-9EA01B21B738}"/>
                </a:ext>
              </a:extLst>
            </p:cNvPr>
            <p:cNvSpPr/>
            <p:nvPr/>
          </p:nvSpPr>
          <p:spPr>
            <a:xfrm>
              <a:off x="2252238" y="3232978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1050" dirty="0"/>
                <a:t>이름, 병종, 체력, 공격력, 공격 타입, </a:t>
              </a:r>
              <a:r>
                <a:rPr lang="ko-KR" altLang="ko-KR" sz="1050" dirty="0" err="1"/>
                <a:t>물방</a:t>
              </a:r>
              <a:r>
                <a:rPr lang="ko-KR" altLang="ko-KR" sz="1050" dirty="0"/>
                <a:t>/</a:t>
              </a:r>
              <a:r>
                <a:rPr lang="ko-KR" altLang="ko-KR" sz="1050" dirty="0" err="1"/>
                <a:t>마방</a:t>
              </a:r>
              <a:r>
                <a:rPr lang="ko-KR" altLang="ko-KR" sz="1050" dirty="0"/>
                <a:t> 공개</a:t>
              </a:r>
              <a:endParaRPr lang="en-US" sz="1020" dirty="0"/>
            </a:p>
          </p:txBody>
        </p:sp>
        <p:sp>
          <p:nvSpPr>
            <p:cNvPr id="11" name="Text 26">
              <a:extLst>
                <a:ext uri="{FF2B5EF4-FFF2-40B4-BE49-F238E27FC236}">
                  <a16:creationId xmlns:a16="http://schemas.microsoft.com/office/drawing/2014/main" id="{C1902146-8B4B-0491-2D0A-0A1712124251}"/>
                </a:ext>
              </a:extLst>
            </p:cNvPr>
            <p:cNvSpPr/>
            <p:nvPr/>
          </p:nvSpPr>
          <p:spPr>
            <a:xfrm>
              <a:off x="631938" y="3880253"/>
              <a:ext cx="1620300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적군 </a:t>
              </a:r>
              <a:r>
                <a:rPr lang="en-US" altLang="ko-KR" sz="1020" dirty="0"/>
                <a:t>– </a:t>
              </a:r>
              <a:r>
                <a:rPr lang="ko-KR" altLang="en-US" sz="1020" dirty="0"/>
                <a:t>전투 후</a:t>
              </a:r>
              <a:endParaRPr lang="en-US" sz="1020" dirty="0"/>
            </a:p>
          </p:txBody>
        </p:sp>
        <p:sp>
          <p:nvSpPr>
            <p:cNvPr id="12" name="Text 27">
              <a:extLst>
                <a:ext uri="{FF2B5EF4-FFF2-40B4-BE49-F238E27FC236}">
                  <a16:creationId xmlns:a16="http://schemas.microsoft.com/office/drawing/2014/main" id="{29CEB445-BE24-E7CA-89D2-2C0870AD817E}"/>
                </a:ext>
              </a:extLst>
            </p:cNvPr>
            <p:cNvSpPr/>
            <p:nvPr/>
          </p:nvSpPr>
          <p:spPr>
            <a:xfrm>
              <a:off x="2252238" y="3877958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ko-KR" altLang="ko-KR" sz="1050" dirty="0" err="1"/>
                <a:t>이동력</a:t>
              </a:r>
              <a:r>
                <a:rPr lang="ko-KR" altLang="ko-KR" sz="1050" dirty="0"/>
                <a:t>, 이동타입, 지형 적응능력 추가 공개</a:t>
              </a:r>
              <a:endParaRPr lang="en-US" sz="1020" dirty="0"/>
            </a:p>
          </p:txBody>
        </p:sp>
        <p:sp>
          <p:nvSpPr>
            <p:cNvPr id="13" name="Text 33">
              <a:extLst>
                <a:ext uri="{FF2B5EF4-FFF2-40B4-BE49-F238E27FC236}">
                  <a16:creationId xmlns:a16="http://schemas.microsoft.com/office/drawing/2014/main" id="{BE19F8FD-BE74-32D7-9471-157EC56F76B5}"/>
                </a:ext>
              </a:extLst>
            </p:cNvPr>
            <p:cNvSpPr/>
            <p:nvPr/>
          </p:nvSpPr>
          <p:spPr>
            <a:xfrm>
              <a:off x="631938" y="4525233"/>
              <a:ext cx="1620300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적군의 유닛 상성</a:t>
              </a:r>
              <a:endParaRPr lang="en-US" sz="1020" dirty="0"/>
            </a:p>
          </p:txBody>
        </p:sp>
        <p:sp>
          <p:nvSpPr>
            <p:cNvPr id="14" name="Text 34">
              <a:extLst>
                <a:ext uri="{FF2B5EF4-FFF2-40B4-BE49-F238E27FC236}">
                  <a16:creationId xmlns:a16="http://schemas.microsoft.com/office/drawing/2014/main" id="{2A75F908-8472-CDE5-AEE8-6C944FBF80EA}"/>
                </a:ext>
              </a:extLst>
            </p:cNvPr>
            <p:cNvSpPr/>
            <p:nvPr/>
          </p:nvSpPr>
          <p:spPr>
            <a:xfrm>
              <a:off x="2252238" y="4525232"/>
              <a:ext cx="1395258" cy="644980"/>
            </a:xfrm>
            <a:prstGeom prst="rect">
              <a:avLst/>
            </a:prstGeom>
            <a:solidFill>
              <a:srgbClr val="E2E8F0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유</a:t>
              </a:r>
              <a:r>
                <a:rPr lang="en-US" altLang="ko-KR" sz="1020" dirty="0"/>
                <a:t>/</a:t>
              </a:r>
              <a:r>
                <a:rPr lang="ko-KR" altLang="en-US" sz="1020" dirty="0"/>
                <a:t>불리 상성은 비공개</a:t>
              </a:r>
              <a:endParaRPr lang="en-US" sz="1020" dirty="0"/>
            </a:p>
          </p:txBody>
        </p:sp>
        <p:sp>
          <p:nvSpPr>
            <p:cNvPr id="15" name="Text 33">
              <a:extLst>
                <a:ext uri="{FF2B5EF4-FFF2-40B4-BE49-F238E27FC236}">
                  <a16:creationId xmlns:a16="http://schemas.microsoft.com/office/drawing/2014/main" id="{FF55D5A9-A1EB-FB50-C1A6-F2EFA0319382}"/>
                </a:ext>
              </a:extLst>
            </p:cNvPr>
            <p:cNvSpPr/>
            <p:nvPr/>
          </p:nvSpPr>
          <p:spPr>
            <a:xfrm>
              <a:off x="631938" y="5137017"/>
              <a:ext cx="1620300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20" dirty="0" err="1"/>
                <a:t>Pvp</a:t>
              </a:r>
              <a:r>
                <a:rPr lang="en-US" altLang="ko-KR" sz="1020" dirty="0"/>
                <a:t> </a:t>
              </a:r>
              <a:r>
                <a:rPr lang="ko-KR" altLang="en-US" sz="1020" dirty="0"/>
                <a:t>양측 유닛 정보</a:t>
              </a:r>
              <a:endParaRPr lang="en-US" sz="1020" dirty="0"/>
            </a:p>
          </p:txBody>
        </p:sp>
        <p:sp>
          <p:nvSpPr>
            <p:cNvPr id="16" name="Text 34">
              <a:extLst>
                <a:ext uri="{FF2B5EF4-FFF2-40B4-BE49-F238E27FC236}">
                  <a16:creationId xmlns:a16="http://schemas.microsoft.com/office/drawing/2014/main" id="{56E7124A-22C1-6D4E-A9A9-C80E3BED22C0}"/>
                </a:ext>
              </a:extLst>
            </p:cNvPr>
            <p:cNvSpPr/>
            <p:nvPr/>
          </p:nvSpPr>
          <p:spPr>
            <a:xfrm>
              <a:off x="2252238" y="5134722"/>
              <a:ext cx="1395258" cy="644980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FFFFFF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020" dirty="0"/>
                <a:t>기본 정보 및 전투 후 정보만 공개</a:t>
              </a:r>
              <a:endParaRPr lang="en-US" sz="1020" dirty="0"/>
            </a:p>
          </p:txBody>
        </p:sp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07DB567B-BB10-9B13-4C3D-0173124AF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392" y="1960544"/>
            <a:ext cx="3148622" cy="4126603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59FBE2AA-47A8-5A1A-21A8-A9EB5CF2D555}"/>
              </a:ext>
            </a:extLst>
          </p:cNvPr>
          <p:cNvGrpSpPr/>
          <p:nvPr/>
        </p:nvGrpSpPr>
        <p:grpSpPr>
          <a:xfrm>
            <a:off x="5114468" y="1942843"/>
            <a:ext cx="3148622" cy="4126603"/>
            <a:chOff x="8655298" y="1971846"/>
            <a:chExt cx="3148622" cy="4126603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C0E4D751-2011-83B5-D7CB-4B03CD360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55298" y="1971846"/>
              <a:ext cx="3148622" cy="4126603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476628C-827A-07D9-FB51-870B5A8BC58F}"/>
                </a:ext>
              </a:extLst>
            </p:cNvPr>
            <p:cNvSpPr/>
            <p:nvPr/>
          </p:nvSpPr>
          <p:spPr>
            <a:xfrm>
              <a:off x="8991600" y="4606636"/>
              <a:ext cx="2420112" cy="86590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0700BBB-5345-384A-D25B-11CCFD77E18C}"/>
              </a:ext>
            </a:extLst>
          </p:cNvPr>
          <p:cNvSpPr txBox="1"/>
          <p:nvPr/>
        </p:nvSpPr>
        <p:spPr>
          <a:xfrm>
            <a:off x="5771274" y="6168628"/>
            <a:ext cx="17791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b="1" dirty="0">
                <a:solidFill>
                  <a:srgbClr val="FF0000"/>
                </a:solidFill>
              </a:rPr>
              <a:t>전투 전 </a:t>
            </a:r>
            <a:r>
              <a:rPr lang="en-US" altLang="ko-KR" sz="1300" b="1" dirty="0">
                <a:solidFill>
                  <a:srgbClr val="FF0000"/>
                </a:solidFill>
              </a:rPr>
              <a:t>– </a:t>
            </a:r>
            <a:r>
              <a:rPr lang="ko-KR" altLang="en-US" sz="1300" b="1" dirty="0">
                <a:solidFill>
                  <a:srgbClr val="FF0000"/>
                </a:solidFill>
              </a:rPr>
              <a:t>공개 정보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08B685-64F4-99D2-F4C1-179A196E28E5}"/>
              </a:ext>
            </a:extLst>
          </p:cNvPr>
          <p:cNvSpPr txBox="1"/>
          <p:nvPr/>
        </p:nvSpPr>
        <p:spPr>
          <a:xfrm>
            <a:off x="9284151" y="6186691"/>
            <a:ext cx="17791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b="1" dirty="0">
                <a:solidFill>
                  <a:srgbClr val="FF0000"/>
                </a:solidFill>
              </a:rPr>
              <a:t>전투 후 </a:t>
            </a:r>
            <a:r>
              <a:rPr lang="en-US" altLang="ko-KR" sz="1300" b="1" dirty="0">
                <a:solidFill>
                  <a:srgbClr val="FF0000"/>
                </a:solidFill>
              </a:rPr>
              <a:t>– </a:t>
            </a:r>
            <a:r>
              <a:rPr lang="ko-KR" altLang="en-US" sz="1300" b="1" dirty="0">
                <a:solidFill>
                  <a:srgbClr val="FF0000"/>
                </a:solidFill>
              </a:rPr>
              <a:t>공개 정보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0975EB-7FF3-EE48-A554-C5054A6DAC6A}"/>
              </a:ext>
            </a:extLst>
          </p:cNvPr>
          <p:cNvSpPr txBox="1"/>
          <p:nvPr/>
        </p:nvSpPr>
        <p:spPr>
          <a:xfrm>
            <a:off x="5114468" y="1960544"/>
            <a:ext cx="48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Ex)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4E9FCA-544C-123A-AB0E-4F3EE173DBC4}"/>
              </a:ext>
            </a:extLst>
          </p:cNvPr>
          <p:cNvSpPr txBox="1"/>
          <p:nvPr/>
        </p:nvSpPr>
        <p:spPr>
          <a:xfrm>
            <a:off x="8599392" y="1962856"/>
            <a:ext cx="48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Ex)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B4E471-63A2-7D40-0F3A-49F52AE3A6E9}"/>
              </a:ext>
            </a:extLst>
          </p:cNvPr>
          <p:cNvSpPr txBox="1"/>
          <p:nvPr/>
        </p:nvSpPr>
        <p:spPr>
          <a:xfrm>
            <a:off x="502920" y="76358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이동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공격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반격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대기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취소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상세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정보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 pitchFamily="34" charset="-120"/>
              </a:rPr>
              <a:t>보기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289927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468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적 턴 진행 규칙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행동 순서 / AI 알고리즘 / 플레이어 조작</a:t>
            </a:r>
            <a:endParaRPr lang="en-US" sz="14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DCBF4A2-752C-8B7E-7E9C-CAFF2F803505}"/>
              </a:ext>
            </a:extLst>
          </p:cNvPr>
          <p:cNvSpPr/>
          <p:nvPr/>
        </p:nvSpPr>
        <p:spPr>
          <a:xfrm>
            <a:off x="685800" y="3063240"/>
            <a:ext cx="438912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DF4341-98B2-E5B6-78D8-B7CE02B51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9AA2B4A-C184-5990-CCB6-A473A2E870AE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적 턴 진행 규칙</a:t>
            </a:r>
            <a:endParaRPr lang="en-US" sz="2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D6B31EA-1AB9-304A-942F-E478ABACC89B}"/>
              </a:ext>
            </a:extLst>
          </p:cNvPr>
          <p:cNvSpPr/>
          <p:nvPr/>
        </p:nvSpPr>
        <p:spPr>
          <a:xfrm>
            <a:off x="594360" y="1143000"/>
            <a:ext cx="3566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 적 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행동</a:t>
            </a:r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순서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F6D791D-7A0E-9E21-8E5C-73DEEEBE1FF0}"/>
              </a:ext>
            </a:extLst>
          </p:cNvPr>
          <p:cNvSpPr/>
          <p:nvPr/>
        </p:nvSpPr>
        <p:spPr>
          <a:xfrm>
            <a:off x="594360" y="3175089"/>
            <a:ext cx="35661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 적 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행동</a:t>
            </a:r>
            <a:r>
              <a:rPr lang="en-US" sz="1700" b="1" dirty="0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1F3A5F"/>
                </a:solidFill>
                <a:latin typeface="Malgun Gothic"/>
                <a:ea typeface="Malgun Gothic"/>
                <a:cs typeface="Malgun Gothic" pitchFamily="34" charset="-120"/>
              </a:rPr>
              <a:t>알고리즘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869840-F754-A4E4-5DD5-0D474D7043BF}"/>
              </a:ext>
            </a:extLst>
          </p:cNvPr>
          <p:cNvSpPr txBox="1"/>
          <p:nvPr/>
        </p:nvSpPr>
        <p:spPr>
          <a:xfrm>
            <a:off x="502920" y="78564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AI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B63E6-8917-A7DF-5377-BCFB39044CB0}"/>
              </a:ext>
            </a:extLst>
          </p:cNvPr>
          <p:cNvSpPr txBox="1"/>
          <p:nvPr/>
        </p:nvSpPr>
        <p:spPr>
          <a:xfrm>
            <a:off x="594360" y="1678427"/>
            <a:ext cx="8598131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en-US" sz="1500" dirty="0"/>
              <a:t>공격 가능한 대상이 있는 경우</a:t>
            </a:r>
            <a:r>
              <a:rPr lang="en-US" altLang="ko-KR" sz="1500" dirty="0"/>
              <a:t>, </a:t>
            </a:r>
            <a:r>
              <a:rPr lang="ko-KR" altLang="en-US" sz="1500" dirty="0"/>
              <a:t>적 유닛은 공격을 우선한다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 </a:t>
            </a:r>
            <a:r>
              <a:rPr lang="ko-KR" altLang="en-US" sz="1500" dirty="0"/>
              <a:t>특수능력 사용 조건을 만족하고 효과를 적용할 대상이 있는 경우</a:t>
            </a:r>
            <a:r>
              <a:rPr lang="en-US" altLang="ko-KR" sz="1500" dirty="0"/>
              <a:t>, </a:t>
            </a:r>
            <a:r>
              <a:rPr lang="ko-KR" altLang="en-US" sz="1500" dirty="0"/>
              <a:t>특수능력 사용을 우선한다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3. </a:t>
            </a:r>
            <a:r>
              <a:rPr lang="ko-KR" altLang="en-US" sz="1500" dirty="0"/>
              <a:t>공격 가능한 대상이 여러 명일 경우</a:t>
            </a:r>
            <a:r>
              <a:rPr lang="en-US" altLang="ko-KR" sz="1500" dirty="0"/>
              <a:t>, </a:t>
            </a:r>
            <a:r>
              <a:rPr lang="ko-KR" altLang="en-US" sz="1500" dirty="0"/>
              <a:t>가장 가까운 아군 유닛을 공격한다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4. </a:t>
            </a:r>
            <a:r>
              <a:rPr lang="ko-KR" altLang="en-US" sz="1500" dirty="0"/>
              <a:t>공격 가능한 대상이 없는 경우</a:t>
            </a:r>
            <a:r>
              <a:rPr lang="en-US" altLang="ko-KR" sz="1500" dirty="0"/>
              <a:t>, </a:t>
            </a:r>
            <a:r>
              <a:rPr lang="ko-KR" altLang="en-US" sz="1500" dirty="0"/>
              <a:t>지형 적응력에 맞는 위치로 이동한다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5. </a:t>
            </a:r>
            <a:r>
              <a:rPr lang="ko-KR" altLang="en-US" sz="1500" dirty="0"/>
              <a:t>이동해도 유리한 위치를 확보할 수 없는 경우</a:t>
            </a:r>
            <a:r>
              <a:rPr lang="en-US" altLang="ko-KR" sz="1500" dirty="0"/>
              <a:t>, </a:t>
            </a:r>
            <a:r>
              <a:rPr lang="ko-KR" altLang="en-US" sz="1500" dirty="0"/>
              <a:t>현재 위치에서 대기한다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DEA8C-EF16-2BCD-E549-260EE3EBAC39}"/>
              </a:ext>
            </a:extLst>
          </p:cNvPr>
          <p:cNvSpPr txBox="1"/>
          <p:nvPr/>
        </p:nvSpPr>
        <p:spPr>
          <a:xfrm>
            <a:off x="502920" y="3809304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1. 적 유닛의 차례가 되면 먼저 특수능력 사용 조건을 확인한다.</a:t>
            </a:r>
          </a:p>
          <a:p>
            <a:r>
              <a:rPr lang="ko-KR" altLang="en-US" sz="1500" dirty="0"/>
              <a:t>2. 특수능력 사용 조건을 만족하고 효과를 적용할 대상이 있으면 특수능력을 사용한다.</a:t>
            </a:r>
          </a:p>
          <a:p>
            <a:r>
              <a:rPr lang="ko-KR" altLang="en-US" sz="1500" dirty="0"/>
              <a:t>3. 공격 가능한 대상이 있으면 공격을 우선한다.</a:t>
            </a:r>
          </a:p>
          <a:p>
            <a:r>
              <a:rPr lang="ko-KR" altLang="en-US" sz="1500" dirty="0"/>
              <a:t>4. 공격 가능한 대상이 여러 명일 경우, 가장 가까운 아군 유닛을 우선 공격한다.</a:t>
            </a:r>
          </a:p>
          <a:p>
            <a:r>
              <a:rPr lang="ko-KR" altLang="en-US" sz="1500" dirty="0"/>
              <a:t>5. 공격 가능한 대상이 없으면 가장 가까운 아군 유닛에게 이동한다.</a:t>
            </a:r>
          </a:p>
          <a:p>
            <a:r>
              <a:rPr lang="ko-KR" altLang="en-US" sz="1500" dirty="0"/>
              <a:t>6. 이동 위치가 여러 개일 경우, 해당 적 유닛의 지형 적응력이 유리한 타일을 우선 선택한다.</a:t>
            </a:r>
          </a:p>
          <a:p>
            <a:r>
              <a:rPr lang="ko-KR" altLang="en-US" sz="1500" dirty="0"/>
              <a:t>7. 이동 후 공격이 가능하면 공격을 진행한다.</a:t>
            </a:r>
          </a:p>
          <a:p>
            <a:r>
              <a:rPr lang="ko-KR" altLang="en-US" sz="1500" dirty="0"/>
              <a:t>8. 이동해도 공격이나 특수능력 사용이 불가능하면 현재 위치에서 대기한다.</a:t>
            </a:r>
          </a:p>
        </p:txBody>
      </p:sp>
    </p:spTree>
    <p:extLst>
      <p:ext uri="{BB962C8B-B14F-4D97-AF65-F5344CB8AC3E}">
        <p14:creationId xmlns:p14="http://schemas.microsoft.com/office/powerpoint/2010/main" val="9559979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적 턴 진행 규칙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02920" y="1405309"/>
            <a:ext cx="356616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 적 턴 중 </a:t>
            </a:r>
            <a:r>
              <a:rPr lang="en-US" sz="1700" b="1" dirty="0" err="1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플레이어</a:t>
            </a:r>
            <a:r>
              <a:rPr lang="en-US" sz="1700" b="1" dirty="0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9A3412"/>
                </a:solidFill>
                <a:latin typeface="Malgun Gothic"/>
                <a:ea typeface="Malgun Gothic"/>
                <a:cs typeface="Malgun Gothic" pitchFamily="34" charset="-120"/>
              </a:rPr>
              <a:t>조작</a:t>
            </a:r>
            <a:endParaRPr lang="en-US" sz="1700" dirty="0" err="1">
              <a:latin typeface="Malgun Gothic"/>
              <a:ea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5A348-68DB-0113-6862-A233BD6DE687}"/>
              </a:ext>
            </a:extLst>
          </p:cNvPr>
          <p:cNvSpPr txBox="1"/>
          <p:nvPr/>
        </p:nvSpPr>
        <p:spPr>
          <a:xfrm>
            <a:off x="502920" y="78564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AI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FB0EB3-2A51-0456-9D6C-D55DBAD1831A}"/>
              </a:ext>
            </a:extLst>
          </p:cNvPr>
          <p:cNvSpPr txBox="1"/>
          <p:nvPr/>
        </p:nvSpPr>
        <p:spPr>
          <a:xfrm>
            <a:off x="429491" y="1997839"/>
            <a:ext cx="70519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1. 적 턴에는 아군 유닛을 직접 조작할 수 없다.</a:t>
            </a:r>
          </a:p>
          <a:p>
            <a:r>
              <a:rPr lang="ko-KR" altLang="en-US" sz="1500" dirty="0"/>
              <a:t>2. 이동, 공격, 특수능력, 대기 명령은 플레이어 턴에서만 사용할 수 있다.</a:t>
            </a:r>
          </a:p>
          <a:p>
            <a:r>
              <a:rPr lang="ko-KR" altLang="en-US" sz="1500" dirty="0"/>
              <a:t>3. 적 턴 중에는 적의 이동과 공격 진행을 확인할 수 있다.</a:t>
            </a:r>
          </a:p>
          <a:p>
            <a:r>
              <a:rPr lang="ko-KR" altLang="en-US" sz="1500" dirty="0"/>
              <a:t>4. 아군/적군 상세정보와 위험 범위는 확인할 수 있다.</a:t>
            </a:r>
          </a:p>
          <a:p>
            <a:r>
              <a:rPr lang="ko-KR" altLang="en-US" sz="1500" dirty="0"/>
              <a:t>5. 전투 연출은 </a:t>
            </a:r>
            <a:r>
              <a:rPr lang="ko-KR" altLang="en-US" sz="1500" dirty="0" err="1"/>
              <a:t>스킵</a:t>
            </a:r>
            <a:r>
              <a:rPr lang="ko-KR" altLang="en-US" sz="1500" dirty="0"/>
              <a:t> 하거나 배속으로 진행할 수 있다.</a:t>
            </a:r>
          </a:p>
          <a:p>
            <a:r>
              <a:rPr lang="ko-KR" altLang="en-US" sz="1500" dirty="0"/>
              <a:t>6. 반격과 패시브 효과는 조건을 만족하면 자동으로 발동된다.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468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승패 처리 규칙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승리 / 패배 / 재도전 / 예외 처리</a:t>
            </a:r>
            <a:endParaRPr lang="en-US" sz="14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2C315E8-3CDA-F2F7-9230-FA5210990927}"/>
              </a:ext>
            </a:extLst>
          </p:cNvPr>
          <p:cNvSpPr/>
          <p:nvPr/>
        </p:nvSpPr>
        <p:spPr>
          <a:xfrm>
            <a:off x="749808" y="3063240"/>
            <a:ext cx="438912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승패 처리 규칙 - 승리와 패배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94360" y="1003892"/>
            <a:ext cx="53949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승리</a:t>
            </a:r>
            <a:r>
              <a:rPr lang="en-US" sz="17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달성 </a:t>
            </a:r>
            <a:r>
              <a:rPr lang="en-US" sz="1700" b="1" dirty="0" err="1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sz="1700" dirty="0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4D972CC3-98A8-9DE1-AB53-D0583C80A421}"/>
              </a:ext>
            </a:extLst>
          </p:cNvPr>
          <p:cNvSpPr/>
          <p:nvPr/>
        </p:nvSpPr>
        <p:spPr>
          <a:xfrm>
            <a:off x="594360" y="3820713"/>
            <a:ext cx="53949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승리 보상</a:t>
            </a:r>
            <a:endParaRPr lang="en-US" sz="1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FC35F6-1DE7-3FC3-073B-E8A37E2A377B}"/>
              </a:ext>
            </a:extLst>
          </p:cNvPr>
          <p:cNvSpPr txBox="1"/>
          <p:nvPr/>
        </p:nvSpPr>
        <p:spPr>
          <a:xfrm>
            <a:off x="594360" y="1479528"/>
            <a:ext cx="11452167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ko-KR" sz="1500" dirty="0"/>
              <a:t>승리 조건은 유닛의 행동이 완전히 끝난 뒤 확인한다.</a:t>
            </a:r>
            <a:br>
              <a:rPr lang="en-US" altLang="ko-KR" sz="1500" dirty="0"/>
            </a:br>
            <a:r>
              <a:rPr lang="en-US" altLang="ko-KR" sz="1500" dirty="0"/>
              <a:t>2. </a:t>
            </a:r>
            <a:r>
              <a:rPr lang="ko-KR" altLang="ko-KR" sz="1500" dirty="0"/>
              <a:t>이동 후 공격이 가능한 상태라면, 공격 / 특수능력 / 대기 중 하나를 선택하고 행동을 종료한 뒤 승리 조건을 확인한다.</a:t>
            </a:r>
            <a:br>
              <a:rPr lang="en-US" altLang="ko-KR" sz="1500" dirty="0"/>
            </a:br>
            <a:r>
              <a:rPr lang="en-US" altLang="ko-KR" sz="1500" dirty="0"/>
              <a:t>3. </a:t>
            </a:r>
            <a:r>
              <a:rPr lang="ko-KR" altLang="ko-KR" sz="1500" dirty="0"/>
              <a:t>기본 승리 조건은 모든 적 유닛을 전투 불능 상태로 만드는 것이다.</a:t>
            </a:r>
            <a:br>
              <a:rPr lang="en-US" altLang="ko-KR" sz="1500" dirty="0"/>
            </a:br>
            <a:r>
              <a:rPr lang="en-US" altLang="ko-KR" sz="1500" dirty="0"/>
              <a:t>4. </a:t>
            </a:r>
            <a:r>
              <a:rPr lang="ko-KR" altLang="ko-KR" sz="1500" dirty="0"/>
              <a:t>스테이지에 따라 적 지휘관 처치, 목표 지점 도착, 보호 대상 생존이 승리 조건이 될 수 있다.</a:t>
            </a:r>
            <a:br>
              <a:rPr lang="en-US" altLang="ko-KR" sz="1500" dirty="0"/>
            </a:br>
            <a:r>
              <a:rPr lang="en-US" altLang="ko-KR" sz="1500" dirty="0"/>
              <a:t>5. </a:t>
            </a:r>
            <a:r>
              <a:rPr lang="ko-KR" altLang="ko-KR" sz="1500" dirty="0"/>
              <a:t>플레이어 턴에서는 승리 조건을 먼저 확인한다.</a:t>
            </a:r>
            <a:br>
              <a:rPr lang="en-US" altLang="ko-KR" sz="1500" dirty="0"/>
            </a:br>
            <a:r>
              <a:rPr lang="en-US" altLang="ko-KR" sz="1500" dirty="0"/>
              <a:t>6. </a:t>
            </a:r>
            <a:r>
              <a:rPr lang="ko-KR" altLang="ko-KR" sz="1500" dirty="0"/>
              <a:t>승리 조건과 패배 조건이 동시에 달성되면, 해당 행동을 진행한 턴의 진영을 우선 처리한다.</a:t>
            </a:r>
            <a:br>
              <a:rPr lang="en-US" altLang="ko-KR" sz="1500" dirty="0"/>
            </a:br>
            <a:r>
              <a:rPr lang="en-US" altLang="ko-KR" sz="1500" dirty="0"/>
              <a:t>7. </a:t>
            </a:r>
            <a:r>
              <a:rPr lang="ko-KR" altLang="ko-KR" sz="1500" dirty="0"/>
              <a:t>플레이어 턴에 승리 조건과 패배 조건이 동시에 달성되면 승리로 처리한다.</a:t>
            </a:r>
            <a:br>
              <a:rPr lang="en-US" altLang="ko-KR" sz="1500" dirty="0"/>
            </a:br>
            <a:r>
              <a:rPr lang="en-US" altLang="ko-KR" sz="1500" dirty="0"/>
              <a:t>8. </a:t>
            </a:r>
            <a:r>
              <a:rPr lang="ko-KR" altLang="ko-KR" sz="1500" dirty="0"/>
              <a:t>복수의 승리 조건이 동시에 달성되면 스테이지 목표에 더 가까운 조건을 우선 표시한다.</a:t>
            </a:r>
            <a:br>
              <a:rPr lang="en-US" altLang="ko-KR" sz="1500" dirty="0"/>
            </a:br>
            <a:r>
              <a:rPr lang="en-US" altLang="ko-KR" sz="1500" dirty="0"/>
              <a:t>9. </a:t>
            </a:r>
            <a:r>
              <a:rPr lang="ko-KR" altLang="ko-KR" sz="1500" dirty="0"/>
              <a:t>우선순위는 적 지휘관 처치 &gt; 모든 적 전투 불능 &gt; 목표 지점 도착 순서로 처리한다.</a:t>
            </a:r>
            <a:endParaRPr lang="ko-KR" altLang="en-US" sz="1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5A1F5F-C9A2-2834-E247-A9868A49B5F7}"/>
              </a:ext>
            </a:extLst>
          </p:cNvPr>
          <p:cNvSpPr txBox="1"/>
          <p:nvPr/>
        </p:nvSpPr>
        <p:spPr>
          <a:xfrm>
            <a:off x="502920" y="67789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승리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재도전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8F0F8E-4433-7257-EF95-8BDE390698CD}"/>
              </a:ext>
            </a:extLst>
          </p:cNvPr>
          <p:cNvSpPr txBox="1"/>
          <p:nvPr/>
        </p:nvSpPr>
        <p:spPr>
          <a:xfrm>
            <a:off x="594360" y="435491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ko-KR" sz="1500" dirty="0"/>
              <a:t>승리 보상은 스테이지 클리어 후 지급한다.</a:t>
            </a:r>
            <a:br>
              <a:rPr lang="en-US" altLang="ko-KR" sz="1500" dirty="0"/>
            </a:br>
            <a:r>
              <a:rPr lang="en-US" altLang="ko-KR" sz="1500" dirty="0"/>
              <a:t>2. </a:t>
            </a:r>
            <a:r>
              <a:rPr lang="ko-KR" altLang="ko-KR" sz="1500" dirty="0"/>
              <a:t>보상은 경험치, 골드, 아이템으로 구분한다.</a:t>
            </a:r>
            <a:br>
              <a:rPr lang="en-US" altLang="ko-KR" sz="1500" dirty="0"/>
            </a:br>
            <a:r>
              <a:rPr lang="en-US" altLang="ko-KR" sz="1500" dirty="0"/>
              <a:t>3. </a:t>
            </a:r>
            <a:r>
              <a:rPr lang="ko-KR" altLang="ko-KR" sz="1500" dirty="0"/>
              <a:t>적 유닛을 처치한 아군 유닛은 처치 경험치를 획득한다.</a:t>
            </a:r>
            <a:br>
              <a:rPr lang="en-US" altLang="ko-KR" sz="1500" dirty="0"/>
            </a:br>
            <a:r>
              <a:rPr lang="en-US" altLang="ko-KR" sz="1500" dirty="0"/>
              <a:t>4. </a:t>
            </a:r>
            <a:r>
              <a:rPr lang="ko-KR" altLang="ko-KR" sz="1500" dirty="0"/>
              <a:t>스테이지 클리어 경험치는 출전한 아군 유닛 전체에게 지급한다.</a:t>
            </a:r>
            <a:br>
              <a:rPr lang="en-US" altLang="ko-KR" sz="1500" dirty="0"/>
            </a:br>
            <a:r>
              <a:rPr lang="en-US" altLang="ko-KR" sz="1500" dirty="0"/>
              <a:t>5. </a:t>
            </a:r>
            <a:r>
              <a:rPr lang="ko-KR" altLang="ko-KR" sz="1500" dirty="0"/>
              <a:t>골드와 아이템은 플레이어 보상으로 지급한다.</a:t>
            </a:r>
            <a:br>
              <a:rPr lang="en-US" altLang="ko-KR" sz="1500" dirty="0"/>
            </a:br>
            <a:r>
              <a:rPr lang="en-US" altLang="ko-KR" sz="1500" dirty="0"/>
              <a:t>6. </a:t>
            </a:r>
            <a:r>
              <a:rPr lang="ko-KR" altLang="ko-KR" sz="1500" dirty="0"/>
              <a:t>데미지를 입히거나 회피한 것만으로는 보상을 지급하지 않는다.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7BC19-1090-68EA-79BC-B75C95563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0E1150B-96CB-1D0D-13B6-4FDD56E34200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승패 처리 규칙 - 승리와 패배</a:t>
            </a:r>
            <a:endParaRPr lang="en-US" sz="25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6FEADA79-B4B8-E9C9-9C28-12DD48174545}"/>
              </a:ext>
            </a:extLst>
          </p:cNvPr>
          <p:cNvSpPr/>
          <p:nvPr/>
        </p:nvSpPr>
        <p:spPr>
          <a:xfrm>
            <a:off x="502920" y="1089379"/>
            <a:ext cx="53949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스테이지 클리어 연출</a:t>
            </a:r>
            <a:endParaRPr lang="en-US" sz="1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2AC4CF-924E-4ACA-4458-6D637444DCA2}"/>
              </a:ext>
            </a:extLst>
          </p:cNvPr>
          <p:cNvSpPr txBox="1"/>
          <p:nvPr/>
        </p:nvSpPr>
        <p:spPr>
          <a:xfrm>
            <a:off x="502920" y="67789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승리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재도전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F78495-4980-DFF9-1812-F539E07DE3DB}"/>
              </a:ext>
            </a:extLst>
          </p:cNvPr>
          <p:cNvSpPr txBox="1"/>
          <p:nvPr/>
        </p:nvSpPr>
        <p:spPr>
          <a:xfrm>
            <a:off x="502920" y="1617697"/>
            <a:ext cx="60960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ko-KR" sz="1500" dirty="0"/>
              <a:t>마지막 행동 결과를 먼저 출력한다.</a:t>
            </a:r>
            <a:br>
              <a:rPr lang="en-US" altLang="ko-KR" sz="1500" dirty="0"/>
            </a:br>
            <a:r>
              <a:rPr lang="en-US" altLang="ko-KR" sz="1500" dirty="0"/>
              <a:t>2. </a:t>
            </a:r>
            <a:r>
              <a:rPr lang="ko-KR" altLang="ko-KR" sz="1500" dirty="0"/>
              <a:t>승리 조건을 확인한 뒤 전투 화면을 정지한다.</a:t>
            </a:r>
            <a:br>
              <a:rPr lang="en-US" altLang="ko-KR" sz="1500" dirty="0"/>
            </a:br>
            <a:r>
              <a:rPr lang="en-US" altLang="ko-KR" sz="1500" dirty="0"/>
              <a:t>3. </a:t>
            </a:r>
            <a:r>
              <a:rPr lang="ko-KR" altLang="ko-KR" sz="1500" dirty="0"/>
              <a:t>클리어 문구를 출력한다.</a:t>
            </a:r>
            <a:br>
              <a:rPr lang="en-US" altLang="ko-KR" sz="1500" dirty="0"/>
            </a:br>
            <a:r>
              <a:rPr lang="en-US" altLang="ko-KR" sz="1500" dirty="0"/>
              <a:t>4. </a:t>
            </a:r>
            <a:r>
              <a:rPr lang="ko-KR" altLang="ko-KR" sz="1500" dirty="0"/>
              <a:t>보상 획득 화면을 출력한다.</a:t>
            </a:r>
            <a:br>
              <a:rPr lang="en-US" altLang="ko-KR" sz="1500" dirty="0"/>
            </a:br>
            <a:r>
              <a:rPr lang="en-US" altLang="ko-KR" sz="1500" dirty="0"/>
              <a:t>5. </a:t>
            </a:r>
            <a:r>
              <a:rPr lang="ko-KR" altLang="ko-KR" sz="1500" dirty="0"/>
              <a:t>보상 확인이 끝나면 스테이지 선택 화면으로 이동한다.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3715910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23CC1E-FD9A-6D74-034F-8FF62D0F4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76F3E29-4F36-E2BA-FA7E-E732ED8CC689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승패 처리 규칙 - 승리와 패배</a:t>
            </a:r>
            <a:endParaRPr lang="en-US" sz="2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CB0EB84-A46B-B147-8788-56A85BE12EB7}"/>
              </a:ext>
            </a:extLst>
          </p:cNvPr>
          <p:cNvSpPr/>
          <p:nvPr/>
        </p:nvSpPr>
        <p:spPr>
          <a:xfrm>
            <a:off x="565266" y="1006585"/>
            <a:ext cx="539496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패배</a:t>
            </a:r>
            <a:r>
              <a:rPr lang="en-US" sz="1700" b="1" dirty="0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00" b="1" dirty="0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달성 </a:t>
            </a:r>
            <a:r>
              <a:rPr lang="en-US" sz="1700" b="1" dirty="0" err="1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sz="1700" dirty="0"/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0D882279-7AD8-5C08-CC7A-709686ABE3D9}"/>
              </a:ext>
            </a:extLst>
          </p:cNvPr>
          <p:cNvSpPr/>
          <p:nvPr/>
        </p:nvSpPr>
        <p:spPr>
          <a:xfrm>
            <a:off x="565266" y="3796839"/>
            <a:ext cx="539496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패배</a:t>
            </a:r>
            <a:r>
              <a:rPr lang="en-US" sz="1700" b="1" dirty="0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00" b="1" dirty="0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</a:t>
            </a:r>
            <a:endParaRPr lang="en-US" sz="1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8D7426-DC72-557C-0050-B00F9C8DF77A}"/>
              </a:ext>
            </a:extLst>
          </p:cNvPr>
          <p:cNvSpPr txBox="1"/>
          <p:nvPr/>
        </p:nvSpPr>
        <p:spPr>
          <a:xfrm>
            <a:off x="565266" y="1465629"/>
            <a:ext cx="11256818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ko-KR" sz="1500" dirty="0"/>
              <a:t>패배 조건은 유닛의 행동이 완전히 끝난 뒤 확인한다.</a:t>
            </a:r>
          </a:p>
          <a:p>
            <a:pPr>
              <a:buFont typeface="+mj-lt"/>
              <a:buAutoNum type="arabicPeriod"/>
            </a:pPr>
            <a:r>
              <a:rPr lang="ko-KR" altLang="ko-KR" sz="1500" dirty="0"/>
              <a:t>이동 후 공격이 가능한 상태라면, 공격 / 특수능력 / 대기 중 하나를 선택하고 행동을 종료한 뒤 패배 조건을 확인한다.</a:t>
            </a:r>
          </a:p>
          <a:p>
            <a:pPr>
              <a:buFont typeface="+mj-lt"/>
              <a:buAutoNum type="arabicPeriod"/>
            </a:pPr>
            <a:r>
              <a:rPr lang="ko-KR" altLang="ko-KR" sz="1500" dirty="0"/>
              <a:t>기본 패배 조건은 모든 아군 유닛이 전투 불능 상태가 되는 것이다.</a:t>
            </a:r>
          </a:p>
          <a:p>
            <a:pPr>
              <a:buFont typeface="+mj-lt"/>
              <a:buAutoNum type="arabicPeriod"/>
            </a:pPr>
            <a:r>
              <a:rPr lang="ko-KR" altLang="ko-KR" sz="1500" dirty="0"/>
              <a:t>아군 지휘관이나 보호 대상 </a:t>
            </a:r>
            <a:r>
              <a:rPr lang="ko-KR" altLang="ko-KR" sz="1500" dirty="0" err="1"/>
              <a:t>NPC가</a:t>
            </a:r>
            <a:r>
              <a:rPr lang="ko-KR" altLang="ko-KR" sz="1500" dirty="0"/>
              <a:t> 전투 불능 상태가 되면 패배 처리한다.</a:t>
            </a:r>
          </a:p>
          <a:p>
            <a:pPr>
              <a:buFont typeface="+mj-lt"/>
              <a:buAutoNum type="arabicPeriod"/>
            </a:pPr>
            <a:r>
              <a:rPr lang="ko-KR" altLang="ko-KR" sz="1500" dirty="0"/>
              <a:t>제한 턴이 있는 스테이지에서는 제한 턴을 넘기면 패배 처리한다.</a:t>
            </a:r>
          </a:p>
          <a:p>
            <a:pPr>
              <a:buFont typeface="+mj-lt"/>
              <a:buAutoNum type="arabicPeriod"/>
            </a:pPr>
            <a:r>
              <a:rPr lang="ko-KR" altLang="ko-KR" sz="1500" dirty="0"/>
              <a:t>적 턴에서는 패배 조건을 먼저 확인한다.</a:t>
            </a:r>
          </a:p>
          <a:p>
            <a:pPr>
              <a:buFont typeface="+mj-lt"/>
              <a:buAutoNum type="arabicPeriod"/>
            </a:pPr>
            <a:r>
              <a:rPr lang="ko-KR" altLang="ko-KR" sz="1500" dirty="0"/>
              <a:t>적 턴에 승리 조건과 패배 조건이 동시에 달성되면 패배로 처리한다.</a:t>
            </a:r>
          </a:p>
          <a:p>
            <a:pPr>
              <a:buFont typeface="+mj-lt"/>
              <a:buAutoNum type="arabicPeriod"/>
            </a:pPr>
            <a:r>
              <a:rPr lang="ko-KR" altLang="ko-KR" sz="1500" dirty="0"/>
              <a:t>복수의 패배 조건이 동시에 달성되면 더 중요한 패배 조건을 우선 표시한다.</a:t>
            </a:r>
          </a:p>
          <a:p>
            <a:pPr>
              <a:buFont typeface="+mj-lt"/>
              <a:buAutoNum type="arabicPeriod"/>
            </a:pPr>
            <a:r>
              <a:rPr lang="ko-KR" altLang="ko-KR" sz="1500" dirty="0"/>
              <a:t>우선순위는 아군 지휘관 전투 불능 &gt; 보호 대상 NPC 전투 불능 &gt; 모든 아군 전투 불능 &gt; 제한 턴 초과 순서로 처리한다.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08757C-7638-9268-682F-2792E1336A22}"/>
              </a:ext>
            </a:extLst>
          </p:cNvPr>
          <p:cNvSpPr txBox="1"/>
          <p:nvPr/>
        </p:nvSpPr>
        <p:spPr>
          <a:xfrm>
            <a:off x="467591" y="685368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승리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재도전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C627F5-79B9-9D17-317A-683492136FE9}"/>
              </a:ext>
            </a:extLst>
          </p:cNvPr>
          <p:cNvSpPr txBox="1"/>
          <p:nvPr/>
        </p:nvSpPr>
        <p:spPr>
          <a:xfrm>
            <a:off x="565266" y="4320072"/>
            <a:ext cx="60960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ko-KR" sz="1500" dirty="0"/>
              <a:t>마지막 행동 결과를 먼저 출력한다.</a:t>
            </a:r>
            <a:br>
              <a:rPr lang="en-US" altLang="ko-KR" sz="1500" dirty="0"/>
            </a:br>
            <a:r>
              <a:rPr lang="en-US" altLang="ko-KR" sz="1500" dirty="0"/>
              <a:t>2. </a:t>
            </a:r>
            <a:r>
              <a:rPr lang="ko-KR" altLang="ko-KR" sz="1500" dirty="0"/>
              <a:t>패배 조건을 확인한 뒤 전투 화면을 정지한다.</a:t>
            </a:r>
            <a:br>
              <a:rPr lang="en-US" altLang="ko-KR" sz="1500" dirty="0"/>
            </a:br>
            <a:r>
              <a:rPr lang="en-US" altLang="ko-KR" sz="1500" dirty="0"/>
              <a:t>3. </a:t>
            </a:r>
            <a:r>
              <a:rPr lang="ko-KR" altLang="ko-KR" sz="1500" dirty="0"/>
              <a:t>패배 문구를 </a:t>
            </a:r>
            <a:r>
              <a:rPr lang="ko-KR" altLang="ko-KR" sz="1500" dirty="0" err="1"/>
              <a:t>출력한다.패배</a:t>
            </a:r>
            <a:r>
              <a:rPr lang="ko-KR" altLang="ko-KR" sz="1500" dirty="0"/>
              <a:t> 원인을 표시한다.</a:t>
            </a:r>
            <a:br>
              <a:rPr lang="en-US" altLang="ko-KR" sz="1500" dirty="0"/>
            </a:br>
            <a:r>
              <a:rPr lang="en-US" altLang="ko-KR" sz="1500" dirty="0"/>
              <a:t>4. </a:t>
            </a:r>
            <a:r>
              <a:rPr lang="ko-KR" altLang="ko-KR" sz="1500" dirty="0"/>
              <a:t>재도전 여부를 선택하는 화면을 출력한다.</a:t>
            </a:r>
            <a:br>
              <a:rPr lang="en-US" altLang="ko-KR" sz="1500" dirty="0"/>
            </a:br>
            <a:r>
              <a:rPr lang="en-US" altLang="ko-KR" sz="1500" dirty="0"/>
              <a:t>5. </a:t>
            </a:r>
            <a:r>
              <a:rPr lang="ko-KR" altLang="ko-KR" sz="1500" dirty="0"/>
              <a:t>패배한 스테이지에서는 클리어 보상을 지급하지 않는다.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0301243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AD7BD-B24F-018F-5F39-634402EB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995AAC4-BA3A-BC94-6029-7B5118D1F355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승패 처리 규칙 - 승리와 패배</a:t>
            </a:r>
            <a:endParaRPr lang="en-US" sz="2500" dirty="0"/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82DE0BED-DB8E-1C2A-4CAA-CDAEE6FF9881}"/>
              </a:ext>
            </a:extLst>
          </p:cNvPr>
          <p:cNvSpPr/>
          <p:nvPr/>
        </p:nvSpPr>
        <p:spPr>
          <a:xfrm>
            <a:off x="592975" y="1020131"/>
            <a:ext cx="539496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패배</a:t>
            </a:r>
            <a:r>
              <a:rPr lang="en-US" sz="1700" b="1" dirty="0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00" b="1" dirty="0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후의 선택지</a:t>
            </a:r>
            <a:endParaRPr lang="en-US" sz="1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641A49-0648-CCA5-DAC3-5E3A2178BADC}"/>
              </a:ext>
            </a:extLst>
          </p:cNvPr>
          <p:cNvSpPr txBox="1"/>
          <p:nvPr/>
        </p:nvSpPr>
        <p:spPr>
          <a:xfrm>
            <a:off x="502920" y="67789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승리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재도전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528A9-8C3B-21E6-5A8B-13BFFE8F778D}"/>
              </a:ext>
            </a:extLst>
          </p:cNvPr>
          <p:cNvSpPr txBox="1"/>
          <p:nvPr/>
        </p:nvSpPr>
        <p:spPr>
          <a:xfrm>
            <a:off x="592975" y="1500190"/>
            <a:ext cx="692727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ko-KR" sz="1500" dirty="0"/>
              <a:t>재도전을 선택하면 전투 준비 단계로 돌아간다.</a:t>
            </a:r>
            <a:br>
              <a:rPr lang="en-US" altLang="ko-KR" sz="1500" dirty="0"/>
            </a:br>
            <a:r>
              <a:rPr lang="en-US" altLang="ko-KR" sz="1500" dirty="0"/>
              <a:t>2. </a:t>
            </a:r>
            <a:r>
              <a:rPr lang="ko-KR" altLang="ko-KR" sz="1500" dirty="0"/>
              <a:t>나가기를 선택하면 스테이지 선택 화면으로 이동한다.</a:t>
            </a:r>
            <a:br>
              <a:rPr lang="en-US" altLang="ko-KR" sz="1500" dirty="0"/>
            </a:br>
            <a:r>
              <a:rPr lang="en-US" altLang="ko-KR" sz="1500" dirty="0"/>
              <a:t>3. </a:t>
            </a:r>
            <a:r>
              <a:rPr lang="ko-KR" altLang="ko-KR" sz="1500" dirty="0"/>
              <a:t>현재 규칙에서는 캐릭터가 영구히 사망하는 방식은 사용하지 않는다.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3267219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승패 처리 </a:t>
            </a:r>
            <a:r>
              <a:rPr lang="en-US" sz="25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– </a:t>
            </a:r>
            <a:r>
              <a:rPr lang="en-US" sz="25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재도전</a:t>
            </a: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94360" y="1019886"/>
            <a:ext cx="5394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스테이지 재도전 시 혜택</a:t>
            </a:r>
            <a:endParaRPr lang="en-US" sz="1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4AD9C-4311-2F1F-0CE7-C886EF5FD82F}"/>
              </a:ext>
            </a:extLst>
          </p:cNvPr>
          <p:cNvSpPr txBox="1"/>
          <p:nvPr/>
        </p:nvSpPr>
        <p:spPr>
          <a:xfrm>
            <a:off x="502920" y="1506171"/>
            <a:ext cx="72667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en-US" sz="1500" dirty="0"/>
              <a:t>재도전을 선택하면 전투 준비 단계로 돌아간다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 </a:t>
            </a:r>
            <a:r>
              <a:rPr lang="ko-KR" altLang="en-US" sz="1500" dirty="0"/>
              <a:t>같은 스테이지에서 </a:t>
            </a:r>
            <a:r>
              <a:rPr lang="en-US" altLang="ko-KR" sz="1500" dirty="0"/>
              <a:t>3</a:t>
            </a:r>
            <a:r>
              <a:rPr lang="ko-KR" altLang="en-US" sz="1500" dirty="0"/>
              <a:t>회 이상 패배하면 재도전 보정이 적용된다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3. </a:t>
            </a:r>
            <a:r>
              <a:rPr lang="ko-KR" altLang="en-US" sz="1500" dirty="0"/>
              <a:t>재도전 보정은 해당 스테이지에서만 적용된다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4. </a:t>
            </a:r>
            <a:r>
              <a:rPr lang="ko-KR" altLang="en-US" sz="1500" dirty="0"/>
              <a:t>재도전 보정이 적용되면 아군 유닛의 최대 체력이 </a:t>
            </a:r>
            <a:r>
              <a:rPr lang="en-US" altLang="ko-KR" sz="1500" dirty="0"/>
              <a:t>10% </a:t>
            </a:r>
            <a:r>
              <a:rPr lang="ko-KR" altLang="en-US" sz="1500" dirty="0"/>
              <a:t>증가한다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5. </a:t>
            </a:r>
            <a:r>
              <a:rPr lang="ko-KR" altLang="en-US" sz="1500" dirty="0"/>
              <a:t>재도전 보정이 적용되면 아군 유닛의 특수능력 게이지가 </a:t>
            </a:r>
            <a:r>
              <a:rPr lang="en-US" altLang="ko-KR" sz="1500" dirty="0"/>
              <a:t>30</a:t>
            </a:r>
            <a:r>
              <a:rPr lang="ko-KR" altLang="en-US" sz="1500" dirty="0"/>
              <a:t>인 상태로 시작한다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6. </a:t>
            </a:r>
            <a:r>
              <a:rPr lang="ko-KR" altLang="en-US" sz="1500" dirty="0"/>
              <a:t>재도전 시 유닛 편성</a:t>
            </a:r>
            <a:r>
              <a:rPr lang="en-US" altLang="ko-KR" sz="1500" dirty="0"/>
              <a:t>, </a:t>
            </a:r>
            <a:r>
              <a:rPr lang="ko-KR" altLang="en-US" sz="1500" dirty="0"/>
              <a:t>배치 위치</a:t>
            </a:r>
            <a:r>
              <a:rPr lang="en-US" altLang="ko-KR" sz="1500" dirty="0"/>
              <a:t>, </a:t>
            </a:r>
            <a:r>
              <a:rPr lang="ko-KR" altLang="en-US" sz="1500" dirty="0"/>
              <a:t>장비</a:t>
            </a:r>
            <a:r>
              <a:rPr lang="en-US" altLang="ko-KR" sz="1500" dirty="0"/>
              <a:t>, </a:t>
            </a:r>
            <a:r>
              <a:rPr lang="ko-KR" altLang="en-US" sz="1500" dirty="0"/>
              <a:t>특수능력을 다시 확인할 수 있다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7. </a:t>
            </a:r>
            <a:r>
              <a:rPr lang="ko-KR" altLang="en-US" sz="1500" dirty="0"/>
              <a:t>재도전 보정은 스테이지를 클리어하거나 나가기를 선택하면 사라진다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8. </a:t>
            </a:r>
            <a:r>
              <a:rPr lang="ko-KR" altLang="en-US" sz="1500" dirty="0"/>
              <a:t>도전형 스테이지에서는 재도전 보정을 적용하지 않는다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4C23C5-BDC1-3E90-BF4C-CFCCB7B58AA2}"/>
              </a:ext>
            </a:extLst>
          </p:cNvPr>
          <p:cNvSpPr txBox="1"/>
          <p:nvPr/>
        </p:nvSpPr>
        <p:spPr>
          <a:xfrm>
            <a:off x="502920" y="681232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승리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패배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재도전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D5DB9-724E-4A16-E323-56E9BBC1A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0A65B02-EB85-DC4E-3533-C51DBF5B23ED}"/>
              </a:ext>
            </a:extLst>
          </p:cNvPr>
          <p:cNvSpPr/>
          <p:nvPr/>
        </p:nvSpPr>
        <p:spPr>
          <a:xfrm>
            <a:off x="685800" y="2468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</a:t>
            </a: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테이블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EE5B8F-07C9-5A24-87C4-076E82F40BBF}"/>
              </a:ext>
            </a:extLst>
          </p:cNvPr>
          <p:cNvSpPr/>
          <p:nvPr/>
        </p:nvSpPr>
        <p:spPr>
          <a:xfrm>
            <a:off x="713232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 데이터 테이블 </a:t>
            </a:r>
            <a:r>
              <a:rPr lang="en-US" altLang="ko-KR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400" dirty="0">
                <a:solidFill>
                  <a:srgbClr val="D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 데이터 테이블</a:t>
            </a:r>
            <a:endParaRPr lang="en-US" sz="14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D5A4A38-E5AD-CD1F-4AFF-3610746BE0AE}"/>
              </a:ext>
            </a:extLst>
          </p:cNvPr>
          <p:cNvSpPr/>
          <p:nvPr/>
        </p:nvSpPr>
        <p:spPr>
          <a:xfrm>
            <a:off x="685800" y="3063240"/>
            <a:ext cx="438912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1325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014BE-7355-612D-783C-579640A1D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EF3140B-D78C-CE7B-64D8-3BE36FFA48F7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</a:t>
            </a:r>
            <a:r>
              <a:rPr lang="ko-KR" alt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테이블 </a:t>
            </a:r>
            <a:r>
              <a:rPr lang="en-US" altLang="ko-KR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lang="ko-KR" alt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r>
              <a:rPr lang="en-US" altLang="ko-KR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BB2D4FD-CB43-CF6C-3FBE-D3F114CA383B}"/>
              </a:ext>
            </a:extLst>
          </p:cNvPr>
          <p:cNvSpPr/>
          <p:nvPr/>
        </p:nvSpPr>
        <p:spPr>
          <a:xfrm>
            <a:off x="594360" y="1019886"/>
            <a:ext cx="5394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데이터 테이블 개요</a:t>
            </a:r>
            <a:endParaRPr lang="en-US" sz="1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52804-0CD9-F62B-88DC-0784D9F21FF0}"/>
              </a:ext>
            </a:extLst>
          </p:cNvPr>
          <p:cNvSpPr txBox="1"/>
          <p:nvPr/>
        </p:nvSpPr>
        <p:spPr>
          <a:xfrm>
            <a:off x="502920" y="1506171"/>
            <a:ext cx="96039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ko-KR" sz="1600" dirty="0"/>
              <a:t>데이터 테이블은 유닛과 지형의 수치를 관리하기 위한 표이다.</a:t>
            </a:r>
            <a:br>
              <a:rPr lang="en-US" altLang="ko-KR" sz="1600" dirty="0"/>
            </a:br>
            <a:r>
              <a:rPr lang="en-US" altLang="ko-KR" sz="1600" dirty="0"/>
              <a:t>2. </a:t>
            </a:r>
            <a:r>
              <a:rPr lang="ko-KR" altLang="ko-KR" sz="1600" dirty="0"/>
              <a:t>기획서에 작성한 </a:t>
            </a:r>
            <a:r>
              <a:rPr lang="ko-KR" altLang="ko-KR" sz="1600" dirty="0" err="1"/>
              <a:t>이동력</a:t>
            </a:r>
            <a:r>
              <a:rPr lang="ko-KR" altLang="ko-KR" sz="1600" dirty="0"/>
              <a:t>, 능력치, 지형효과 값을 데이터로 정리한다.</a:t>
            </a:r>
            <a:br>
              <a:rPr lang="en-US" altLang="ko-KR" sz="1600" dirty="0"/>
            </a:br>
            <a:r>
              <a:rPr lang="en-US" altLang="ko-KR" sz="1600" dirty="0"/>
              <a:t>3. </a:t>
            </a:r>
            <a:r>
              <a:rPr lang="ko-KR" altLang="en-US" sz="1600" dirty="0"/>
              <a:t>이번 </a:t>
            </a:r>
            <a:r>
              <a:rPr lang="ko-KR" altLang="ko-KR" sz="1600" dirty="0"/>
              <a:t>기획서에서는 지형 데이터 테이블과 유닛 데이터 테이블로 나누어 작성한다.</a:t>
            </a:r>
            <a:br>
              <a:rPr lang="en-US" altLang="ko-KR" sz="1600" dirty="0"/>
            </a:br>
            <a:r>
              <a:rPr lang="en-US" altLang="ko-KR" sz="1600" dirty="0"/>
              <a:t>4. </a:t>
            </a:r>
            <a:r>
              <a:rPr lang="ko-KR" altLang="ko-KR" sz="1600" dirty="0"/>
              <a:t>지형 데이터 테이블은 지형별 </a:t>
            </a:r>
            <a:r>
              <a:rPr lang="ko-KR" altLang="ko-KR" sz="1600" dirty="0" err="1"/>
              <a:t>이동력</a:t>
            </a:r>
            <a:r>
              <a:rPr lang="ko-KR" altLang="ko-KR" sz="1600" dirty="0"/>
              <a:t> 소모량과 지형효과를 관리한다.</a:t>
            </a:r>
            <a:br>
              <a:rPr lang="en-US" altLang="ko-KR" sz="1600" dirty="0"/>
            </a:br>
            <a:r>
              <a:rPr lang="en-US" altLang="ko-KR" sz="1600" dirty="0"/>
              <a:t>5. </a:t>
            </a:r>
            <a:r>
              <a:rPr lang="ko-KR" altLang="ko-KR" sz="1600" dirty="0"/>
              <a:t>유닛 데이터 테이블은 유닛의 병종, 이동타입, 능력치, 사정거리, 특수능력 정보를 관리한다.</a:t>
            </a:r>
            <a:br>
              <a:rPr lang="en-US" altLang="ko-KR" sz="1600" dirty="0"/>
            </a:br>
            <a:r>
              <a:rPr lang="en-US" altLang="ko-KR" sz="1600" dirty="0"/>
              <a:t>6. </a:t>
            </a:r>
            <a:r>
              <a:rPr lang="ko-KR" altLang="ko-KR" sz="1600" dirty="0"/>
              <a:t>수치를 변경할 경우 기획서 문장을 수정하는 것이 아니라 데이터 테이블 값을 수정해서 적용한다</a:t>
            </a:r>
            <a:endParaRPr lang="ko-KR" alt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39F9E-D8DF-C8D1-9200-9C2B01D99D11}"/>
              </a:ext>
            </a:extLst>
          </p:cNvPr>
          <p:cNvSpPr txBox="1"/>
          <p:nvPr/>
        </p:nvSpPr>
        <p:spPr>
          <a:xfrm>
            <a:off x="502920" y="681232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 데이터 테이블 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 데이터 테이블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218A4343-7CE7-8676-7284-AE245F7510A1}"/>
              </a:ext>
            </a:extLst>
          </p:cNvPr>
          <p:cNvSpPr/>
          <p:nvPr/>
        </p:nvSpPr>
        <p:spPr>
          <a:xfrm>
            <a:off x="594360" y="3377219"/>
            <a:ext cx="5394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데이터 테이블 작성 기준</a:t>
            </a:r>
            <a:endParaRPr lang="en-US" sz="17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EEA6EC-41D5-FE06-71B0-16ECC548AC4B}"/>
              </a:ext>
            </a:extLst>
          </p:cNvPr>
          <p:cNvSpPr txBox="1"/>
          <p:nvPr/>
        </p:nvSpPr>
        <p:spPr>
          <a:xfrm>
            <a:off x="502920" y="388584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ko-KR" sz="1500" dirty="0"/>
              <a:t>번호는 각 데이터를 구분하기 위한 고유 값으로 사용한다.</a:t>
            </a:r>
            <a:br>
              <a:rPr lang="en-US" altLang="ko-KR" sz="1500" dirty="0"/>
            </a:br>
            <a:r>
              <a:rPr lang="en-US" altLang="ko-KR" sz="1500" dirty="0"/>
              <a:t>2. </a:t>
            </a:r>
            <a:r>
              <a:rPr lang="ko-KR" altLang="ko-KR" sz="1500" dirty="0"/>
              <a:t>타입은 데이터의 큰 분류를 의미한다.</a:t>
            </a:r>
            <a:br>
              <a:rPr lang="en-US" altLang="ko-KR" sz="1500" dirty="0"/>
            </a:br>
            <a:r>
              <a:rPr lang="en-US" altLang="ko-KR" sz="1500" dirty="0"/>
              <a:t>3. </a:t>
            </a:r>
            <a:r>
              <a:rPr lang="ko-KR" altLang="ko-KR" sz="1500" dirty="0"/>
              <a:t>명칭은 실제 게임 화면에 표시되는 이름이다.</a:t>
            </a:r>
            <a:br>
              <a:rPr lang="en-US" altLang="ko-KR" sz="1500" dirty="0"/>
            </a:br>
            <a:r>
              <a:rPr lang="en-US" altLang="ko-KR" sz="1500" dirty="0"/>
              <a:t>4. </a:t>
            </a:r>
            <a:r>
              <a:rPr lang="ko-KR" altLang="ko-KR" sz="1500" dirty="0" err="1"/>
              <a:t>이동력</a:t>
            </a:r>
            <a:r>
              <a:rPr lang="ko-KR" altLang="ko-KR" sz="1500" dirty="0"/>
              <a:t>, 공격력, 방어력 같은 수치는 숫자로 입력한다.</a:t>
            </a:r>
            <a:br>
              <a:rPr lang="en-US" altLang="ko-KR" sz="1500" dirty="0"/>
            </a:br>
            <a:r>
              <a:rPr lang="en-US" altLang="ko-KR" sz="1500" dirty="0"/>
              <a:t>5. </a:t>
            </a:r>
            <a:r>
              <a:rPr lang="ko-KR" altLang="ko-KR" sz="1500" dirty="0"/>
              <a:t>적용 여부는 TRUE / FALSE 값으로 구분한다.</a:t>
            </a:r>
            <a:br>
              <a:rPr lang="en-US" altLang="ko-KR" sz="1500" dirty="0"/>
            </a:br>
            <a:r>
              <a:rPr lang="en-US" altLang="ko-KR" sz="1500" dirty="0"/>
              <a:t>6. </a:t>
            </a:r>
            <a:r>
              <a:rPr lang="ko-KR" altLang="ko-KR" sz="1500" dirty="0"/>
              <a:t>사용하지 않는 값은 빈칸으로 두지 않고 없음 또는 -1로 입력한다.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6464809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0AA618-B645-3E92-9BB9-ED68D6C4C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2FEF7CF-A6A3-28DB-D35F-A0EE434D0EE0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</a:t>
            </a:r>
            <a:r>
              <a:rPr lang="ko-KR" alt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테이블 </a:t>
            </a:r>
            <a:r>
              <a:rPr lang="en-US" altLang="ko-KR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lang="ko-KR" alt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 데이터 테이블</a:t>
            </a:r>
            <a:r>
              <a:rPr lang="en-US" altLang="ko-KR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2D2F4A3-DFED-AA52-EEDA-C1BC8978DEB1}"/>
              </a:ext>
            </a:extLst>
          </p:cNvPr>
          <p:cNvSpPr/>
          <p:nvPr/>
        </p:nvSpPr>
        <p:spPr>
          <a:xfrm>
            <a:off x="594360" y="1019886"/>
            <a:ext cx="5394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지형</a:t>
            </a:r>
            <a:r>
              <a:rPr lang="en-US" altLang="ko-KR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데이터 테이블 설명</a:t>
            </a:r>
            <a:endParaRPr lang="en-US" sz="1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8B15C-C8EE-83DC-2533-B9BA8B90E89F}"/>
              </a:ext>
            </a:extLst>
          </p:cNvPr>
          <p:cNvSpPr txBox="1"/>
          <p:nvPr/>
        </p:nvSpPr>
        <p:spPr>
          <a:xfrm>
            <a:off x="594360" y="1506171"/>
            <a:ext cx="9603971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ko-KR" sz="1500" dirty="0"/>
              <a:t>지형 데이터 테이블은 지형별 </a:t>
            </a:r>
            <a:r>
              <a:rPr lang="ko-KR" altLang="ko-KR" sz="1500" dirty="0" err="1"/>
              <a:t>이동력</a:t>
            </a:r>
            <a:r>
              <a:rPr lang="ko-KR" altLang="ko-KR" sz="1500" dirty="0"/>
              <a:t> 소모량과 전투 보정 값을 관리한다.</a:t>
            </a:r>
            <a:br>
              <a:rPr lang="en-US" altLang="ko-KR" sz="1500" dirty="0"/>
            </a:br>
            <a:r>
              <a:rPr lang="en-US" altLang="ko-KR" sz="1500" dirty="0"/>
              <a:t>2. </a:t>
            </a:r>
            <a:r>
              <a:rPr lang="ko-KR" altLang="ko-KR" sz="1500" dirty="0"/>
              <a:t>번호는 지형을 구분하기 위한 고유 </a:t>
            </a:r>
            <a:r>
              <a:rPr lang="ko-KR" altLang="ko-KR" sz="1500" dirty="0" err="1"/>
              <a:t>ID이다</a:t>
            </a:r>
            <a:r>
              <a:rPr lang="ko-KR" altLang="ko-KR" sz="1500" dirty="0"/>
              <a:t>.</a:t>
            </a:r>
            <a:br>
              <a:rPr lang="en-US" altLang="ko-KR" sz="1500" dirty="0"/>
            </a:br>
            <a:r>
              <a:rPr lang="en-US" altLang="ko-KR" sz="1500" dirty="0"/>
              <a:t>3. </a:t>
            </a:r>
            <a:r>
              <a:rPr lang="ko-KR" altLang="ko-KR" sz="1500" dirty="0"/>
              <a:t>타입은 지형의 큰 분류를 의미한다.</a:t>
            </a:r>
            <a:br>
              <a:rPr lang="en-US" altLang="ko-KR" sz="1500" dirty="0"/>
            </a:br>
            <a:r>
              <a:rPr lang="en-US" altLang="ko-KR" sz="1500" dirty="0"/>
              <a:t>4. </a:t>
            </a:r>
            <a:r>
              <a:rPr lang="ko-KR" altLang="ko-KR" sz="1500" dirty="0"/>
              <a:t>명칭은 실제 게임 화면에 표시되는 지형 이름이다.</a:t>
            </a:r>
            <a:br>
              <a:rPr lang="en-US" altLang="ko-KR" sz="1500" dirty="0"/>
            </a:br>
            <a:r>
              <a:rPr lang="en-US" altLang="ko-KR" sz="1500" dirty="0"/>
              <a:t>5. </a:t>
            </a:r>
            <a:r>
              <a:rPr lang="ko-KR" altLang="ko-KR" sz="1500" dirty="0"/>
              <a:t>병종별 이동 값은 해당 지형을 이동할 때 소비하는 </a:t>
            </a:r>
            <a:r>
              <a:rPr lang="ko-KR" altLang="ko-KR" sz="1500" dirty="0" err="1"/>
              <a:t>이동력이다</a:t>
            </a:r>
            <a:r>
              <a:rPr lang="ko-KR" altLang="ko-KR" sz="1500" dirty="0"/>
              <a:t>.</a:t>
            </a:r>
            <a:br>
              <a:rPr lang="en-US" altLang="ko-KR" sz="1500" dirty="0"/>
            </a:br>
            <a:r>
              <a:rPr lang="en-US" altLang="ko-KR" sz="1500" dirty="0"/>
              <a:t>6. </a:t>
            </a:r>
            <a:r>
              <a:rPr lang="ko-KR" altLang="ko-KR" sz="1500" dirty="0"/>
              <a:t>이동 값이 -1이면 해당 병종은 그 지형으로 이동할 수 없다.</a:t>
            </a:r>
            <a:br>
              <a:rPr lang="en-US" altLang="ko-KR" sz="1500" dirty="0"/>
            </a:br>
            <a:r>
              <a:rPr lang="en-US" altLang="ko-KR" sz="1500" dirty="0"/>
              <a:t>7. </a:t>
            </a:r>
            <a:r>
              <a:rPr lang="ko-KR" altLang="ko-KR" sz="1500" dirty="0"/>
              <a:t>효과종류는 지형이 전투에 주는 보정 종류이다.</a:t>
            </a:r>
            <a:br>
              <a:rPr lang="en-US" altLang="ko-KR" sz="1500" dirty="0"/>
            </a:br>
            <a:r>
              <a:rPr lang="en-US" altLang="ko-KR" sz="1500" dirty="0"/>
              <a:t>8. </a:t>
            </a:r>
            <a:r>
              <a:rPr lang="ko-KR" altLang="ko-KR" sz="1500" dirty="0"/>
              <a:t>효과수치는 지형효과가 적용되는 수치이다.</a:t>
            </a:r>
            <a:br>
              <a:rPr lang="en-US" altLang="ko-KR" sz="1500" dirty="0"/>
            </a:br>
            <a:r>
              <a:rPr lang="en-US" altLang="ko-KR" sz="1500" dirty="0"/>
              <a:t>9. </a:t>
            </a:r>
            <a:r>
              <a:rPr lang="ko-KR" altLang="ko-KR" sz="1500" dirty="0"/>
              <a:t>공격통과는 해당 지형을 사이에 두고 공격이 가능한지 여부를 </a:t>
            </a:r>
            <a:r>
              <a:rPr lang="ko-KR" altLang="en-US" sz="1500" dirty="0"/>
              <a:t>의미</a:t>
            </a:r>
            <a:r>
              <a:rPr lang="ko-KR" altLang="ko-KR" sz="1500" dirty="0"/>
              <a:t>한다.</a:t>
            </a:r>
            <a:endParaRPr lang="ko-KR" altLang="en-US" sz="15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655C75-5F21-EBE4-E485-C56357DB2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" y="3799764"/>
            <a:ext cx="11001375" cy="2038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D025FF-298C-4316-32FE-18EE303464D9}"/>
              </a:ext>
            </a:extLst>
          </p:cNvPr>
          <p:cNvSpPr txBox="1"/>
          <p:nvPr/>
        </p:nvSpPr>
        <p:spPr>
          <a:xfrm>
            <a:off x="502920" y="5961882"/>
            <a:ext cx="34871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b="1" dirty="0"/>
              <a:t>※ -1은 이동 불가를 의미한다.</a:t>
            </a:r>
            <a:br>
              <a:rPr lang="ko-KR" altLang="ko-KR" sz="1000" b="1" dirty="0"/>
            </a:br>
            <a:r>
              <a:rPr lang="ko-KR" altLang="ko-KR" sz="1000" b="1" dirty="0"/>
              <a:t>※ </a:t>
            </a:r>
            <a:r>
              <a:rPr lang="ko-KR" altLang="ko-KR" sz="1000" b="1" dirty="0" err="1"/>
              <a:t>TRUE는</a:t>
            </a:r>
            <a:r>
              <a:rPr lang="ko-KR" altLang="ko-KR" sz="1000" b="1" dirty="0"/>
              <a:t> 공격이 지형을 통과할 수 있음을 의미한다.</a:t>
            </a:r>
            <a:br>
              <a:rPr lang="ko-KR" altLang="ko-KR" sz="1000" b="1" dirty="0"/>
            </a:br>
            <a:r>
              <a:rPr lang="ko-KR" altLang="ko-KR" sz="1000" b="1" dirty="0"/>
              <a:t>※ </a:t>
            </a:r>
            <a:r>
              <a:rPr lang="ko-KR" altLang="ko-KR" sz="1000" b="1" dirty="0" err="1"/>
              <a:t>FALSE는</a:t>
            </a:r>
            <a:r>
              <a:rPr lang="ko-KR" altLang="ko-KR" sz="1000" b="1" dirty="0"/>
              <a:t> 해당 지형이 공격 경로를 막는다는 의미이다.</a:t>
            </a:r>
            <a:endParaRPr lang="ko-KR" altLang="en-US" sz="1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216337-8294-E89C-DC60-873A05F21574}"/>
              </a:ext>
            </a:extLst>
          </p:cNvPr>
          <p:cNvSpPr txBox="1"/>
          <p:nvPr/>
        </p:nvSpPr>
        <p:spPr>
          <a:xfrm>
            <a:off x="502920" y="670294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 데이터 테이블 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 데이터 테이블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6059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CFAC8-8BFC-48B8-E495-4E05DA1C3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6B19E45F-4767-CD51-683B-E3C0A26AB2C1}"/>
              </a:ext>
            </a:extLst>
          </p:cNvPr>
          <p:cNvSpPr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</a:t>
            </a:r>
            <a:r>
              <a:rPr lang="ko-KR" alt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테이블 </a:t>
            </a:r>
            <a:r>
              <a:rPr lang="en-US" altLang="ko-KR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lang="ko-KR" alt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 데이터 테이블</a:t>
            </a:r>
            <a:r>
              <a:rPr lang="en-US" altLang="ko-KR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7DFB1D8-2011-BBDD-2E22-333CA5B323B2}"/>
              </a:ext>
            </a:extLst>
          </p:cNvPr>
          <p:cNvSpPr/>
          <p:nvPr/>
        </p:nvSpPr>
        <p:spPr>
          <a:xfrm>
            <a:off x="594360" y="1019886"/>
            <a:ext cx="5394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유닛</a:t>
            </a:r>
            <a:r>
              <a:rPr lang="en-US" altLang="ko-KR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데이터 테이블 설명</a:t>
            </a:r>
            <a:endParaRPr lang="en-US" sz="1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45045-1DA9-4160-6E64-37DA89C9B3C1}"/>
              </a:ext>
            </a:extLst>
          </p:cNvPr>
          <p:cNvSpPr txBox="1"/>
          <p:nvPr/>
        </p:nvSpPr>
        <p:spPr>
          <a:xfrm>
            <a:off x="594361" y="1506171"/>
            <a:ext cx="6776258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1. </a:t>
            </a:r>
            <a:r>
              <a:rPr lang="ko-KR" altLang="ko-KR" sz="1500" dirty="0"/>
              <a:t>유닛 데이터 테이블은 유닛의 기본 능력치와 전투 관련 수치를 관리한다.</a:t>
            </a:r>
            <a:br>
              <a:rPr lang="en-US" altLang="ko-KR" sz="1500" dirty="0"/>
            </a:br>
            <a:r>
              <a:rPr lang="en-US" altLang="ko-KR" sz="1500" dirty="0"/>
              <a:t>2. </a:t>
            </a:r>
            <a:r>
              <a:rPr lang="ko-KR" altLang="ko-KR" sz="1500" dirty="0"/>
              <a:t>번호는 유닛을 구분하기 위한 고유 </a:t>
            </a:r>
            <a:r>
              <a:rPr lang="ko-KR" altLang="ko-KR" sz="1500" dirty="0" err="1"/>
              <a:t>ID이다</a:t>
            </a:r>
            <a:r>
              <a:rPr lang="ko-KR" altLang="ko-KR" sz="1500" dirty="0"/>
              <a:t>.</a:t>
            </a:r>
            <a:br>
              <a:rPr lang="en-US" altLang="ko-KR" sz="1500" dirty="0"/>
            </a:br>
            <a:r>
              <a:rPr lang="en-US" altLang="ko-KR" sz="1500" dirty="0"/>
              <a:t>3. </a:t>
            </a:r>
            <a:r>
              <a:rPr lang="ko-KR" altLang="ko-KR" sz="1500" dirty="0"/>
              <a:t>이름은 게임 화면에 표시되는 유닛 이름이다.</a:t>
            </a:r>
            <a:br>
              <a:rPr lang="en-US" altLang="ko-KR" sz="1500" dirty="0"/>
            </a:br>
            <a:r>
              <a:rPr lang="en-US" altLang="ko-KR" sz="1500" dirty="0"/>
              <a:t>4. </a:t>
            </a:r>
            <a:r>
              <a:rPr lang="ko-KR" altLang="ko-KR" sz="1500" dirty="0"/>
              <a:t>진영은 아군, 적군, 중립으로 구분한다.</a:t>
            </a:r>
            <a:br>
              <a:rPr lang="en-US" altLang="ko-KR" sz="1500" dirty="0"/>
            </a:br>
            <a:r>
              <a:rPr lang="en-US" altLang="ko-KR" sz="1500" dirty="0"/>
              <a:t>5. </a:t>
            </a:r>
            <a:r>
              <a:rPr lang="ko-KR" altLang="ko-KR" sz="1500" dirty="0"/>
              <a:t>병종은 아군과 적군 유닛에게 적용한다.</a:t>
            </a:r>
            <a:br>
              <a:rPr lang="en-US" altLang="ko-KR" sz="1500" dirty="0"/>
            </a:br>
            <a:r>
              <a:rPr lang="en-US" altLang="ko-KR" sz="1500" dirty="0"/>
              <a:t>6. </a:t>
            </a:r>
            <a:r>
              <a:rPr lang="ko-KR" altLang="ko-KR" sz="1500" dirty="0"/>
              <a:t>중립 몬스터는 병종 대신 몬스터</a:t>
            </a:r>
            <a:r>
              <a:rPr lang="en-US" altLang="ko-KR" sz="1500" dirty="0"/>
              <a:t> </a:t>
            </a:r>
            <a:r>
              <a:rPr lang="ko-KR" altLang="ko-KR" sz="1500" dirty="0"/>
              <a:t>유형으로 구분한다.</a:t>
            </a:r>
            <a:br>
              <a:rPr lang="en-US" altLang="ko-KR" sz="1500" dirty="0"/>
            </a:br>
            <a:r>
              <a:rPr lang="en-US" altLang="ko-KR" sz="1500" dirty="0"/>
              <a:t>7. </a:t>
            </a:r>
            <a:r>
              <a:rPr lang="ko-KR" altLang="ko-KR" sz="1500" dirty="0"/>
              <a:t>이동타입은 지형 이동 제한과 ZOC 적용 여부에 영향을 준다.</a:t>
            </a:r>
            <a:br>
              <a:rPr lang="en-US" altLang="ko-KR" sz="1500" dirty="0"/>
            </a:br>
            <a:r>
              <a:rPr lang="en-US" altLang="ko-KR" sz="1500" dirty="0"/>
              <a:t>8. </a:t>
            </a:r>
            <a:r>
              <a:rPr lang="ko-KR" altLang="ko-KR" sz="1500" dirty="0"/>
              <a:t>체력이 0이 되면 전투 불능 상태가 된다.</a:t>
            </a:r>
            <a:br>
              <a:rPr lang="en-US" altLang="ko-KR" sz="1500" dirty="0"/>
            </a:br>
            <a:r>
              <a:rPr lang="en-US" altLang="ko-KR" sz="1500" dirty="0"/>
              <a:t>9. </a:t>
            </a:r>
            <a:r>
              <a:rPr lang="ko-KR" altLang="ko-KR" sz="1500" dirty="0" err="1"/>
              <a:t>특수능력ID는</a:t>
            </a:r>
            <a:r>
              <a:rPr lang="ko-KR" altLang="ko-KR" sz="1500" dirty="0"/>
              <a:t> 해당 유닛이 사용하는 특수능력 데이터와 연결된다.</a:t>
            </a:r>
            <a:endParaRPr lang="ko-KR" alt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63CD9-6BA7-D8FD-E644-8ABA109A9068}"/>
              </a:ext>
            </a:extLst>
          </p:cNvPr>
          <p:cNvSpPr txBox="1"/>
          <p:nvPr/>
        </p:nvSpPr>
        <p:spPr>
          <a:xfrm>
            <a:off x="502920" y="671428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 데이터 테이블 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 데이터 테이블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BF5139F-631B-B932-5044-B362142CD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1" y="3843913"/>
            <a:ext cx="11071167" cy="199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35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1830</TotalTime>
  <Words>6066</Words>
  <Application>Microsoft Office PowerPoint</Application>
  <PresentationFormat>와이드스크린</PresentationFormat>
  <Paragraphs>839</Paragraphs>
  <Slides>52</Slides>
  <Notes>52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3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시뮬레이션 RPG 이동 및 전투 시스템 기획서</dc:title>
  <dc:subject>시뮬레이션 RPG 이동 및 전투 시스템 기획서</dc:subject>
  <dc:creator>OpenAI</dc:creator>
  <cp:lastModifiedBy>재우 정</cp:lastModifiedBy>
  <cp:revision>161</cp:revision>
  <dcterms:created xsi:type="dcterms:W3CDTF">2026-05-30T00:36:05Z</dcterms:created>
  <dcterms:modified xsi:type="dcterms:W3CDTF">2026-06-06T14:42:02Z</dcterms:modified>
</cp:coreProperties>
</file>