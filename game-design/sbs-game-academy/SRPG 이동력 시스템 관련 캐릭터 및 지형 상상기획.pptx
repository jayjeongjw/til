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6" r:id="rId4"/>
    <p:sldId id="261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0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1CBB3-74D2-4783-BE59-6E8A4010D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DE0BA2F-7810-433E-9DCF-DA25B80683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E48CD9-10FC-4F76-AD8E-3C68B52BC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E2EE-1829-4C1E-A92D-BCD1B3AE743A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918BF5-922F-45B5-B07E-9967FFB8C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CE1DF5-B650-4359-89FD-6A3F48EF7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4B19-D69D-4E6B-9AC0-C7A9472B63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250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6FFFCF-8063-4CB0-AD92-AE5FBBC87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1293CF-4672-4F87-8A3E-5D5D5F159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68038D-316D-4930-8DAA-6CEF6A039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E2EE-1829-4C1E-A92D-BCD1B3AE743A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F14FBB-60D4-4386-B6C0-D01133BB7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935C96-A4C1-4C09-A8EE-264C61EB6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4B19-D69D-4E6B-9AC0-C7A9472B63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456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8BA45E-1FAE-435F-9F6F-FEC89D757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654E46-FEFF-46CB-AB00-A8B6FE5BA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E63CAF-2035-46A5-85C0-232C3C723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E2EE-1829-4C1E-A92D-BCD1B3AE743A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463AE9-1EC6-4A67-8D08-6442C21E4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CE0577-5E3E-4FCA-922E-7044452DD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4B19-D69D-4E6B-9AC0-C7A9472B63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9326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113FD5-49EB-45CA-8348-1A37B0275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D98A73-BC95-4A79-BC78-92665401BA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20FCCF0-75CB-4A13-8CB9-3FD517DCF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24DC98-882F-4E39-B4AD-4FB976A8D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E2EE-1829-4C1E-A92D-BCD1B3AE743A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35657A-A676-45CF-B19E-678F56539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F46B3C-B8C8-4211-A968-CBB81A52A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4B19-D69D-4E6B-9AC0-C7A9472B63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298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161D10-A588-4E2D-B0ED-003505461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14EA98-5F41-4FDB-9A11-443295107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66BA14-488F-4708-B08C-62FE9AB3A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D2F74AA-29BC-4347-8956-5361257844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1E8C6CA-C1DF-4D90-B648-DD075727DC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BE2941E-69AF-4F68-A589-FF8467C63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E2EE-1829-4C1E-A92D-BCD1B3AE743A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34C6B01-741F-4413-A69B-3B2BBCD34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9866585-F614-4317-ABB2-FC7C9F4AE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4B19-D69D-4E6B-9AC0-C7A9472B63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773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4A73BC-D888-4526-810D-9A8417B46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2FA8DE1-02DC-4E09-94E6-1BF26DD9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E2EE-1829-4C1E-A92D-BCD1B3AE743A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2E04E78-3A15-43B3-8C56-257CA2042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0B9719-5B67-4770-A1D5-651EC775A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4B19-D69D-4E6B-9AC0-C7A9472B63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8519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E3B40A-DDBA-4263-A89C-796F3E930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E2EE-1829-4C1E-A92D-BCD1B3AE743A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A82DFD-6517-4886-B71D-DEE1BBA05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5B53FC-1E00-4B1B-A8EE-1442E1D5D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4B19-D69D-4E6B-9AC0-C7A9472B63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435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309E2C-5EAA-4351-8475-B3E557B39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E6F47F-FEDE-4D9A-A934-ED059A9F6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9161B9-65F3-4605-9339-699C106AF1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0B9C96-F895-41B8-871F-29BA4E7EE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E2EE-1829-4C1E-A92D-BCD1B3AE743A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C0D22E3-5CF4-449F-9305-8A77F67C2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6358C4-442F-4987-9131-6155F8AE2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4B19-D69D-4E6B-9AC0-C7A9472B63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913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3E7610-7EEE-4491-9350-32FB60422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F32074B-59FF-4E02-A067-28988B7817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51FC3F-6D6D-4ACB-892A-F0D168A91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1752B6-CBFB-4536-9D17-A09314EBF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E2EE-1829-4C1E-A92D-BCD1B3AE743A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DA23C0-E3D7-490C-97F1-BD34E57A6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E57FFA-B283-4FB2-A622-50C1CC828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4B19-D69D-4E6B-9AC0-C7A9472B63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3242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3456A0-FFDD-47F9-8089-EF631FFCA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2C4ECC-329F-4A1A-B7F8-2A03BA4C8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2F7140-FCC2-4AED-870A-04073DBA8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E2EE-1829-4C1E-A92D-BCD1B3AE743A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1BA440-4A2B-420C-A809-A13127A2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5DE300-2F95-4FE0-89EB-5E3507612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4B19-D69D-4E6B-9AC0-C7A9472B63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837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F1ECBDF-A424-4B81-B8BD-9734EC5ACE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C30753-1ED7-47B0-A0AF-2311CBE7E9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89D829-D95D-47E8-B349-980E53EB6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E2EE-1829-4C1E-A92D-BCD1B3AE743A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015A63-23B2-43BA-AB3A-7F7FE822C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6092A9-196B-4F5E-8C46-12A598A73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4B19-D69D-4E6B-9AC0-C7A9472B63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3720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775CAAC-F1E1-49B9-82A0-1E6C812EE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A4E733-C8E5-4DA3-8479-03BA98F66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02E430-A75A-4D1C-A73B-45C8DF8BC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DE2EE-1829-4C1E-A92D-BCD1B3AE743A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EE2D25-B175-4A30-8B3C-947DD497F0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2CD7BB-0667-4DC1-B816-8702154CD4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D4B19-D69D-4E6B-9AC0-C7A9472B63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089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4911F54-4C3C-4B78-8592-EB4EBE3B1E24}"/>
              </a:ext>
            </a:extLst>
          </p:cNvPr>
          <p:cNvSpPr/>
          <p:nvPr/>
        </p:nvSpPr>
        <p:spPr>
          <a:xfrm>
            <a:off x="562210" y="359844"/>
            <a:ext cx="1812757" cy="7058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>
                <a:solidFill>
                  <a:schemeClr val="tx1"/>
                </a:solidFill>
              </a:rPr>
              <a:t>지형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1939DA-9708-43CD-BA2B-B33192B62819}"/>
              </a:ext>
            </a:extLst>
          </p:cNvPr>
          <p:cNvSpPr txBox="1"/>
          <p:nvPr/>
        </p:nvSpPr>
        <p:spPr>
          <a:xfrm>
            <a:off x="562210" y="1247605"/>
            <a:ext cx="897607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설산 </a:t>
            </a:r>
            <a:r>
              <a:rPr lang="en-US" altLang="ko-KR" dirty="0"/>
              <a:t>: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눈이 </a:t>
            </a:r>
            <a:r>
              <a:rPr lang="en-US" altLang="ko-KR" dirty="0"/>
              <a:t>30cm </a:t>
            </a:r>
            <a:r>
              <a:rPr lang="ko-KR" altLang="en-US" dirty="0"/>
              <a:t>이상 쌓인 지형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지형에 무게를 가하면 눈으로 인한 이동 감속이 많이 되는 지형</a:t>
            </a:r>
            <a:br>
              <a:rPr lang="en-US" altLang="ko-KR" dirty="0"/>
            </a:br>
            <a:r>
              <a:rPr lang="en-US" altLang="ko-KR" dirty="0"/>
              <a:t>ex)</a:t>
            </a:r>
            <a:r>
              <a:rPr lang="ko-KR" altLang="en-US" dirty="0"/>
              <a:t>눈 위를 밟는다</a:t>
            </a:r>
            <a:r>
              <a:rPr lang="en-US" altLang="ko-KR" dirty="0"/>
              <a:t>/</a:t>
            </a:r>
            <a:r>
              <a:rPr lang="ko-KR" altLang="en-US" dirty="0"/>
              <a:t>생체수단을 타고 눈 위를 이동한다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나무들이 많은 지형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rgbClr val="00B050"/>
                </a:solidFill>
              </a:rPr>
              <a:t>지형효과 </a:t>
            </a:r>
            <a:r>
              <a:rPr lang="en-US" altLang="ko-KR" dirty="0">
                <a:solidFill>
                  <a:srgbClr val="00B050"/>
                </a:solidFill>
              </a:rPr>
              <a:t>: </a:t>
            </a:r>
            <a:r>
              <a:rPr lang="ko-KR" altLang="en-US" dirty="0">
                <a:solidFill>
                  <a:srgbClr val="00B050"/>
                </a:solidFill>
              </a:rPr>
              <a:t>설산에 특화되지 않는 병에게는 </a:t>
            </a:r>
            <a:r>
              <a:rPr lang="ko-KR" altLang="en-US" dirty="0" err="1">
                <a:solidFill>
                  <a:srgbClr val="00B050"/>
                </a:solidFill>
              </a:rPr>
              <a:t>회피율</a:t>
            </a:r>
            <a:r>
              <a:rPr lang="ko-KR" altLang="en-US" dirty="0">
                <a:solidFill>
                  <a:srgbClr val="00B050"/>
                </a:solidFill>
              </a:rPr>
              <a:t> </a:t>
            </a:r>
            <a:r>
              <a:rPr lang="en-US" altLang="ko-KR" dirty="0">
                <a:solidFill>
                  <a:srgbClr val="00B050"/>
                </a:solidFill>
              </a:rPr>
              <a:t>10% </a:t>
            </a:r>
            <a:r>
              <a:rPr lang="ko-KR" altLang="en-US" dirty="0">
                <a:solidFill>
                  <a:srgbClr val="00B050"/>
                </a:solidFill>
              </a:rPr>
              <a:t>하락</a:t>
            </a:r>
            <a:endParaRPr lang="en-US" altLang="ko-KR" dirty="0">
              <a:solidFill>
                <a:srgbClr val="00B050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rgbClr val="0070C0"/>
                </a:solidFill>
              </a:rPr>
              <a:t>지형 적응력 </a:t>
            </a:r>
            <a:r>
              <a:rPr lang="en-US" altLang="ko-KR" dirty="0">
                <a:solidFill>
                  <a:srgbClr val="0070C0"/>
                </a:solidFill>
              </a:rPr>
              <a:t>:</a:t>
            </a:r>
            <a:r>
              <a:rPr lang="ko-KR" altLang="en-US" dirty="0">
                <a:solidFill>
                  <a:srgbClr val="0070C0"/>
                </a:solidFill>
              </a:rPr>
              <a:t> </a:t>
            </a:r>
            <a:r>
              <a:rPr lang="ko-KR" altLang="en-US" dirty="0" err="1">
                <a:solidFill>
                  <a:srgbClr val="0070C0"/>
                </a:solidFill>
              </a:rPr>
              <a:t>스키병</a:t>
            </a:r>
            <a:r>
              <a:rPr lang="en-US" altLang="ko-KR" dirty="0">
                <a:solidFill>
                  <a:srgbClr val="0070C0"/>
                </a:solidFill>
              </a:rPr>
              <a:t>/</a:t>
            </a:r>
            <a:r>
              <a:rPr lang="ko-KR" altLang="en-US" dirty="0" err="1">
                <a:solidFill>
                  <a:srgbClr val="0070C0"/>
                </a:solidFill>
              </a:rPr>
              <a:t>비병</a:t>
            </a:r>
            <a:r>
              <a:rPr lang="ko-KR" altLang="en-US" dirty="0">
                <a:solidFill>
                  <a:srgbClr val="0070C0"/>
                </a:solidFill>
              </a:rPr>
              <a:t> </a:t>
            </a:r>
            <a:r>
              <a:rPr lang="en-US" altLang="ko-KR" dirty="0">
                <a:solidFill>
                  <a:srgbClr val="0070C0"/>
                </a:solidFill>
              </a:rPr>
              <a:t>A</a:t>
            </a:r>
            <a:br>
              <a:rPr lang="en-US" altLang="ko-KR" dirty="0">
                <a:solidFill>
                  <a:srgbClr val="0070C0"/>
                </a:solidFill>
              </a:rPr>
            </a:br>
            <a:r>
              <a:rPr lang="en-US" altLang="ko-KR" dirty="0">
                <a:solidFill>
                  <a:srgbClr val="0070C0"/>
                </a:solidFill>
              </a:rPr>
              <a:t>                  </a:t>
            </a:r>
            <a:r>
              <a:rPr lang="ko-KR" altLang="en-US" dirty="0">
                <a:solidFill>
                  <a:srgbClr val="0070C0"/>
                </a:solidFill>
              </a:rPr>
              <a:t>보병</a:t>
            </a:r>
            <a:r>
              <a:rPr lang="en-US" altLang="ko-KR" dirty="0">
                <a:solidFill>
                  <a:srgbClr val="0070C0"/>
                </a:solidFill>
              </a:rPr>
              <a:t>/</a:t>
            </a:r>
            <a:r>
              <a:rPr lang="ko-KR" altLang="en-US" dirty="0">
                <a:solidFill>
                  <a:srgbClr val="0070C0"/>
                </a:solidFill>
              </a:rPr>
              <a:t>기병</a:t>
            </a:r>
            <a:r>
              <a:rPr lang="en-US" altLang="ko-KR" dirty="0">
                <a:solidFill>
                  <a:srgbClr val="0070C0"/>
                </a:solidFill>
              </a:rPr>
              <a:t>/</a:t>
            </a:r>
            <a:r>
              <a:rPr lang="ko-KR" altLang="en-US" dirty="0">
                <a:solidFill>
                  <a:srgbClr val="0070C0"/>
                </a:solidFill>
              </a:rPr>
              <a:t>수병 </a:t>
            </a:r>
            <a:r>
              <a:rPr lang="en-US" altLang="ko-KR" dirty="0">
                <a:solidFill>
                  <a:srgbClr val="0070C0"/>
                </a:solidFill>
              </a:rPr>
              <a:t>C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D6572B-F592-4961-B2FB-72FDF8EC35AF}"/>
              </a:ext>
            </a:extLst>
          </p:cNvPr>
          <p:cNvSpPr txBox="1"/>
          <p:nvPr/>
        </p:nvSpPr>
        <p:spPr>
          <a:xfrm>
            <a:off x="562210" y="3832928"/>
            <a:ext cx="812878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늪지대 </a:t>
            </a:r>
            <a:r>
              <a:rPr lang="en-US" altLang="ko-KR" dirty="0"/>
              <a:t>: 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늪의 수심이 </a:t>
            </a:r>
            <a:r>
              <a:rPr lang="en-US" altLang="ko-KR" dirty="0"/>
              <a:t>2m</a:t>
            </a:r>
            <a:r>
              <a:rPr lang="ko-KR" altLang="en-US" dirty="0"/>
              <a:t>이상인 지형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빠지면 나올 수가 없기 때문에 이동수단을 통해서만 이동 가능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나무들이 빼곡한 지형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rgbClr val="00B050"/>
                </a:solidFill>
              </a:rPr>
              <a:t>지형효과 </a:t>
            </a:r>
            <a:r>
              <a:rPr lang="en-US" altLang="ko-KR" dirty="0">
                <a:solidFill>
                  <a:srgbClr val="00B050"/>
                </a:solidFill>
              </a:rPr>
              <a:t>: </a:t>
            </a:r>
            <a:r>
              <a:rPr lang="ko-KR" altLang="en-US" dirty="0">
                <a:solidFill>
                  <a:srgbClr val="00B050"/>
                </a:solidFill>
              </a:rPr>
              <a:t>조사병단에게는 치명타 확률 </a:t>
            </a:r>
            <a:r>
              <a:rPr lang="en-US" altLang="ko-KR" dirty="0">
                <a:solidFill>
                  <a:srgbClr val="00B050"/>
                </a:solidFill>
              </a:rPr>
              <a:t>15% </a:t>
            </a:r>
            <a:r>
              <a:rPr lang="ko-KR" altLang="en-US" dirty="0">
                <a:solidFill>
                  <a:srgbClr val="00B050"/>
                </a:solidFill>
              </a:rPr>
              <a:t>상승</a:t>
            </a:r>
            <a:endParaRPr lang="en-US" altLang="ko-KR" dirty="0">
              <a:solidFill>
                <a:srgbClr val="00B050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rgbClr val="0070C0"/>
                </a:solidFill>
              </a:rPr>
              <a:t>지형 적응력 </a:t>
            </a:r>
            <a:r>
              <a:rPr lang="en-US" altLang="ko-KR" dirty="0">
                <a:solidFill>
                  <a:srgbClr val="0070C0"/>
                </a:solidFill>
              </a:rPr>
              <a:t>:</a:t>
            </a:r>
            <a:r>
              <a:rPr lang="ko-KR" altLang="en-US" dirty="0">
                <a:solidFill>
                  <a:srgbClr val="0070C0"/>
                </a:solidFill>
              </a:rPr>
              <a:t> 조사병단 </a:t>
            </a:r>
            <a:r>
              <a:rPr lang="en-US" altLang="ko-KR" dirty="0">
                <a:solidFill>
                  <a:srgbClr val="0070C0"/>
                </a:solidFill>
              </a:rPr>
              <a:t>A</a:t>
            </a:r>
            <a:br>
              <a:rPr lang="en-US" altLang="ko-KR" dirty="0">
                <a:solidFill>
                  <a:srgbClr val="0070C0"/>
                </a:solidFill>
              </a:rPr>
            </a:br>
            <a:r>
              <a:rPr lang="en-US" altLang="ko-KR" dirty="0">
                <a:solidFill>
                  <a:srgbClr val="0070C0"/>
                </a:solidFill>
              </a:rPr>
              <a:t>                  </a:t>
            </a:r>
            <a:r>
              <a:rPr lang="ko-KR" altLang="en-US" dirty="0" err="1">
                <a:solidFill>
                  <a:srgbClr val="0070C0"/>
                </a:solidFill>
              </a:rPr>
              <a:t>비병</a:t>
            </a:r>
            <a:r>
              <a:rPr lang="ko-KR" altLang="en-US" dirty="0">
                <a:solidFill>
                  <a:srgbClr val="0070C0"/>
                </a:solidFill>
              </a:rPr>
              <a:t> </a:t>
            </a:r>
            <a:r>
              <a:rPr lang="en-US" altLang="ko-KR" dirty="0">
                <a:solidFill>
                  <a:srgbClr val="0070C0"/>
                </a:solidFill>
              </a:rPr>
              <a:t>B</a:t>
            </a:r>
            <a:br>
              <a:rPr lang="en-US" altLang="ko-KR" dirty="0">
                <a:solidFill>
                  <a:srgbClr val="0070C0"/>
                </a:solidFill>
              </a:rPr>
            </a:br>
            <a:r>
              <a:rPr lang="en-US" altLang="ko-KR" dirty="0">
                <a:solidFill>
                  <a:srgbClr val="0070C0"/>
                </a:solidFill>
              </a:rPr>
              <a:t>                  </a:t>
            </a:r>
            <a:r>
              <a:rPr lang="ko-KR" altLang="en-US" dirty="0">
                <a:solidFill>
                  <a:srgbClr val="0070C0"/>
                </a:solidFill>
              </a:rPr>
              <a:t>보병</a:t>
            </a:r>
            <a:r>
              <a:rPr lang="en-US" altLang="ko-KR" dirty="0">
                <a:solidFill>
                  <a:srgbClr val="0070C0"/>
                </a:solidFill>
              </a:rPr>
              <a:t>/</a:t>
            </a:r>
            <a:r>
              <a:rPr lang="ko-KR" altLang="en-US" dirty="0">
                <a:solidFill>
                  <a:srgbClr val="0070C0"/>
                </a:solidFill>
              </a:rPr>
              <a:t>기병</a:t>
            </a:r>
            <a:r>
              <a:rPr lang="en-US" altLang="ko-KR" dirty="0">
                <a:solidFill>
                  <a:srgbClr val="0070C0"/>
                </a:solidFill>
              </a:rPr>
              <a:t>/</a:t>
            </a:r>
            <a:r>
              <a:rPr lang="ko-KR" altLang="en-US" dirty="0">
                <a:solidFill>
                  <a:srgbClr val="0070C0"/>
                </a:solidFill>
              </a:rPr>
              <a:t>수병 </a:t>
            </a:r>
            <a:r>
              <a:rPr lang="en-US" altLang="ko-KR" dirty="0">
                <a:solidFill>
                  <a:srgbClr val="0070C0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788390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4911F54-4C3C-4B78-8592-EB4EBE3B1E24}"/>
              </a:ext>
            </a:extLst>
          </p:cNvPr>
          <p:cNvSpPr/>
          <p:nvPr/>
        </p:nvSpPr>
        <p:spPr>
          <a:xfrm>
            <a:off x="562210" y="359844"/>
            <a:ext cx="1812757" cy="70585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병종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AEAF61-550F-4708-9C60-2948291C1CBD}"/>
              </a:ext>
            </a:extLst>
          </p:cNvPr>
          <p:cNvSpPr txBox="1"/>
          <p:nvPr/>
        </p:nvSpPr>
        <p:spPr>
          <a:xfrm>
            <a:off x="914399" y="1317072"/>
            <a:ext cx="953828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스키병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 err="1"/>
              <a:t>이동력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을 가짐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눈 지형에서 이동이 수월함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rgbClr val="002060"/>
                </a:solidFill>
              </a:rPr>
              <a:t>사정거리 </a:t>
            </a:r>
            <a:r>
              <a:rPr lang="en-US" altLang="ko-KR" dirty="0">
                <a:solidFill>
                  <a:srgbClr val="002060"/>
                </a:solidFill>
              </a:rPr>
              <a:t>: 1</a:t>
            </a:r>
            <a:r>
              <a:rPr lang="ko-KR" altLang="en-US" dirty="0">
                <a:solidFill>
                  <a:srgbClr val="002060"/>
                </a:solidFill>
              </a:rPr>
              <a:t>칸 일반 근접병과 같은 사거리를 지니고 있음</a:t>
            </a:r>
            <a:r>
              <a:rPr lang="en-US" altLang="ko-KR" dirty="0">
                <a:solidFill>
                  <a:srgbClr val="002060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rgbClr val="002060"/>
                </a:solidFill>
              </a:rPr>
              <a:t>상성 </a:t>
            </a:r>
            <a:r>
              <a:rPr lang="en-US" altLang="ko-KR" dirty="0">
                <a:solidFill>
                  <a:srgbClr val="002060"/>
                </a:solidFill>
              </a:rPr>
              <a:t>: ‘</a:t>
            </a:r>
            <a:r>
              <a:rPr lang="ko-KR" altLang="en-US" dirty="0" err="1">
                <a:solidFill>
                  <a:srgbClr val="002060"/>
                </a:solidFill>
              </a:rPr>
              <a:t>비병</a:t>
            </a:r>
            <a:r>
              <a:rPr lang="en-US" altLang="ko-KR" dirty="0">
                <a:solidFill>
                  <a:srgbClr val="002060"/>
                </a:solidFill>
              </a:rPr>
              <a:t>’</a:t>
            </a:r>
            <a:r>
              <a:rPr lang="ko-KR" altLang="en-US" dirty="0">
                <a:solidFill>
                  <a:srgbClr val="002060"/>
                </a:solidFill>
              </a:rPr>
              <a:t>에게 약하고</a:t>
            </a:r>
            <a:r>
              <a:rPr lang="en-US" altLang="ko-KR" dirty="0">
                <a:solidFill>
                  <a:srgbClr val="002060"/>
                </a:solidFill>
              </a:rPr>
              <a:t>, ‘</a:t>
            </a:r>
            <a:r>
              <a:rPr lang="ko-KR" altLang="en-US" dirty="0">
                <a:solidFill>
                  <a:srgbClr val="002060"/>
                </a:solidFill>
              </a:rPr>
              <a:t>수병</a:t>
            </a:r>
            <a:r>
              <a:rPr lang="en-US" altLang="ko-KR" dirty="0">
                <a:solidFill>
                  <a:srgbClr val="002060"/>
                </a:solidFill>
              </a:rPr>
              <a:t>’(</a:t>
            </a:r>
            <a:r>
              <a:rPr lang="ko-KR" altLang="en-US" dirty="0">
                <a:solidFill>
                  <a:srgbClr val="002060"/>
                </a:solidFill>
              </a:rPr>
              <a:t>물 지형 전투시</a:t>
            </a:r>
            <a:r>
              <a:rPr lang="en-US" altLang="ko-KR" dirty="0">
                <a:solidFill>
                  <a:srgbClr val="002060"/>
                </a:solidFill>
              </a:rPr>
              <a:t>)</a:t>
            </a:r>
            <a:r>
              <a:rPr lang="ko-KR" altLang="en-US" dirty="0">
                <a:solidFill>
                  <a:srgbClr val="002060"/>
                </a:solidFill>
              </a:rPr>
              <a:t>에게 약함</a:t>
            </a:r>
            <a:r>
              <a:rPr lang="en-US" altLang="ko-KR" dirty="0">
                <a:solidFill>
                  <a:srgbClr val="002060"/>
                </a:solidFill>
              </a:rPr>
              <a:t>.</a:t>
            </a:r>
            <a:br>
              <a:rPr lang="en-US" altLang="ko-KR" dirty="0">
                <a:solidFill>
                  <a:srgbClr val="002060"/>
                </a:solidFill>
              </a:rPr>
            </a:br>
            <a:r>
              <a:rPr lang="en-US" altLang="ko-KR" dirty="0">
                <a:solidFill>
                  <a:srgbClr val="002060"/>
                </a:solidFill>
              </a:rPr>
              <a:t>        </a:t>
            </a:r>
            <a:r>
              <a:rPr lang="ko-KR" altLang="en-US" u="sng" dirty="0">
                <a:solidFill>
                  <a:srgbClr val="002060"/>
                </a:solidFill>
              </a:rPr>
              <a:t>지형 효과를 받지 못하면 </a:t>
            </a:r>
            <a:r>
              <a:rPr lang="en-US" altLang="ko-KR" dirty="0">
                <a:solidFill>
                  <a:srgbClr val="002060"/>
                </a:solidFill>
              </a:rPr>
              <a:t>‘</a:t>
            </a:r>
            <a:r>
              <a:rPr lang="ko-KR" altLang="en-US" dirty="0">
                <a:solidFill>
                  <a:srgbClr val="002060"/>
                </a:solidFill>
              </a:rPr>
              <a:t>기병</a:t>
            </a:r>
            <a:r>
              <a:rPr lang="en-US" altLang="ko-KR" dirty="0">
                <a:solidFill>
                  <a:srgbClr val="002060"/>
                </a:solidFill>
              </a:rPr>
              <a:t>’</a:t>
            </a:r>
            <a:r>
              <a:rPr lang="ko-KR" altLang="en-US" dirty="0">
                <a:solidFill>
                  <a:srgbClr val="002060"/>
                </a:solidFill>
              </a:rPr>
              <a:t>에게 약하고</a:t>
            </a:r>
            <a:br>
              <a:rPr lang="en-US" altLang="ko-KR" dirty="0">
                <a:solidFill>
                  <a:srgbClr val="002060"/>
                </a:solidFill>
              </a:rPr>
            </a:br>
            <a:r>
              <a:rPr lang="en-US" altLang="ko-KR" dirty="0">
                <a:solidFill>
                  <a:srgbClr val="002060"/>
                </a:solidFill>
              </a:rPr>
              <a:t>        (</a:t>
            </a:r>
            <a:r>
              <a:rPr lang="ko-KR" altLang="en-US" dirty="0">
                <a:solidFill>
                  <a:srgbClr val="002060"/>
                </a:solidFill>
              </a:rPr>
              <a:t>지형효과를 받는다면</a:t>
            </a:r>
            <a:r>
              <a:rPr lang="en-US" altLang="ko-KR" dirty="0">
                <a:solidFill>
                  <a:srgbClr val="002060"/>
                </a:solidFill>
              </a:rPr>
              <a:t>, ‘</a:t>
            </a:r>
            <a:r>
              <a:rPr lang="ko-KR" altLang="en-US" u="sng" dirty="0" err="1">
                <a:solidFill>
                  <a:srgbClr val="002060"/>
                </a:solidFill>
              </a:rPr>
              <a:t>비병</a:t>
            </a:r>
            <a:r>
              <a:rPr lang="en-US" altLang="ko-KR" u="sng" dirty="0">
                <a:solidFill>
                  <a:srgbClr val="002060"/>
                </a:solidFill>
              </a:rPr>
              <a:t>’</a:t>
            </a:r>
            <a:r>
              <a:rPr lang="ko-KR" altLang="en-US" u="sng" dirty="0">
                <a:solidFill>
                  <a:srgbClr val="002060"/>
                </a:solidFill>
              </a:rPr>
              <a:t>을 제외 한 모든 병들에게 상성이 좋아짐</a:t>
            </a:r>
            <a:r>
              <a:rPr lang="en-US" altLang="ko-KR" dirty="0">
                <a:solidFill>
                  <a:srgbClr val="002060"/>
                </a:solidFill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rgbClr val="002060"/>
                </a:solidFill>
              </a:rPr>
              <a:t>특수 능력 </a:t>
            </a:r>
            <a:r>
              <a:rPr lang="en-US" altLang="ko-KR" dirty="0">
                <a:solidFill>
                  <a:srgbClr val="002060"/>
                </a:solidFill>
              </a:rPr>
              <a:t>: </a:t>
            </a:r>
            <a:r>
              <a:rPr lang="ko-KR" altLang="en-US" dirty="0">
                <a:solidFill>
                  <a:srgbClr val="002060"/>
                </a:solidFill>
              </a:rPr>
              <a:t>눈지형에서 전투시 </a:t>
            </a:r>
            <a:r>
              <a:rPr lang="en-US" altLang="ko-KR" u="sng" dirty="0">
                <a:solidFill>
                  <a:srgbClr val="002060"/>
                </a:solidFill>
              </a:rPr>
              <a:t>1</a:t>
            </a:r>
            <a:r>
              <a:rPr lang="ko-KR" altLang="en-US" u="sng" dirty="0">
                <a:solidFill>
                  <a:srgbClr val="002060"/>
                </a:solidFill>
              </a:rPr>
              <a:t>턴마다 </a:t>
            </a:r>
            <a:r>
              <a:rPr lang="en-US" altLang="ko-KR" u="sng" dirty="0">
                <a:solidFill>
                  <a:srgbClr val="002060"/>
                </a:solidFill>
              </a:rPr>
              <a:t>50%</a:t>
            </a:r>
            <a:r>
              <a:rPr lang="ko-KR" altLang="en-US" u="sng" dirty="0">
                <a:solidFill>
                  <a:srgbClr val="002060"/>
                </a:solidFill>
              </a:rPr>
              <a:t>확률</a:t>
            </a:r>
            <a:r>
              <a:rPr lang="ko-KR" altLang="en-US" dirty="0">
                <a:solidFill>
                  <a:srgbClr val="002060"/>
                </a:solidFill>
              </a:rPr>
              <a:t>로 </a:t>
            </a:r>
            <a:r>
              <a:rPr lang="ko-KR" altLang="en-US" u="sng" dirty="0">
                <a:solidFill>
                  <a:srgbClr val="002060"/>
                </a:solidFill>
              </a:rPr>
              <a:t>회피율이 </a:t>
            </a:r>
            <a:r>
              <a:rPr lang="en-US" altLang="ko-KR" u="sng" dirty="0">
                <a:solidFill>
                  <a:srgbClr val="002060"/>
                </a:solidFill>
              </a:rPr>
              <a:t>200% </a:t>
            </a:r>
            <a:r>
              <a:rPr lang="ko-KR" altLang="en-US" u="sng" dirty="0">
                <a:solidFill>
                  <a:srgbClr val="002060"/>
                </a:solidFill>
              </a:rPr>
              <a:t>상승</a:t>
            </a:r>
            <a:r>
              <a:rPr lang="ko-KR" altLang="en-US" dirty="0">
                <a:solidFill>
                  <a:srgbClr val="002060"/>
                </a:solidFill>
              </a:rPr>
              <a:t>하거나</a:t>
            </a:r>
            <a:r>
              <a:rPr lang="en-US" altLang="ko-KR" dirty="0">
                <a:solidFill>
                  <a:srgbClr val="002060"/>
                </a:solidFill>
              </a:rPr>
              <a:t>,</a:t>
            </a:r>
            <a:r>
              <a:rPr lang="ko-KR" altLang="en-US" dirty="0">
                <a:solidFill>
                  <a:srgbClr val="002060"/>
                </a:solidFill>
              </a:rPr>
              <a:t> </a:t>
            </a:r>
            <a:br>
              <a:rPr lang="en-US" altLang="ko-KR" dirty="0">
                <a:solidFill>
                  <a:srgbClr val="002060"/>
                </a:solidFill>
              </a:rPr>
            </a:br>
            <a:r>
              <a:rPr lang="en-US" altLang="ko-KR" dirty="0">
                <a:solidFill>
                  <a:srgbClr val="002060"/>
                </a:solidFill>
              </a:rPr>
              <a:t>               </a:t>
            </a:r>
            <a:r>
              <a:rPr lang="ko-KR" altLang="en-US" u="sng" dirty="0">
                <a:solidFill>
                  <a:srgbClr val="002060"/>
                </a:solidFill>
              </a:rPr>
              <a:t>기본 </a:t>
            </a:r>
            <a:r>
              <a:rPr lang="ko-KR" altLang="en-US" u="sng" dirty="0" err="1">
                <a:solidFill>
                  <a:srgbClr val="002060"/>
                </a:solidFill>
              </a:rPr>
              <a:t>회피율</a:t>
            </a:r>
            <a:r>
              <a:rPr lang="ko-KR" altLang="en-US" u="sng" dirty="0">
                <a:solidFill>
                  <a:srgbClr val="002060"/>
                </a:solidFill>
              </a:rPr>
              <a:t> </a:t>
            </a:r>
            <a:r>
              <a:rPr lang="ko-KR" altLang="en-US" u="sng" dirty="0" err="1">
                <a:solidFill>
                  <a:srgbClr val="002060"/>
                </a:solidFill>
              </a:rPr>
              <a:t>스탯이</a:t>
            </a:r>
            <a:r>
              <a:rPr lang="ko-KR" altLang="en-US" u="sng" dirty="0">
                <a:solidFill>
                  <a:srgbClr val="002060"/>
                </a:solidFill>
              </a:rPr>
              <a:t> 유지됨</a:t>
            </a:r>
            <a:r>
              <a:rPr lang="en-US" altLang="ko-KR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8A626C-8E1C-4624-8827-C4F945381FB0}"/>
              </a:ext>
            </a:extLst>
          </p:cNvPr>
          <p:cNvSpPr txBox="1"/>
          <p:nvPr/>
        </p:nvSpPr>
        <p:spPr>
          <a:xfrm>
            <a:off x="914399" y="4262340"/>
            <a:ext cx="99409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조사병단 </a:t>
            </a:r>
            <a:r>
              <a:rPr lang="en-US" altLang="ko-KR" dirty="0"/>
              <a:t>: 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진격의 거인 조사병단에서 아이디어를 가져옴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 err="1"/>
              <a:t>이동력</a:t>
            </a:r>
            <a:r>
              <a:rPr lang="ko-KR" altLang="en-US" dirty="0"/>
              <a:t> </a:t>
            </a:r>
            <a:r>
              <a:rPr lang="en-US" altLang="ko-KR" dirty="0"/>
              <a:t>4</a:t>
            </a:r>
            <a:r>
              <a:rPr lang="ko-KR" altLang="en-US" dirty="0"/>
              <a:t>를 가짐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입체기동장치를 이용하여 나무 같은 높은 지형 지물이 많은 곳에서 이동이 수월함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rgbClr val="002060"/>
                </a:solidFill>
              </a:rPr>
              <a:t>사정거리 </a:t>
            </a:r>
            <a:r>
              <a:rPr lang="en-US" altLang="ko-KR" dirty="0">
                <a:solidFill>
                  <a:srgbClr val="002060"/>
                </a:solidFill>
              </a:rPr>
              <a:t>: 1</a:t>
            </a:r>
            <a:r>
              <a:rPr lang="ko-KR" altLang="en-US" dirty="0">
                <a:solidFill>
                  <a:srgbClr val="002060"/>
                </a:solidFill>
              </a:rPr>
              <a:t>칸 일반 보병과 같은 사거리를 지니고 있음</a:t>
            </a:r>
            <a:r>
              <a:rPr lang="en-US" altLang="ko-KR" dirty="0">
                <a:solidFill>
                  <a:srgbClr val="002060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rgbClr val="002060"/>
                </a:solidFill>
              </a:rPr>
              <a:t>상성 </a:t>
            </a:r>
            <a:r>
              <a:rPr lang="en-US" altLang="ko-KR" dirty="0">
                <a:solidFill>
                  <a:srgbClr val="002060"/>
                </a:solidFill>
              </a:rPr>
              <a:t>: ‘</a:t>
            </a:r>
            <a:r>
              <a:rPr lang="ko-KR" altLang="en-US" dirty="0">
                <a:solidFill>
                  <a:srgbClr val="002060"/>
                </a:solidFill>
              </a:rPr>
              <a:t>수병</a:t>
            </a:r>
            <a:r>
              <a:rPr lang="en-US" altLang="ko-KR" dirty="0">
                <a:solidFill>
                  <a:srgbClr val="002060"/>
                </a:solidFill>
              </a:rPr>
              <a:t>’(</a:t>
            </a:r>
            <a:r>
              <a:rPr lang="ko-KR" altLang="en-US" dirty="0">
                <a:solidFill>
                  <a:srgbClr val="002060"/>
                </a:solidFill>
              </a:rPr>
              <a:t>물지형에서 전투시</a:t>
            </a:r>
            <a:r>
              <a:rPr lang="en-US" altLang="ko-KR" dirty="0">
                <a:solidFill>
                  <a:srgbClr val="002060"/>
                </a:solidFill>
              </a:rPr>
              <a:t>)</a:t>
            </a:r>
            <a:r>
              <a:rPr lang="ko-KR" altLang="en-US" dirty="0">
                <a:solidFill>
                  <a:srgbClr val="002060"/>
                </a:solidFill>
              </a:rPr>
              <a:t>과 </a:t>
            </a:r>
            <a:r>
              <a:rPr lang="en-US" altLang="ko-KR" dirty="0">
                <a:solidFill>
                  <a:srgbClr val="002060"/>
                </a:solidFill>
              </a:rPr>
              <a:t>‘</a:t>
            </a:r>
            <a:r>
              <a:rPr lang="ko-KR" altLang="en-US" dirty="0" err="1">
                <a:solidFill>
                  <a:srgbClr val="002060"/>
                </a:solidFill>
              </a:rPr>
              <a:t>비병</a:t>
            </a:r>
            <a:r>
              <a:rPr lang="en-US" altLang="ko-KR" dirty="0">
                <a:solidFill>
                  <a:srgbClr val="002060"/>
                </a:solidFill>
              </a:rPr>
              <a:t>’</a:t>
            </a:r>
            <a:r>
              <a:rPr lang="ko-KR" altLang="en-US" dirty="0">
                <a:solidFill>
                  <a:srgbClr val="002060"/>
                </a:solidFill>
              </a:rPr>
              <a:t>에 약하지만 </a:t>
            </a:r>
            <a:r>
              <a:rPr lang="ko-KR" altLang="en-US" u="sng" dirty="0">
                <a:solidFill>
                  <a:srgbClr val="002060"/>
                </a:solidFill>
              </a:rPr>
              <a:t>늪지대 지형에서 동등해질 수 있음</a:t>
            </a:r>
            <a:r>
              <a:rPr lang="en-US" altLang="ko-KR" dirty="0">
                <a:solidFill>
                  <a:srgbClr val="002060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rgbClr val="002060"/>
                </a:solidFill>
              </a:rPr>
              <a:t>특수 능력 </a:t>
            </a:r>
            <a:r>
              <a:rPr lang="en-US" altLang="ko-KR" dirty="0">
                <a:solidFill>
                  <a:srgbClr val="002060"/>
                </a:solidFill>
              </a:rPr>
              <a:t>: </a:t>
            </a:r>
            <a:r>
              <a:rPr lang="ko-KR" altLang="en-US" u="sng" dirty="0">
                <a:solidFill>
                  <a:srgbClr val="002060"/>
                </a:solidFill>
              </a:rPr>
              <a:t>최대 </a:t>
            </a:r>
            <a:r>
              <a:rPr lang="en-US" altLang="ko-KR" u="sng" dirty="0">
                <a:solidFill>
                  <a:srgbClr val="002060"/>
                </a:solidFill>
              </a:rPr>
              <a:t>3</a:t>
            </a:r>
            <a:r>
              <a:rPr lang="ko-KR" altLang="en-US" u="sng" dirty="0">
                <a:solidFill>
                  <a:srgbClr val="002060"/>
                </a:solidFill>
              </a:rPr>
              <a:t>칸을 이동 후</a:t>
            </a:r>
            <a:r>
              <a:rPr lang="ko-KR" altLang="en-US" dirty="0">
                <a:solidFill>
                  <a:srgbClr val="002060"/>
                </a:solidFill>
              </a:rPr>
              <a:t> 주변 </a:t>
            </a:r>
            <a:r>
              <a:rPr lang="ko-KR" altLang="en-US" u="sng" dirty="0" err="1">
                <a:solidFill>
                  <a:srgbClr val="002060"/>
                </a:solidFill>
              </a:rPr>
              <a:t>상하좌우대각선</a:t>
            </a:r>
            <a:r>
              <a:rPr lang="ko-KR" altLang="en-US" u="sng" dirty="0">
                <a:solidFill>
                  <a:srgbClr val="002060"/>
                </a:solidFill>
              </a:rPr>
              <a:t> </a:t>
            </a:r>
            <a:r>
              <a:rPr lang="en-US" altLang="ko-KR" u="sng" dirty="0">
                <a:solidFill>
                  <a:srgbClr val="002060"/>
                </a:solidFill>
              </a:rPr>
              <a:t>1</a:t>
            </a:r>
            <a:r>
              <a:rPr lang="ko-KR" altLang="en-US" u="sng" dirty="0">
                <a:solidFill>
                  <a:srgbClr val="002060"/>
                </a:solidFill>
              </a:rPr>
              <a:t>칸 범위 공격을 시전함</a:t>
            </a:r>
            <a:r>
              <a:rPr lang="en-US" altLang="ko-KR" dirty="0">
                <a:solidFill>
                  <a:srgbClr val="002060"/>
                </a:solidFill>
              </a:rPr>
              <a:t>.</a:t>
            </a:r>
            <a:r>
              <a:rPr lang="ko-KR" altLang="en-US" dirty="0">
                <a:solidFill>
                  <a:srgbClr val="002060"/>
                </a:solidFill>
              </a:rPr>
              <a:t> </a:t>
            </a:r>
            <a:endParaRPr lang="en-US" altLang="ko-KR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79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7488704-6E71-4FF2-8834-2A7748972B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263215"/>
              </p:ext>
            </p:extLst>
          </p:nvPr>
        </p:nvGraphicFramePr>
        <p:xfrm>
          <a:off x="2801923" y="738230"/>
          <a:ext cx="5805184" cy="29361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9312">
                  <a:extLst>
                    <a:ext uri="{9D8B030D-6E8A-4147-A177-3AD203B41FA5}">
                      <a16:colId xmlns:a16="http://schemas.microsoft.com/office/drawing/2014/main" val="1620944268"/>
                    </a:ext>
                  </a:extLst>
                </a:gridCol>
                <a:gridCol w="829312">
                  <a:extLst>
                    <a:ext uri="{9D8B030D-6E8A-4147-A177-3AD203B41FA5}">
                      <a16:colId xmlns:a16="http://schemas.microsoft.com/office/drawing/2014/main" val="1509921001"/>
                    </a:ext>
                  </a:extLst>
                </a:gridCol>
                <a:gridCol w="829312">
                  <a:extLst>
                    <a:ext uri="{9D8B030D-6E8A-4147-A177-3AD203B41FA5}">
                      <a16:colId xmlns:a16="http://schemas.microsoft.com/office/drawing/2014/main" val="2631114469"/>
                    </a:ext>
                  </a:extLst>
                </a:gridCol>
                <a:gridCol w="829312">
                  <a:extLst>
                    <a:ext uri="{9D8B030D-6E8A-4147-A177-3AD203B41FA5}">
                      <a16:colId xmlns:a16="http://schemas.microsoft.com/office/drawing/2014/main" val="3879047782"/>
                    </a:ext>
                  </a:extLst>
                </a:gridCol>
                <a:gridCol w="829312">
                  <a:extLst>
                    <a:ext uri="{9D8B030D-6E8A-4147-A177-3AD203B41FA5}">
                      <a16:colId xmlns:a16="http://schemas.microsoft.com/office/drawing/2014/main" val="2174229319"/>
                    </a:ext>
                  </a:extLst>
                </a:gridCol>
                <a:gridCol w="829312">
                  <a:extLst>
                    <a:ext uri="{9D8B030D-6E8A-4147-A177-3AD203B41FA5}">
                      <a16:colId xmlns:a16="http://schemas.microsoft.com/office/drawing/2014/main" val="428415362"/>
                    </a:ext>
                  </a:extLst>
                </a:gridCol>
                <a:gridCol w="829312">
                  <a:extLst>
                    <a:ext uri="{9D8B030D-6E8A-4147-A177-3AD203B41FA5}">
                      <a16:colId xmlns:a16="http://schemas.microsoft.com/office/drawing/2014/main" val="766190317"/>
                    </a:ext>
                  </a:extLst>
                </a:gridCol>
              </a:tblGrid>
              <a:tr h="75948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지형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보병</a:t>
                      </a:r>
                      <a:endParaRPr lang="ko-KR" altLang="en-US" sz="1100" b="1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기병</a:t>
                      </a:r>
                      <a:endParaRPr lang="ko-KR" altLang="en-US" sz="1100" b="1" i="0" u="none" strike="noStrike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</a:rPr>
                        <a:t>비병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수병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 err="1">
                          <a:effectLst/>
                        </a:rPr>
                        <a:t>스키병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조사병단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399926"/>
                  </a:ext>
                </a:extLst>
              </a:tr>
              <a:tr h="27366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평지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88717652"/>
                  </a:ext>
                </a:extLst>
              </a:tr>
              <a:tr h="27366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다리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1215701"/>
                  </a:ext>
                </a:extLst>
              </a:tr>
              <a:tr h="27366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숲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90505925"/>
                  </a:ext>
                </a:extLst>
              </a:tr>
              <a:tr h="27366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사막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32091471"/>
                  </a:ext>
                </a:extLst>
              </a:tr>
              <a:tr h="27366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물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-1</a:t>
                      </a:r>
                      <a:endParaRPr lang="en-US" altLang="ko-KR" sz="11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24231243"/>
                  </a:ext>
                </a:extLst>
              </a:tr>
              <a:tr h="27366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>
                          <a:effectLst/>
                        </a:rPr>
                        <a:t>산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solidFill>
                            <a:srgbClr val="FF0000"/>
                          </a:solidFill>
                          <a:effectLst/>
                        </a:rPr>
                        <a:t>-1</a:t>
                      </a:r>
                      <a:endParaRPr lang="en-US" altLang="ko-KR" sz="1100" b="0" i="0" u="none" strike="noStrike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-1</a:t>
                      </a:r>
                      <a:endParaRPr lang="en-US" altLang="ko-KR" sz="11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>
                          <a:effectLst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-1</a:t>
                      </a:r>
                      <a:endParaRPr lang="en-US" altLang="ko-KR" sz="11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-1</a:t>
                      </a:r>
                      <a:endParaRPr lang="en-US" altLang="ko-KR" sz="11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7052471"/>
                  </a:ext>
                </a:extLst>
              </a:tr>
              <a:tr h="27366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설산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90756150"/>
                  </a:ext>
                </a:extLst>
              </a:tr>
              <a:tr h="26099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</a:rPr>
                        <a:t>늪지대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-1</a:t>
                      </a:r>
                      <a:endParaRPr lang="en-US" altLang="ko-KR" sz="11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-1</a:t>
                      </a:r>
                      <a:endParaRPr lang="en-US" altLang="ko-KR" sz="11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-1</a:t>
                      </a:r>
                      <a:endParaRPr lang="en-US" altLang="ko-KR" sz="11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-1</a:t>
                      </a:r>
                      <a:endParaRPr lang="en-US" altLang="ko-KR" sz="11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u="none" strike="noStrike" dirty="0">
                          <a:effectLst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323400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5960A1D-FE29-4AE9-93F6-D1F6D5CFC6C9}"/>
              </a:ext>
            </a:extLst>
          </p:cNvPr>
          <p:cNvSpPr txBox="1"/>
          <p:nvPr/>
        </p:nvSpPr>
        <p:spPr>
          <a:xfrm>
            <a:off x="3657600" y="4070060"/>
            <a:ext cx="22482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기병 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사정거리 </a:t>
            </a:r>
            <a:r>
              <a:rPr lang="en-US" altLang="ko-KR" dirty="0"/>
              <a:t>: 2</a:t>
            </a:r>
            <a:r>
              <a:rPr lang="ko-KR" altLang="en-US" dirty="0"/>
              <a:t>칸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129FC6-318E-4E16-9C48-9E0197F9FCFC}"/>
              </a:ext>
            </a:extLst>
          </p:cNvPr>
          <p:cNvSpPr txBox="1"/>
          <p:nvPr/>
        </p:nvSpPr>
        <p:spPr>
          <a:xfrm>
            <a:off x="915798" y="4070060"/>
            <a:ext cx="22482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보병 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사정거리 </a:t>
            </a:r>
            <a:r>
              <a:rPr lang="en-US" altLang="ko-KR" dirty="0"/>
              <a:t>: 1</a:t>
            </a:r>
            <a:r>
              <a:rPr lang="ko-KR" altLang="en-US" dirty="0"/>
              <a:t>칸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C61CD8-28A8-4F13-8F7F-11FC1C6FD514}"/>
              </a:ext>
            </a:extLst>
          </p:cNvPr>
          <p:cNvSpPr txBox="1"/>
          <p:nvPr/>
        </p:nvSpPr>
        <p:spPr>
          <a:xfrm>
            <a:off x="6096000" y="4070060"/>
            <a:ext cx="22482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비병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사정거리 </a:t>
            </a:r>
            <a:r>
              <a:rPr lang="en-US" altLang="ko-KR" dirty="0"/>
              <a:t>: 3</a:t>
            </a:r>
            <a:r>
              <a:rPr lang="ko-KR" altLang="en-US" dirty="0"/>
              <a:t>칸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723430-5326-4769-862D-9DF0E7DD1259}"/>
              </a:ext>
            </a:extLst>
          </p:cNvPr>
          <p:cNvSpPr txBox="1"/>
          <p:nvPr/>
        </p:nvSpPr>
        <p:spPr>
          <a:xfrm>
            <a:off x="8344249" y="4070060"/>
            <a:ext cx="22482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수병 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사정거리 </a:t>
            </a:r>
            <a:r>
              <a:rPr lang="en-US" altLang="ko-KR" dirty="0"/>
              <a:t>: 1</a:t>
            </a:r>
            <a:r>
              <a:rPr lang="ko-KR" altLang="en-US" dirty="0"/>
              <a:t>칸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8973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24941745-C699-4D38-B7C6-DA4766D668CC}"/>
              </a:ext>
            </a:extLst>
          </p:cNvPr>
          <p:cNvSpPr/>
          <p:nvPr/>
        </p:nvSpPr>
        <p:spPr>
          <a:xfrm>
            <a:off x="2114027" y="318781"/>
            <a:ext cx="947956" cy="335560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시작</a:t>
            </a:r>
          </a:p>
        </p:txBody>
      </p:sp>
      <p:sp>
        <p:nvSpPr>
          <p:cNvPr id="4" name="순서도: 처리 3">
            <a:extLst>
              <a:ext uri="{FF2B5EF4-FFF2-40B4-BE49-F238E27FC236}">
                <a16:creationId xmlns:a16="http://schemas.microsoft.com/office/drawing/2014/main" id="{A9482FF8-2B29-4602-ABB8-3A49642B08A7}"/>
              </a:ext>
            </a:extLst>
          </p:cNvPr>
          <p:cNvSpPr/>
          <p:nvPr/>
        </p:nvSpPr>
        <p:spPr>
          <a:xfrm>
            <a:off x="2114027" y="813732"/>
            <a:ext cx="947956" cy="38707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캐릭터선택</a:t>
            </a:r>
          </a:p>
        </p:txBody>
      </p:sp>
      <p:sp>
        <p:nvSpPr>
          <p:cNvPr id="6" name="순서도: 판단 5">
            <a:extLst>
              <a:ext uri="{FF2B5EF4-FFF2-40B4-BE49-F238E27FC236}">
                <a16:creationId xmlns:a16="http://schemas.microsoft.com/office/drawing/2014/main" id="{81449077-07E8-48E2-A5CE-D95AD1D69FC6}"/>
              </a:ext>
            </a:extLst>
          </p:cNvPr>
          <p:cNvSpPr/>
          <p:nvPr/>
        </p:nvSpPr>
        <p:spPr>
          <a:xfrm>
            <a:off x="1832996" y="1418920"/>
            <a:ext cx="1510017" cy="696286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행동 가능 캐릭터</a:t>
            </a:r>
            <a:r>
              <a:rPr lang="en-US" altLang="ko-KR" sz="1000" b="1" dirty="0"/>
              <a:t>?</a:t>
            </a:r>
            <a:endParaRPr lang="ko-KR" altLang="en-US" sz="1000" b="1" dirty="0"/>
          </a:p>
        </p:txBody>
      </p:sp>
      <p:sp>
        <p:nvSpPr>
          <p:cNvPr id="10" name="순서도: 처리 9">
            <a:extLst>
              <a:ext uri="{FF2B5EF4-FFF2-40B4-BE49-F238E27FC236}">
                <a16:creationId xmlns:a16="http://schemas.microsoft.com/office/drawing/2014/main" id="{6D90FCE8-EDB3-4248-BCCF-D31FF4888B24}"/>
              </a:ext>
            </a:extLst>
          </p:cNvPr>
          <p:cNvSpPr/>
          <p:nvPr/>
        </p:nvSpPr>
        <p:spPr>
          <a:xfrm>
            <a:off x="6441526" y="3884807"/>
            <a:ext cx="1076586" cy="38707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보병 규칙 적용</a:t>
            </a:r>
          </a:p>
        </p:txBody>
      </p:sp>
      <p:sp>
        <p:nvSpPr>
          <p:cNvPr id="11" name="순서도: 처리 10">
            <a:extLst>
              <a:ext uri="{FF2B5EF4-FFF2-40B4-BE49-F238E27FC236}">
                <a16:creationId xmlns:a16="http://schemas.microsoft.com/office/drawing/2014/main" id="{2ECF54BB-6B31-48EC-AB09-F043E505D21C}"/>
              </a:ext>
            </a:extLst>
          </p:cNvPr>
          <p:cNvSpPr/>
          <p:nvPr/>
        </p:nvSpPr>
        <p:spPr>
          <a:xfrm>
            <a:off x="4443935" y="1573526"/>
            <a:ext cx="1040235" cy="38707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이동 명령</a:t>
            </a:r>
            <a:endParaRPr lang="en-US" altLang="ko-KR" sz="1000" b="1" dirty="0"/>
          </a:p>
        </p:txBody>
      </p:sp>
      <p:sp>
        <p:nvSpPr>
          <p:cNvPr id="12" name="순서도: 판단 11">
            <a:extLst>
              <a:ext uri="{FF2B5EF4-FFF2-40B4-BE49-F238E27FC236}">
                <a16:creationId xmlns:a16="http://schemas.microsoft.com/office/drawing/2014/main" id="{1E21016B-0043-4172-9CDD-5799E338DB7A}"/>
              </a:ext>
            </a:extLst>
          </p:cNvPr>
          <p:cNvSpPr/>
          <p:nvPr/>
        </p:nvSpPr>
        <p:spPr>
          <a:xfrm>
            <a:off x="4213983" y="2151494"/>
            <a:ext cx="1510017" cy="696286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캐릭터가 비행 가능</a:t>
            </a:r>
            <a:r>
              <a:rPr lang="en-US" altLang="ko-KR" sz="1000" b="1" dirty="0"/>
              <a:t>?</a:t>
            </a:r>
            <a:endParaRPr lang="ko-KR" altLang="en-US" sz="1000" b="1" dirty="0"/>
          </a:p>
        </p:txBody>
      </p:sp>
      <p:sp>
        <p:nvSpPr>
          <p:cNvPr id="14" name="순서도: 처리 13">
            <a:extLst>
              <a:ext uri="{FF2B5EF4-FFF2-40B4-BE49-F238E27FC236}">
                <a16:creationId xmlns:a16="http://schemas.microsoft.com/office/drawing/2014/main" id="{A560BE34-6AF0-4795-8C3D-207A53C7985D}"/>
              </a:ext>
            </a:extLst>
          </p:cNvPr>
          <p:cNvSpPr/>
          <p:nvPr/>
        </p:nvSpPr>
        <p:spPr>
          <a:xfrm>
            <a:off x="8465388" y="4084120"/>
            <a:ext cx="1050110" cy="38707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이동범위 표시</a:t>
            </a:r>
            <a:endParaRPr lang="en-US" altLang="ko-KR" sz="1000" b="1" dirty="0"/>
          </a:p>
        </p:txBody>
      </p:sp>
      <p:sp>
        <p:nvSpPr>
          <p:cNvPr id="15" name="순서도: 처리 14">
            <a:extLst>
              <a:ext uri="{FF2B5EF4-FFF2-40B4-BE49-F238E27FC236}">
                <a16:creationId xmlns:a16="http://schemas.microsoft.com/office/drawing/2014/main" id="{556E4249-3922-40E5-B471-8ADF29914B97}"/>
              </a:ext>
            </a:extLst>
          </p:cNvPr>
          <p:cNvSpPr/>
          <p:nvPr/>
        </p:nvSpPr>
        <p:spPr>
          <a:xfrm>
            <a:off x="6468002" y="2306101"/>
            <a:ext cx="1050110" cy="38707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/>
              <a:t>비병</a:t>
            </a:r>
            <a:r>
              <a:rPr lang="ko-KR" altLang="en-US" sz="1000" b="1" dirty="0"/>
              <a:t> 규칙 적용</a:t>
            </a:r>
            <a:endParaRPr lang="en-US" altLang="ko-KR" sz="1000" b="1" dirty="0"/>
          </a:p>
        </p:txBody>
      </p:sp>
      <p:sp>
        <p:nvSpPr>
          <p:cNvPr id="16" name="순서도: 처리 15">
            <a:extLst>
              <a:ext uri="{FF2B5EF4-FFF2-40B4-BE49-F238E27FC236}">
                <a16:creationId xmlns:a16="http://schemas.microsoft.com/office/drawing/2014/main" id="{11EDA839-1D31-4C55-8FB9-B233BFB30EA9}"/>
              </a:ext>
            </a:extLst>
          </p:cNvPr>
          <p:cNvSpPr/>
          <p:nvPr/>
        </p:nvSpPr>
        <p:spPr>
          <a:xfrm>
            <a:off x="10061749" y="4078341"/>
            <a:ext cx="1050110" cy="38707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목적지 지정</a:t>
            </a:r>
            <a:endParaRPr lang="en-US" altLang="ko-KR" sz="1000" b="1" dirty="0"/>
          </a:p>
        </p:txBody>
      </p:sp>
      <p:sp>
        <p:nvSpPr>
          <p:cNvPr id="17" name="순서도: 처리 16">
            <a:extLst>
              <a:ext uri="{FF2B5EF4-FFF2-40B4-BE49-F238E27FC236}">
                <a16:creationId xmlns:a16="http://schemas.microsoft.com/office/drawing/2014/main" id="{4DC3F8AC-AE6D-44EE-932E-D7164F20C0D1}"/>
              </a:ext>
            </a:extLst>
          </p:cNvPr>
          <p:cNvSpPr/>
          <p:nvPr/>
        </p:nvSpPr>
        <p:spPr>
          <a:xfrm>
            <a:off x="10048511" y="5649396"/>
            <a:ext cx="1076586" cy="38707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캐릭터 이동</a:t>
            </a:r>
          </a:p>
        </p:txBody>
      </p:sp>
      <p:sp>
        <p:nvSpPr>
          <p:cNvPr id="18" name="순서도: 판단 17">
            <a:extLst>
              <a:ext uri="{FF2B5EF4-FFF2-40B4-BE49-F238E27FC236}">
                <a16:creationId xmlns:a16="http://schemas.microsoft.com/office/drawing/2014/main" id="{27B6B592-803D-4BC1-BDC6-3C4358812F8E}"/>
              </a:ext>
            </a:extLst>
          </p:cNvPr>
          <p:cNvSpPr/>
          <p:nvPr/>
        </p:nvSpPr>
        <p:spPr>
          <a:xfrm>
            <a:off x="9831795" y="4712152"/>
            <a:ext cx="1510017" cy="696286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이동 가능 지점</a:t>
            </a:r>
            <a:r>
              <a:rPr lang="en-US" altLang="ko-KR" sz="1000" b="1" dirty="0"/>
              <a:t>?</a:t>
            </a:r>
            <a:endParaRPr lang="ko-KR" altLang="en-US" sz="1000" b="1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A169A1F-A0E3-479D-B2D7-78A69CCC4F9F}"/>
              </a:ext>
            </a:extLst>
          </p:cNvPr>
          <p:cNvCxnSpPr>
            <a:stCxn id="6" idx="3"/>
            <a:endCxn id="11" idx="1"/>
          </p:cNvCxnSpPr>
          <p:nvPr/>
        </p:nvCxnSpPr>
        <p:spPr>
          <a:xfrm>
            <a:off x="3343013" y="1767063"/>
            <a:ext cx="11009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AF9E4DCF-C1CA-4C55-96D7-1AA808787161}"/>
              </a:ext>
            </a:extLst>
          </p:cNvPr>
          <p:cNvCxnSpPr>
            <a:cxnSpLocks/>
            <a:stCxn id="12" idx="2"/>
            <a:endCxn id="88" idx="0"/>
          </p:cNvCxnSpPr>
          <p:nvPr/>
        </p:nvCxnSpPr>
        <p:spPr>
          <a:xfrm flipH="1">
            <a:off x="4964052" y="2847780"/>
            <a:ext cx="4940" cy="2330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88105652-BDD0-4F9C-A04B-7BA91CFB43BB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>
            <a:off x="5724000" y="2499637"/>
            <a:ext cx="74400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B2EE9DC8-6E79-4672-B67C-0B3DCA2AB662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 flipV="1">
            <a:off x="9515498" y="4271878"/>
            <a:ext cx="546251" cy="57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035335FF-66D3-4F32-ADDF-888456A08F1E}"/>
              </a:ext>
            </a:extLst>
          </p:cNvPr>
          <p:cNvCxnSpPr>
            <a:stCxn id="18" idx="2"/>
            <a:endCxn id="17" idx="0"/>
          </p:cNvCxnSpPr>
          <p:nvPr/>
        </p:nvCxnSpPr>
        <p:spPr>
          <a:xfrm>
            <a:off x="10586804" y="5408438"/>
            <a:ext cx="0" cy="240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E7B3DE62-E389-420A-BA8B-12DBB149D62D}"/>
              </a:ext>
            </a:extLst>
          </p:cNvPr>
          <p:cNvCxnSpPr>
            <a:cxnSpLocks/>
            <a:stCxn id="6" idx="1"/>
          </p:cNvCxnSpPr>
          <p:nvPr/>
        </p:nvCxnSpPr>
        <p:spPr>
          <a:xfrm rot="10800000" flipH="1" flipV="1">
            <a:off x="1832995" y="1767063"/>
            <a:ext cx="8753807" cy="4436596"/>
          </a:xfrm>
          <a:prstGeom prst="bentConnector3">
            <a:avLst>
              <a:gd name="adj1" fmla="val -261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4162E414-3943-40A9-89CB-F9B8D797CFD5}"/>
              </a:ext>
            </a:extLst>
          </p:cNvPr>
          <p:cNvCxnSpPr>
            <a:cxnSpLocks/>
            <a:stCxn id="18" idx="1"/>
          </p:cNvCxnSpPr>
          <p:nvPr/>
        </p:nvCxnSpPr>
        <p:spPr>
          <a:xfrm rot="10800000" flipV="1">
            <a:off x="8599025" y="5060295"/>
            <a:ext cx="1232770" cy="1143364"/>
          </a:xfrm>
          <a:prstGeom prst="bentConnector3">
            <a:avLst>
              <a:gd name="adj1" fmla="val 9967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039A8A5B-3FA5-4928-A64C-C88CC2DDCADE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2588005" y="654341"/>
            <a:ext cx="0" cy="1593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F0543459-7B92-4CEC-819A-5F474D698488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2588005" y="1200805"/>
            <a:ext cx="0" cy="2181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9040694C-4741-4630-AF90-A92E6CFDAE5B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4964053" y="1960599"/>
            <a:ext cx="4939" cy="1908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순서도: 판단 87">
            <a:extLst>
              <a:ext uri="{FF2B5EF4-FFF2-40B4-BE49-F238E27FC236}">
                <a16:creationId xmlns:a16="http://schemas.microsoft.com/office/drawing/2014/main" id="{B002CA49-A2DD-411C-8051-C4247E850E8C}"/>
              </a:ext>
            </a:extLst>
          </p:cNvPr>
          <p:cNvSpPr/>
          <p:nvPr/>
        </p:nvSpPr>
        <p:spPr>
          <a:xfrm>
            <a:off x="4006353" y="3080857"/>
            <a:ext cx="1915398" cy="696286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늪지대에서 이동 가능</a:t>
            </a:r>
            <a:r>
              <a:rPr lang="en-US" altLang="ko-KR" sz="1000" b="1" dirty="0"/>
              <a:t>?</a:t>
            </a:r>
            <a:r>
              <a:rPr lang="ko-KR" altLang="en-US" sz="1000" b="1" dirty="0"/>
              <a:t> </a:t>
            </a:r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CE4D2539-0D7D-4C9F-A5C3-07E2141B6EE1}"/>
              </a:ext>
            </a:extLst>
          </p:cNvPr>
          <p:cNvCxnSpPr>
            <a:cxnSpLocks/>
            <a:stCxn id="88" idx="3"/>
          </p:cNvCxnSpPr>
          <p:nvPr/>
        </p:nvCxnSpPr>
        <p:spPr>
          <a:xfrm flipV="1">
            <a:off x="5921751" y="2499637"/>
            <a:ext cx="186000" cy="9293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3">
            <a:extLst>
              <a:ext uri="{FF2B5EF4-FFF2-40B4-BE49-F238E27FC236}">
                <a16:creationId xmlns:a16="http://schemas.microsoft.com/office/drawing/2014/main" id="{C2089E13-894B-4D12-81F1-6B02F7B38344}"/>
              </a:ext>
            </a:extLst>
          </p:cNvPr>
          <p:cNvCxnSpPr>
            <a:cxnSpLocks/>
            <a:stCxn id="88" idx="3"/>
            <a:endCxn id="100" idx="1"/>
          </p:cNvCxnSpPr>
          <p:nvPr/>
        </p:nvCxnSpPr>
        <p:spPr>
          <a:xfrm>
            <a:off x="5921751" y="3429000"/>
            <a:ext cx="5462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순서도: 처리 99">
            <a:extLst>
              <a:ext uri="{FF2B5EF4-FFF2-40B4-BE49-F238E27FC236}">
                <a16:creationId xmlns:a16="http://schemas.microsoft.com/office/drawing/2014/main" id="{76F24D51-EE93-4077-B161-986D81DB3FFA}"/>
              </a:ext>
            </a:extLst>
          </p:cNvPr>
          <p:cNvSpPr/>
          <p:nvPr/>
        </p:nvSpPr>
        <p:spPr>
          <a:xfrm>
            <a:off x="6468001" y="3235463"/>
            <a:ext cx="1369147" cy="38707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/>
              <a:t>조사병단 </a:t>
            </a:r>
            <a:r>
              <a:rPr lang="ko-KR" altLang="en-US" sz="1000" b="1" dirty="0"/>
              <a:t>규칙 적용</a:t>
            </a:r>
            <a:endParaRPr lang="en-US" altLang="ko-KR" sz="1000" b="1" dirty="0"/>
          </a:p>
        </p:txBody>
      </p: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6B28A5E0-D4B0-4249-AA10-3E6FD2036160}"/>
              </a:ext>
            </a:extLst>
          </p:cNvPr>
          <p:cNvCxnSpPr>
            <a:cxnSpLocks/>
            <a:stCxn id="88" idx="2"/>
            <a:endCxn id="10" idx="1"/>
          </p:cNvCxnSpPr>
          <p:nvPr/>
        </p:nvCxnSpPr>
        <p:spPr>
          <a:xfrm rot="16200000" flipH="1">
            <a:off x="5552189" y="3189006"/>
            <a:ext cx="301201" cy="1477474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순서도: 처리 113">
            <a:extLst>
              <a:ext uri="{FF2B5EF4-FFF2-40B4-BE49-F238E27FC236}">
                <a16:creationId xmlns:a16="http://schemas.microsoft.com/office/drawing/2014/main" id="{2167B7CC-7C83-4715-8F2A-E0A364F756E0}"/>
              </a:ext>
            </a:extLst>
          </p:cNvPr>
          <p:cNvSpPr/>
          <p:nvPr/>
        </p:nvSpPr>
        <p:spPr>
          <a:xfrm>
            <a:off x="6445854" y="4453576"/>
            <a:ext cx="1076586" cy="38707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기병 규칙 적용</a:t>
            </a:r>
          </a:p>
        </p:txBody>
      </p:sp>
      <p:cxnSp>
        <p:nvCxnSpPr>
          <p:cNvPr id="115" name="직선 화살표 연결선 110">
            <a:extLst>
              <a:ext uri="{FF2B5EF4-FFF2-40B4-BE49-F238E27FC236}">
                <a16:creationId xmlns:a16="http://schemas.microsoft.com/office/drawing/2014/main" id="{87736062-4391-4C27-B7A0-B675DFBA08F8}"/>
              </a:ext>
            </a:extLst>
          </p:cNvPr>
          <p:cNvCxnSpPr>
            <a:cxnSpLocks/>
            <a:stCxn id="88" idx="2"/>
            <a:endCxn id="114" idx="1"/>
          </p:cNvCxnSpPr>
          <p:nvPr/>
        </p:nvCxnSpPr>
        <p:spPr>
          <a:xfrm rot="16200000" flipH="1">
            <a:off x="5269968" y="3471227"/>
            <a:ext cx="869970" cy="1481802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순서도: 처리 117">
            <a:extLst>
              <a:ext uri="{FF2B5EF4-FFF2-40B4-BE49-F238E27FC236}">
                <a16:creationId xmlns:a16="http://schemas.microsoft.com/office/drawing/2014/main" id="{0AE86EA2-CA18-4EBB-B7E0-E96D64659B50}"/>
              </a:ext>
            </a:extLst>
          </p:cNvPr>
          <p:cNvSpPr/>
          <p:nvPr/>
        </p:nvSpPr>
        <p:spPr>
          <a:xfrm>
            <a:off x="6445854" y="5003517"/>
            <a:ext cx="1076586" cy="38707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수병 규칙 적용</a:t>
            </a:r>
          </a:p>
        </p:txBody>
      </p:sp>
      <p:cxnSp>
        <p:nvCxnSpPr>
          <p:cNvPr id="119" name="직선 화살표 연결선 110">
            <a:extLst>
              <a:ext uri="{FF2B5EF4-FFF2-40B4-BE49-F238E27FC236}">
                <a16:creationId xmlns:a16="http://schemas.microsoft.com/office/drawing/2014/main" id="{5D6E0400-5EB0-492F-AA65-ED5D4EE3C257}"/>
              </a:ext>
            </a:extLst>
          </p:cNvPr>
          <p:cNvCxnSpPr>
            <a:cxnSpLocks/>
            <a:stCxn id="88" idx="2"/>
            <a:endCxn id="118" idx="1"/>
          </p:cNvCxnSpPr>
          <p:nvPr/>
        </p:nvCxnSpPr>
        <p:spPr>
          <a:xfrm rot="16200000" flipH="1">
            <a:off x="4994998" y="3746197"/>
            <a:ext cx="1419911" cy="1481802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화살표 연결선 110">
            <a:extLst>
              <a:ext uri="{FF2B5EF4-FFF2-40B4-BE49-F238E27FC236}">
                <a16:creationId xmlns:a16="http://schemas.microsoft.com/office/drawing/2014/main" id="{75A32F41-177C-4F2A-A0AB-CEE287ED1AA8}"/>
              </a:ext>
            </a:extLst>
          </p:cNvPr>
          <p:cNvCxnSpPr>
            <a:cxnSpLocks/>
            <a:stCxn id="88" idx="2"/>
            <a:endCxn id="123" idx="1"/>
          </p:cNvCxnSpPr>
          <p:nvPr/>
        </p:nvCxnSpPr>
        <p:spPr>
          <a:xfrm rot="16200000" flipH="1">
            <a:off x="4721995" y="4019200"/>
            <a:ext cx="1961589" cy="1477474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순서도: 처리 122">
            <a:extLst>
              <a:ext uri="{FF2B5EF4-FFF2-40B4-BE49-F238E27FC236}">
                <a16:creationId xmlns:a16="http://schemas.microsoft.com/office/drawing/2014/main" id="{076AAF2B-27B9-424E-BF74-3B8E3C2D2F87}"/>
              </a:ext>
            </a:extLst>
          </p:cNvPr>
          <p:cNvSpPr/>
          <p:nvPr/>
        </p:nvSpPr>
        <p:spPr>
          <a:xfrm>
            <a:off x="6441526" y="5545195"/>
            <a:ext cx="1309902" cy="387073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/>
              <a:t>스키병</a:t>
            </a:r>
            <a:r>
              <a:rPr lang="ko-KR" altLang="en-US" sz="1000" b="1" dirty="0"/>
              <a:t> 규칙 적용</a:t>
            </a:r>
          </a:p>
        </p:txBody>
      </p: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49B6A833-40DD-4C59-9168-4427F1A37916}"/>
              </a:ext>
            </a:extLst>
          </p:cNvPr>
          <p:cNvCxnSpPr>
            <a:stCxn id="15" idx="3"/>
            <a:endCxn id="14" idx="1"/>
          </p:cNvCxnSpPr>
          <p:nvPr/>
        </p:nvCxnSpPr>
        <p:spPr>
          <a:xfrm>
            <a:off x="7518112" y="2499638"/>
            <a:ext cx="947276" cy="1778019"/>
          </a:xfrm>
          <a:prstGeom prst="bentConnector3">
            <a:avLst>
              <a:gd name="adj1" fmla="val 5708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147">
            <a:extLst>
              <a:ext uri="{FF2B5EF4-FFF2-40B4-BE49-F238E27FC236}">
                <a16:creationId xmlns:a16="http://schemas.microsoft.com/office/drawing/2014/main" id="{F643565D-F865-4575-A943-854BE5E29BA6}"/>
              </a:ext>
            </a:extLst>
          </p:cNvPr>
          <p:cNvCxnSpPr>
            <a:cxnSpLocks/>
            <a:stCxn id="100" idx="3"/>
          </p:cNvCxnSpPr>
          <p:nvPr/>
        </p:nvCxnSpPr>
        <p:spPr>
          <a:xfrm flipV="1">
            <a:off x="7837148" y="3428999"/>
            <a:ext cx="227214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연결선: 꺾임 155">
            <a:extLst>
              <a:ext uri="{FF2B5EF4-FFF2-40B4-BE49-F238E27FC236}">
                <a16:creationId xmlns:a16="http://schemas.microsoft.com/office/drawing/2014/main" id="{A4D18405-D9CC-4FA7-96F7-39B50ABBD389}"/>
              </a:ext>
            </a:extLst>
          </p:cNvPr>
          <p:cNvCxnSpPr>
            <a:stCxn id="10" idx="3"/>
          </p:cNvCxnSpPr>
          <p:nvPr/>
        </p:nvCxnSpPr>
        <p:spPr>
          <a:xfrm flipV="1">
            <a:off x="7518112" y="4078342"/>
            <a:ext cx="546250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화살표 연결선 159">
            <a:extLst>
              <a:ext uri="{FF2B5EF4-FFF2-40B4-BE49-F238E27FC236}">
                <a16:creationId xmlns:a16="http://schemas.microsoft.com/office/drawing/2014/main" id="{EED8F372-067E-4783-8278-130CFA680835}"/>
              </a:ext>
            </a:extLst>
          </p:cNvPr>
          <p:cNvCxnSpPr>
            <a:cxnSpLocks/>
            <a:stCxn id="114" idx="3"/>
          </p:cNvCxnSpPr>
          <p:nvPr/>
        </p:nvCxnSpPr>
        <p:spPr>
          <a:xfrm flipV="1">
            <a:off x="7522440" y="4271877"/>
            <a:ext cx="540128" cy="37523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화살표 연결선 159">
            <a:extLst>
              <a:ext uri="{FF2B5EF4-FFF2-40B4-BE49-F238E27FC236}">
                <a16:creationId xmlns:a16="http://schemas.microsoft.com/office/drawing/2014/main" id="{73163F0F-A5B0-42C1-A361-EDEBB3182753}"/>
              </a:ext>
            </a:extLst>
          </p:cNvPr>
          <p:cNvCxnSpPr>
            <a:cxnSpLocks/>
            <a:stCxn id="118" idx="3"/>
          </p:cNvCxnSpPr>
          <p:nvPr/>
        </p:nvCxnSpPr>
        <p:spPr>
          <a:xfrm flipV="1">
            <a:off x="7522440" y="4271877"/>
            <a:ext cx="606492" cy="92517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화살표 연결선 159">
            <a:extLst>
              <a:ext uri="{FF2B5EF4-FFF2-40B4-BE49-F238E27FC236}">
                <a16:creationId xmlns:a16="http://schemas.microsoft.com/office/drawing/2014/main" id="{EE3CD4C0-296D-4CDA-B82C-0FFDC81EB260}"/>
              </a:ext>
            </a:extLst>
          </p:cNvPr>
          <p:cNvCxnSpPr>
            <a:cxnSpLocks/>
            <a:stCxn id="123" idx="3"/>
          </p:cNvCxnSpPr>
          <p:nvPr/>
        </p:nvCxnSpPr>
        <p:spPr>
          <a:xfrm flipV="1">
            <a:off x="7751428" y="5197053"/>
            <a:ext cx="280780" cy="54167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화살표 연결선 171">
            <a:extLst>
              <a:ext uri="{FF2B5EF4-FFF2-40B4-BE49-F238E27FC236}">
                <a16:creationId xmlns:a16="http://schemas.microsoft.com/office/drawing/2014/main" id="{8768ECA8-1F74-4651-B3AF-FE0504487A3B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>
            <a:off x="10586804" y="4465414"/>
            <a:ext cx="0" cy="2467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순서도: 수행의 시작/종료 181">
            <a:extLst>
              <a:ext uri="{FF2B5EF4-FFF2-40B4-BE49-F238E27FC236}">
                <a16:creationId xmlns:a16="http://schemas.microsoft.com/office/drawing/2014/main" id="{79AF6451-5D6F-4D7A-BD0B-B912FEC38C82}"/>
              </a:ext>
            </a:extLst>
          </p:cNvPr>
          <p:cNvSpPr/>
          <p:nvPr/>
        </p:nvSpPr>
        <p:spPr>
          <a:xfrm>
            <a:off x="10112825" y="6490757"/>
            <a:ext cx="947956" cy="335560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/>
              <a:t>끝</a:t>
            </a:r>
          </a:p>
        </p:txBody>
      </p:sp>
      <p:cxnSp>
        <p:nvCxnSpPr>
          <p:cNvPr id="183" name="직선 화살표 연결선 182">
            <a:extLst>
              <a:ext uri="{FF2B5EF4-FFF2-40B4-BE49-F238E27FC236}">
                <a16:creationId xmlns:a16="http://schemas.microsoft.com/office/drawing/2014/main" id="{C1F66453-CFA1-4809-90B5-8EC4403FD6AB}"/>
              </a:ext>
            </a:extLst>
          </p:cNvPr>
          <p:cNvCxnSpPr>
            <a:cxnSpLocks/>
            <a:stCxn id="17" idx="2"/>
            <a:endCxn id="182" idx="0"/>
          </p:cNvCxnSpPr>
          <p:nvPr/>
        </p:nvCxnSpPr>
        <p:spPr>
          <a:xfrm flipH="1">
            <a:off x="10586803" y="6036469"/>
            <a:ext cx="1" cy="4542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TextBox 189">
            <a:extLst>
              <a:ext uri="{FF2B5EF4-FFF2-40B4-BE49-F238E27FC236}">
                <a16:creationId xmlns:a16="http://schemas.microsoft.com/office/drawing/2014/main" id="{F906A014-6D99-4C00-A637-2D845E1978C3}"/>
              </a:ext>
            </a:extLst>
          </p:cNvPr>
          <p:cNvSpPr txBox="1"/>
          <p:nvPr/>
        </p:nvSpPr>
        <p:spPr>
          <a:xfrm>
            <a:off x="3800213" y="1573526"/>
            <a:ext cx="1174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accent1"/>
                </a:solidFill>
              </a:rPr>
              <a:t>Y</a:t>
            </a:r>
            <a:endParaRPr lang="ko-KR" altLang="en-US" sz="1000" b="1" dirty="0">
              <a:solidFill>
                <a:schemeClr val="accent1"/>
              </a:solidFill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8DF558ED-7577-4CDF-8EA4-AC079B5859AF}"/>
              </a:ext>
            </a:extLst>
          </p:cNvPr>
          <p:cNvSpPr txBox="1"/>
          <p:nvPr/>
        </p:nvSpPr>
        <p:spPr>
          <a:xfrm>
            <a:off x="5924636" y="2260262"/>
            <a:ext cx="1174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accent1"/>
                </a:solidFill>
              </a:rPr>
              <a:t>Y</a:t>
            </a:r>
            <a:endParaRPr lang="ko-KR" altLang="en-US" sz="1000" b="1" dirty="0">
              <a:solidFill>
                <a:schemeClr val="accent1"/>
              </a:solidFill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DD405813-66DE-4A24-A990-5D17478BA4A0}"/>
              </a:ext>
            </a:extLst>
          </p:cNvPr>
          <p:cNvSpPr txBox="1"/>
          <p:nvPr/>
        </p:nvSpPr>
        <p:spPr>
          <a:xfrm>
            <a:off x="6152805" y="3222753"/>
            <a:ext cx="1174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accent1"/>
                </a:solidFill>
              </a:rPr>
              <a:t>Y</a:t>
            </a:r>
            <a:endParaRPr lang="ko-KR" altLang="en-US" sz="1000" b="1" dirty="0">
              <a:solidFill>
                <a:schemeClr val="accent1"/>
              </a:solidFill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E5E046FC-17A8-41DA-B4E0-44DEFF60A31D}"/>
              </a:ext>
            </a:extLst>
          </p:cNvPr>
          <p:cNvSpPr txBox="1"/>
          <p:nvPr/>
        </p:nvSpPr>
        <p:spPr>
          <a:xfrm>
            <a:off x="5909931" y="2796483"/>
            <a:ext cx="1939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accent1"/>
                </a:solidFill>
              </a:rPr>
              <a:t>Y</a:t>
            </a:r>
            <a:endParaRPr lang="ko-KR" altLang="en-US" sz="1000" b="1" dirty="0">
              <a:solidFill>
                <a:schemeClr val="accent1"/>
              </a:solidFill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C648EE82-2846-44B8-98BB-5AD8E9518E77}"/>
              </a:ext>
            </a:extLst>
          </p:cNvPr>
          <p:cNvSpPr txBox="1"/>
          <p:nvPr/>
        </p:nvSpPr>
        <p:spPr>
          <a:xfrm>
            <a:off x="4738653" y="2818283"/>
            <a:ext cx="1423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N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992314C0-204C-42A5-BEC9-EAFBAEE961B6}"/>
              </a:ext>
            </a:extLst>
          </p:cNvPr>
          <p:cNvSpPr txBox="1"/>
          <p:nvPr/>
        </p:nvSpPr>
        <p:spPr>
          <a:xfrm>
            <a:off x="5666547" y="3832234"/>
            <a:ext cx="1423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N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103BC697-CF8B-4F56-96D6-230DBEA0ECC9}"/>
              </a:ext>
            </a:extLst>
          </p:cNvPr>
          <p:cNvSpPr txBox="1"/>
          <p:nvPr/>
        </p:nvSpPr>
        <p:spPr>
          <a:xfrm>
            <a:off x="5666547" y="4421330"/>
            <a:ext cx="1423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N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6F49A79E-BE0B-46A4-9A41-1DA061909F6B}"/>
              </a:ext>
            </a:extLst>
          </p:cNvPr>
          <p:cNvSpPr txBox="1"/>
          <p:nvPr/>
        </p:nvSpPr>
        <p:spPr>
          <a:xfrm>
            <a:off x="5648518" y="4975719"/>
            <a:ext cx="1423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N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4E79A93E-6DE9-4031-865D-3459F93E7CB1}"/>
              </a:ext>
            </a:extLst>
          </p:cNvPr>
          <p:cNvSpPr txBox="1"/>
          <p:nvPr/>
        </p:nvSpPr>
        <p:spPr>
          <a:xfrm>
            <a:off x="5666547" y="5539929"/>
            <a:ext cx="1423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N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098D4B4D-A42B-4C9E-AF03-3F04B7D70705}"/>
              </a:ext>
            </a:extLst>
          </p:cNvPr>
          <p:cNvSpPr txBox="1"/>
          <p:nvPr/>
        </p:nvSpPr>
        <p:spPr>
          <a:xfrm>
            <a:off x="9293500" y="4819335"/>
            <a:ext cx="1423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N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230105FC-4F0E-42DC-B116-9BAA81646DDD}"/>
              </a:ext>
            </a:extLst>
          </p:cNvPr>
          <p:cNvSpPr txBox="1"/>
          <p:nvPr/>
        </p:nvSpPr>
        <p:spPr>
          <a:xfrm>
            <a:off x="1601941" y="3681522"/>
            <a:ext cx="1423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N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9367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279</Words>
  <Application>Microsoft Office PowerPoint</Application>
  <PresentationFormat>와이드스크린</PresentationFormat>
  <Paragraphs>129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A07</dc:creator>
  <cp:lastModifiedBy>A07</cp:lastModifiedBy>
  <cp:revision>12</cp:revision>
  <dcterms:created xsi:type="dcterms:W3CDTF">2026-05-22T11:27:31Z</dcterms:created>
  <dcterms:modified xsi:type="dcterms:W3CDTF">2026-05-26T12:36:52Z</dcterms:modified>
</cp:coreProperties>
</file>